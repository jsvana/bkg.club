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radio in your hand. Hold it up. Tell them it cost thirty dollars, it does real CW, and the goal is that they go home wanting to build one. This is a pitch, not a build night: nobody is soldering tonight. It is about one goal: more operators sending Morse on 2 meters than there were last year. Everything else is a side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This is an interest talk, not a workshop, so keep the rework steps brisk and visual. Spend most of the time on the middle three: the firmware, the mod, and getting on the air. The gang is the closer, keep it to a couple of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and the second-order effects are the real pitch to a club. An active band is easier to defend than an empty one. Two meters with a handheld is local, so your contacts are people close enough to have breakfast with, and the recruiting mechanism is by physics community building. And nobody's hands shake over a thirty dollar radio, so people actually open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stock radio will not send CW at all. What makes it interesting is the open-source lineage: DualTachyon reverse engineered the original K5 and released the first open firmware, egzumer built the feature-rich custom firmware everyone knows, F4HWN and muzkr ported it to the newer K5 v3 and K1 hardware as Fusion, and NR7Y layered a real CW transceiver on top of that. All Apache 2.0. NR7Y is also a BKG member, which is a nice line to drop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saves people money. There are three hardware families and two firmware families. The v3 and K1 share firmware. Buy the K1: it is one known target, and the older K5 shipped in several revisions that are hard to tell apart before you buy. Mention the mystery v2: label says V3, board says V1.8, different MCU, runs nothing we have. Check the label behind the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first one: this is actual carrier keying with fast RX/TX switching, not a tone whistled into the FM microphone. Then the keyer modes, the message memories, and the practice oscillator, which needs no license because it makes no RF and will even blink the flashlight in time with your sending.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have to open the radio to try this. PTT and side button works on a stock radio the day you flash it. The USB-C cable is a passive custom cable, no electronics, but it is very sensitive to RF from your own transmitter and can lock into key-down. The rework is what the rest of the talk walks through: any off-the-shelf paddle plugs straight into the headset jack.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exotic. NR7Y's own note is that most standard pencil irons will remove the resistors without damaging neighbors, any tip shape works, and the two jumper wires have literally been stripped out of the USB cable that ships in the box. The plastic spudger matters: the display frame releases with a non-metallic tool. The laptop needs Chrome or Chromium because the flashing tool uses WebSerial.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trick. The firmware, when in CW mode, holds the serial TX line low so the sleeve of the headset jack becomes ground. Then it reads the PTT line as dit and PB11, the SWDIO programming pad, as dah. The two resistors that come off are the pull-up on the PTT line and the resistor in the mic ground path. Designators here are from the original K5 schematic; the K1 moved the parts but the circuit is the same. Side effects: an external mic can no longer trigger PTT, the headset port loses its 5 volts, SWD debugging is gone, and you unplug the paddle for FM so the internal mic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slowly. The two mistakes people make are prying at the wrong edge and torquing the flex circuit between the board and the front half. Slide the inner metal down only until the volume stem clears, then deal with the ribbon: lift the socket door on the side opposite where the ribbon enters, and it slides out. The display frame releases at the lower-left corner with a plastic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tiny surface-mount resistors next to the headset jack, circled in the photo. Put a dab of solder on the tip to transfer heat, then heat one end and the other in turn until the part slides off, or lay a wide tip across both ends at once. Lift with tweezers; never pull. The failure mode is lifting the copper pad with the resistor, and one of our members did exactly that: went in for two resistors, came out with zero pads. NR7Y's line: the rework is technically reversible, except the resistors vanish the moment they leave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wires, roughly two and three inches. Follow the photo: the blue wire runs from the solder blob on the left edge over to the pad near the resistor site by the jack, and the yellow wire runs from the headset jack pad down to gold pad number three of the four on the bottom edge, which is the SWDIO pad. Route the long one to the side of the button pads so it never sits under a key, and keep both flat so the display drops back over them. Stranded wire works but watch for stray strands at each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Reassembly in reverse, with two things worth saying out loud: clean the display glass now, because it goes behind the chassis window and you will never reach it again; and the ribbon goes into the socket with the door up, then the door latches down. Then the first power-on: it should boot normally on stock firmware. If it does, you did not break anything, and now we flash.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musts from the docs: right firmware family for the radio, right tool for the radio, and back up the calibration data immediately after. Bootloader mode is power on while holding PTT: the flashlight LED lights and the screen stays dark. uvtools2 runs in the browser over WebSerial, so it has to be Chrome or Chromium. The LED flashes while it writes. Then dump the calibration with the same tool and name the file after the serial number. Grab the CHIRP module from the same release, CHIRP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press zero to cycle modulation until it says CW; squelch opens full time in CW, side button one closes it. The CW menu items are at the very end of the menu, so scroll up from the top. Key input to Port Iambic for a paddle, Port HandKey for a straight key; if dit and dah are swapped, pick Reversed instead of re-soldering. If you see CW KEY STUCK it means a paddle contact is shorted, the rework is not right, or the programming cable was still plugged in when it rebooted. And CHIRP will not connect while the radio is in CW with a port input, so switch modes to program memories.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grown-up paragraph. The gang calls on 144.025, at the CW and weak-signal end of two meters. That end is shared with EME, so the courtesies matter: listen first, send QRL, and move if somebody is working. Operate inside your privileges and your band plan. Then the honest version: this is a modified cheap radio, not a weak-signal station, and it behaves like one. That is the point. QRS is a feature, not an apology.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Lighten it up before the closer. The gang keeps a 'days since we broke a Quansheng' sign on the website with an incident log, names named. Three so far, and incident number one is you, so own it: that is the whole point of the board. Each one maps to a step you just saw: pry at the right edge, heat instead of pull, and door before ribbon. If you break one, you confess on Discord and an officer resets the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Closer, two minutes. The Brass Knuckle Gang: pounding brass means sending Morse on a manual key. Founded 2025 in Northern Utah. As of today's site build there are 458 members across 42 states and 7 other countries, and the firmware author NR7Y is on the roster himself. A law-abiding, FCC-respecting gang, and we mean the second part as sincerely as the first. Three bylaws. To join you work an existing member on 2 meter CW, give them the UTC date and time, and you get a number. Membership is voluntary every time; confirm someone wants in before you submit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docs site has the full-resolution rework photos and the menu reference; the releases page has the firmware and the CHIRP module; uvtools2 is the flasher. bkg.club/clubs.html is the version of this talk you can read out loud at a board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210"/>
        </a:solidFill>
      </p:bgPr>
    </p:bg>
    <p:spTree>
      <p:nvGrpSpPr>
        <p:cNvPr id="1" name=""/>
        <p:cNvGrpSpPr/>
        <p:nvPr/>
      </p:nvGrpSpPr>
      <p:grpSpPr>
        <a:xfrm>
          <a:off x="0" y="0"/>
          <a:ext cx="0" cy="0"/>
          <a:chOff x="0" y="0"/>
          <a:chExt cx="0" cy="0"/>
        </a:xfrm>
      </p:grpSpPr>
      <p:pic>
        <p:nvPicPr>
          <p:cNvPr id="3" name="Image 0" descr="/tmp/claude-0/-home-user-bkg-club/dd98b25f-744f-5b52-bca4-d25dd18876d9/scratchpad/img/k1_wires.jpg">    </p:cNvPr>
          <p:cNvPicPr>
            <a:picLocks noChangeAspect="1"/>
          </p:cNvPicPr>
          <p:nvPr/>
        </p:nvPicPr>
        <p:blipFill>
          <a:blip r:embed="rId1"/>
          <a:stretch>
            <a:fillRect/>
          </a:stretch>
        </p:blipFill>
        <p:spPr>
          <a:xfrm>
            <a:off x="7726680" y="502920"/>
            <a:ext cx="3877056" cy="5852160"/>
          </a:xfrm>
          <a:prstGeom prst="rect">
            <a:avLst/>
          </a:prstGeom>
        </p:spPr>
      </p:pic>
      <p:sp>
        <p:nvSpPr>
          <p:cNvPr id="4" name="Text 0"/>
          <p:cNvSpPr txBox="1"/>
          <p:nvPr/>
        </p:nvSpPr>
        <p:spPr>
          <a:xfrm>
            <a:off x="548640" y="1097280"/>
            <a:ext cx="6858000" cy="2194560"/>
          </a:xfrm>
          <a:prstGeom prst="rect">
            <a:avLst/>
          </a:prstGeom>
          <a:noFill/>
          <a:ln/>
        </p:spPr>
        <p:txBody>
          <a:bodyPr wrap="square" lIns="0" tIns="0" rIns="0" bIns="0" rtlCol="0" anchor="t"/>
          <a:lstStyle/>
          <a:p>
            <a:pPr indent="0" marL="0">
              <a:lnSpc>
                <a:spcPct val="95000"/>
              </a:lnSpc>
              <a:buNone/>
            </a:pPr>
            <a:r>
              <a:rPr lang="en-US" sz="5400" b="1" dirty="0">
                <a:solidFill>
                  <a:srgbClr val="F0D27A"/>
                </a:solidFill>
                <a:latin typeface="Cambria" pitchFamily="34" charset="0"/>
                <a:ea typeface="Cambria" pitchFamily="34" charset="-122"/>
                <a:cs typeface="Cambria" pitchFamily="34" charset="-120"/>
              </a:rPr>
              <a:t>2m CW on a</a:t>
            </a:r>
            <a:endParaRPr lang="en-US" sz="5400" dirty="0"/>
          </a:p>
          <a:p>
            <a:pPr indent="0" marL="0">
              <a:lnSpc>
                <a:spcPct val="95000"/>
              </a:lnSpc>
              <a:buNone/>
            </a:pPr>
            <a:r>
              <a:rPr lang="en-US" sz="5400" b="1" dirty="0">
                <a:solidFill>
                  <a:srgbClr val="F0D27A"/>
                </a:solidFill>
                <a:latin typeface="Cambria" pitchFamily="34" charset="0"/>
                <a:ea typeface="Cambria" pitchFamily="34" charset="-122"/>
                <a:cs typeface="Cambria" pitchFamily="34" charset="-120"/>
              </a:rPr>
              <a:t>$30 Handheld</a:t>
            </a:r>
            <a:endParaRPr lang="en-US" sz="5400" dirty="0"/>
          </a:p>
        </p:txBody>
      </p:sp>
      <p:sp>
        <p:nvSpPr>
          <p:cNvPr id="5" name="Text 1"/>
          <p:cNvSpPr txBox="1"/>
          <p:nvPr/>
        </p:nvSpPr>
        <p:spPr>
          <a:xfrm>
            <a:off x="548640" y="3520440"/>
            <a:ext cx="6675120" cy="914400"/>
          </a:xfrm>
          <a:prstGeom prst="rect">
            <a:avLst/>
          </a:prstGeom>
          <a:noFill/>
          <a:ln/>
        </p:spPr>
        <p:txBody>
          <a:bodyPr wrap="square" lIns="0" tIns="0" rIns="0" bIns="0" rtlCol="0" anchor="t"/>
          <a:lstStyle/>
          <a:p>
            <a:pPr algn="l" indent="0" marL="0">
              <a:lnSpc>
                <a:spcPct val="110000"/>
              </a:lnSpc>
              <a:buNone/>
            </a:pPr>
            <a:r>
              <a:rPr lang="en-US" sz="2000" dirty="0">
                <a:solidFill>
                  <a:srgbClr val="F2EBDD"/>
                </a:solidFill>
                <a:latin typeface="Calibri" pitchFamily="34" charset="0"/>
                <a:ea typeface="Calibri" pitchFamily="34" charset="-122"/>
                <a:cs typeface="Calibri" pitchFamily="34" charset="-120"/>
              </a:rPr>
              <a:t>Modifying the Quansheng UV-K1 for real Morse code: the why, the how, the tools, and the parts.</a:t>
            </a:r>
            <a:endParaRPr lang="en-US" sz="2000" dirty="0"/>
          </a:p>
        </p:txBody>
      </p:sp>
      <p:sp>
        <p:nvSpPr>
          <p:cNvPr id="6" name="Text 2"/>
          <p:cNvSpPr txBox="1"/>
          <p:nvPr/>
        </p:nvSpPr>
        <p:spPr>
          <a:xfrm>
            <a:off x="548640" y="5120640"/>
            <a:ext cx="6675120" cy="365760"/>
          </a:xfrm>
          <a:prstGeom prst="rect">
            <a:avLst/>
          </a:prstGeom>
          <a:noFill/>
          <a:ln/>
        </p:spPr>
        <p:txBody>
          <a:bodyPr wrap="square" lIns="0" tIns="0" rIns="0" bIns="0" rtlCol="0" anchor="t"/>
          <a:lstStyle/>
          <a:p>
            <a:pPr algn="l" indent="0" marL="0">
              <a:lnSpc>
                <a:spcPct val="110000"/>
              </a:lnSpc>
              <a:buNone/>
            </a:pPr>
            <a:r>
              <a:rPr lang="en-US" sz="1600" dirty="0">
                <a:solidFill>
                  <a:srgbClr val="B3A995"/>
                </a:solidFill>
                <a:latin typeface="Calibri" pitchFamily="34" charset="0"/>
                <a:ea typeface="Calibri" pitchFamily="34" charset="-122"/>
                <a:cs typeface="Calibri" pitchFamily="34" charset="-120"/>
              </a:rPr>
              <a:t>Justin · N9HO</a:t>
            </a:r>
            <a:endParaRPr lang="en-US" sz="1600" dirty="0"/>
          </a:p>
        </p:txBody>
      </p:sp>
      <p:sp>
        <p:nvSpPr>
          <p:cNvPr id="7" name="Text 3"/>
          <p:cNvSpPr txBox="1"/>
          <p:nvPr/>
        </p:nvSpPr>
        <p:spPr>
          <a:xfrm>
            <a:off x="548640" y="5486400"/>
            <a:ext cx="6675120" cy="365760"/>
          </a:xfrm>
          <a:prstGeom prst="rect">
            <a:avLst/>
          </a:prstGeom>
          <a:noFill/>
          <a:ln/>
        </p:spPr>
        <p:txBody>
          <a:bodyPr wrap="square" lIns="0" tIns="0" rIns="0" bIns="0" rtlCol="0" anchor="t"/>
          <a:lstStyle/>
          <a:p>
            <a:pPr algn="l" indent="0" marL="0">
              <a:lnSpc>
                <a:spcPct val="110000"/>
              </a:lnSpc>
              <a:buNone/>
            </a:pPr>
            <a:r>
              <a:rPr lang="en-US" sz="1400" dirty="0">
                <a:solidFill>
                  <a:srgbClr val="7D7466"/>
                </a:solidFill>
                <a:latin typeface="Calibri" pitchFamily="34" charset="0"/>
                <a:ea typeface="Calibri" pitchFamily="34" charset="-122"/>
                <a:cs typeface="Calibri" pitchFamily="34" charset="-120"/>
              </a:rPr>
              <a:t>CCARA Monthly Meeting · September 12,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Tonight</a:t>
            </a:r>
            <a:endParaRPr lang="en-US" sz="3600" dirty="0"/>
          </a:p>
        </p:txBody>
      </p:sp>
      <p:sp>
        <p:nvSpPr>
          <p:cNvPr id="4" name="Shape 1"/>
          <p:cNvSpPr/>
          <p:nvPr/>
        </p:nvSpPr>
        <p:spPr>
          <a:xfrm>
            <a:off x="548640" y="1627632"/>
            <a:ext cx="457200" cy="457200"/>
          </a:xfrm>
          <a:prstGeom prst="ellipse">
            <a:avLst/>
          </a:prstGeom>
          <a:solidFill>
            <a:srgbClr val="D4AF37"/>
          </a:solidFill>
          <a:ln w="12700">
            <a:solidFill>
              <a:srgbClr val="D4AF37"/>
            </a:solidFill>
            <a:prstDash val="solid"/>
          </a:ln>
        </p:spPr>
      </p:sp>
      <p:sp>
        <p:nvSpPr>
          <p:cNvPr id="5" name="Text 2"/>
          <p:cNvSpPr txBox="1"/>
          <p:nvPr/>
        </p:nvSpPr>
        <p:spPr>
          <a:xfrm>
            <a:off x="548640" y="1627632"/>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1</a:t>
            </a:r>
            <a:endParaRPr lang="en-US" sz="1600" dirty="0"/>
          </a:p>
        </p:txBody>
      </p:sp>
      <p:sp>
        <p:nvSpPr>
          <p:cNvPr id="6" name="Text 3"/>
          <p:cNvSpPr txBox="1"/>
          <p:nvPr/>
        </p:nvSpPr>
        <p:spPr>
          <a:xfrm>
            <a:off x="1188720" y="1600200"/>
            <a:ext cx="548640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EBDD"/>
                </a:solidFill>
                <a:latin typeface="Calibri" pitchFamily="34" charset="0"/>
                <a:ea typeface="Calibri" pitchFamily="34" charset="-122"/>
                <a:cs typeface="Calibri" pitchFamily="34" charset="-120"/>
              </a:rPr>
              <a:t>Why 2 meter CW</a:t>
            </a:r>
            <a:endParaRPr lang="en-US" sz="1900" dirty="0"/>
          </a:p>
        </p:txBody>
      </p:sp>
      <p:sp>
        <p:nvSpPr>
          <p:cNvPr id="7" name="Text 4"/>
          <p:cNvSpPr txBox="1"/>
          <p:nvPr/>
        </p:nvSpPr>
        <p:spPr>
          <a:xfrm>
            <a:off x="1188720" y="1965960"/>
            <a:ext cx="5486400" cy="365760"/>
          </a:xfrm>
          <a:prstGeom prst="rect">
            <a:avLst/>
          </a:prstGeom>
          <a:noFill/>
          <a:ln/>
        </p:spPr>
        <p:txBody>
          <a:bodyPr wrap="square" lIns="0" tIns="0" rIns="0" bIns="0" rtlCol="0" anchor="t"/>
          <a:lstStyle/>
          <a:p>
            <a:pPr algn="l" indent="0" marL="0">
              <a:lnSpc>
                <a:spcPct val="110000"/>
              </a:lnSpc>
              <a:buNone/>
            </a:pPr>
            <a:r>
              <a:rPr lang="en-US" sz="1400" dirty="0">
                <a:solidFill>
                  <a:srgbClr val="B3A995"/>
                </a:solidFill>
                <a:latin typeface="Calibri" pitchFamily="34" charset="0"/>
                <a:ea typeface="Calibri" pitchFamily="34" charset="-122"/>
                <a:cs typeface="Calibri" pitchFamily="34" charset="-120"/>
              </a:rPr>
              <a:t>The band is empty, and this mode is local by physics.</a:t>
            </a:r>
            <a:endParaRPr lang="en-US" sz="1400" dirty="0"/>
          </a:p>
        </p:txBody>
      </p:sp>
      <p:sp>
        <p:nvSpPr>
          <p:cNvPr id="8" name="Shape 5"/>
          <p:cNvSpPr/>
          <p:nvPr/>
        </p:nvSpPr>
        <p:spPr>
          <a:xfrm>
            <a:off x="548640" y="2414016"/>
            <a:ext cx="457200" cy="457200"/>
          </a:xfrm>
          <a:prstGeom prst="ellipse">
            <a:avLst/>
          </a:prstGeom>
          <a:solidFill>
            <a:srgbClr val="D4AF37"/>
          </a:solidFill>
          <a:ln w="12700">
            <a:solidFill>
              <a:srgbClr val="D4AF37"/>
            </a:solidFill>
            <a:prstDash val="solid"/>
          </a:ln>
        </p:spPr>
      </p:sp>
      <p:sp>
        <p:nvSpPr>
          <p:cNvPr id="9" name="Text 6"/>
          <p:cNvSpPr txBox="1"/>
          <p:nvPr/>
        </p:nvSpPr>
        <p:spPr>
          <a:xfrm>
            <a:off x="548640" y="2414016"/>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2</a:t>
            </a:r>
            <a:endParaRPr lang="en-US" sz="1600" dirty="0"/>
          </a:p>
        </p:txBody>
      </p:sp>
      <p:sp>
        <p:nvSpPr>
          <p:cNvPr id="10" name="Text 7"/>
          <p:cNvSpPr txBox="1"/>
          <p:nvPr/>
        </p:nvSpPr>
        <p:spPr>
          <a:xfrm>
            <a:off x="1188720" y="2386584"/>
            <a:ext cx="548640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EBDD"/>
                </a:solidFill>
                <a:latin typeface="Calibri" pitchFamily="34" charset="0"/>
                <a:ea typeface="Calibri" pitchFamily="34" charset="-122"/>
                <a:cs typeface="Calibri" pitchFamily="34" charset="-120"/>
              </a:rPr>
              <a:t>Why this radio</a:t>
            </a:r>
            <a:endParaRPr lang="en-US" sz="1900" dirty="0"/>
          </a:p>
        </p:txBody>
      </p:sp>
      <p:sp>
        <p:nvSpPr>
          <p:cNvPr id="11" name="Text 8"/>
          <p:cNvSpPr txBox="1"/>
          <p:nvPr/>
        </p:nvSpPr>
        <p:spPr>
          <a:xfrm>
            <a:off x="1188720" y="2752344"/>
            <a:ext cx="5486400" cy="365760"/>
          </a:xfrm>
          <a:prstGeom prst="rect">
            <a:avLst/>
          </a:prstGeom>
          <a:noFill/>
          <a:ln/>
        </p:spPr>
        <p:txBody>
          <a:bodyPr wrap="square" lIns="0" tIns="0" rIns="0" bIns="0" rtlCol="0" anchor="t"/>
          <a:lstStyle/>
          <a:p>
            <a:pPr algn="l" indent="0" marL="0">
              <a:lnSpc>
                <a:spcPct val="110000"/>
              </a:lnSpc>
              <a:buNone/>
            </a:pPr>
            <a:r>
              <a:rPr lang="en-US" sz="1400" dirty="0">
                <a:solidFill>
                  <a:srgbClr val="B3A995"/>
                </a:solidFill>
                <a:latin typeface="Calibri" pitchFamily="34" charset="0"/>
                <a:ea typeface="Calibri" pitchFamily="34" charset="-122"/>
                <a:cs typeface="Calibri" pitchFamily="34" charset="-120"/>
              </a:rPr>
              <a:t>Thirty dollars, everywhere, and fully open-source firmware.</a:t>
            </a:r>
            <a:endParaRPr lang="en-US" sz="1400" dirty="0"/>
          </a:p>
        </p:txBody>
      </p:sp>
      <p:sp>
        <p:nvSpPr>
          <p:cNvPr id="12" name="Shape 9"/>
          <p:cNvSpPr/>
          <p:nvPr/>
        </p:nvSpPr>
        <p:spPr>
          <a:xfrm>
            <a:off x="548640" y="3200400"/>
            <a:ext cx="457200" cy="457200"/>
          </a:xfrm>
          <a:prstGeom prst="ellipse">
            <a:avLst/>
          </a:prstGeom>
          <a:solidFill>
            <a:srgbClr val="D4AF37"/>
          </a:solidFill>
          <a:ln w="12700">
            <a:solidFill>
              <a:srgbClr val="D4AF37"/>
            </a:solidFill>
            <a:prstDash val="solid"/>
          </a:ln>
        </p:spPr>
      </p:sp>
      <p:sp>
        <p:nvSpPr>
          <p:cNvPr id="13" name="Text 10"/>
          <p:cNvSpPr txBox="1"/>
          <p:nvPr/>
        </p:nvSpPr>
        <p:spPr>
          <a:xfrm>
            <a:off x="548640" y="3200400"/>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3</a:t>
            </a:r>
            <a:endParaRPr lang="en-US" sz="1600" dirty="0"/>
          </a:p>
        </p:txBody>
      </p:sp>
      <p:sp>
        <p:nvSpPr>
          <p:cNvPr id="14" name="Text 11"/>
          <p:cNvSpPr txBox="1"/>
          <p:nvPr/>
        </p:nvSpPr>
        <p:spPr>
          <a:xfrm>
            <a:off x="1188720" y="3172968"/>
            <a:ext cx="548640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EBDD"/>
                </a:solidFill>
                <a:latin typeface="Calibri" pitchFamily="34" charset="0"/>
                <a:ea typeface="Calibri" pitchFamily="34" charset="-122"/>
                <a:cs typeface="Calibri" pitchFamily="34" charset="-120"/>
              </a:rPr>
              <a:t>The firmware</a:t>
            </a:r>
            <a:endParaRPr lang="en-US" sz="1900" dirty="0"/>
          </a:p>
        </p:txBody>
      </p:sp>
      <p:sp>
        <p:nvSpPr>
          <p:cNvPr id="15" name="Text 12"/>
          <p:cNvSpPr txBox="1"/>
          <p:nvPr/>
        </p:nvSpPr>
        <p:spPr>
          <a:xfrm>
            <a:off x="1188720" y="3538728"/>
            <a:ext cx="5486400" cy="365760"/>
          </a:xfrm>
          <a:prstGeom prst="rect">
            <a:avLst/>
          </a:prstGeom>
          <a:noFill/>
          <a:ln/>
        </p:spPr>
        <p:txBody>
          <a:bodyPr wrap="square" lIns="0" tIns="0" rIns="0" bIns="0" rtlCol="0" anchor="t"/>
          <a:lstStyle/>
          <a:p>
            <a:pPr algn="l" indent="0" marL="0">
              <a:lnSpc>
                <a:spcPct val="110000"/>
              </a:lnSpc>
              <a:buNone/>
            </a:pPr>
            <a:r>
              <a:rPr lang="en-US" sz="1400" dirty="0">
                <a:solidFill>
                  <a:srgbClr val="B3A995"/>
                </a:solidFill>
                <a:latin typeface="Calibri" pitchFamily="34" charset="0"/>
                <a:ea typeface="Calibri" pitchFamily="34" charset="-122"/>
                <a:cs typeface="Calibri" pitchFamily="34" charset="-120"/>
              </a:rPr>
              <a:t>What NR7Y's CW mod turns the radio into.</a:t>
            </a:r>
            <a:endParaRPr lang="en-US" sz="1400" dirty="0"/>
          </a:p>
        </p:txBody>
      </p:sp>
      <p:sp>
        <p:nvSpPr>
          <p:cNvPr id="16" name="Shape 13"/>
          <p:cNvSpPr/>
          <p:nvPr/>
        </p:nvSpPr>
        <p:spPr>
          <a:xfrm>
            <a:off x="548640" y="3986784"/>
            <a:ext cx="457200" cy="457200"/>
          </a:xfrm>
          <a:prstGeom prst="ellipse">
            <a:avLst/>
          </a:prstGeom>
          <a:solidFill>
            <a:srgbClr val="D4AF37"/>
          </a:solidFill>
          <a:ln w="12700">
            <a:solidFill>
              <a:srgbClr val="D4AF37"/>
            </a:solidFill>
            <a:prstDash val="solid"/>
          </a:ln>
        </p:spPr>
      </p:sp>
      <p:sp>
        <p:nvSpPr>
          <p:cNvPr id="17" name="Text 14"/>
          <p:cNvSpPr txBox="1"/>
          <p:nvPr/>
        </p:nvSpPr>
        <p:spPr>
          <a:xfrm>
            <a:off x="548640" y="3986784"/>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4</a:t>
            </a:r>
            <a:endParaRPr lang="en-US" sz="1600" dirty="0"/>
          </a:p>
        </p:txBody>
      </p:sp>
      <p:sp>
        <p:nvSpPr>
          <p:cNvPr id="18" name="Text 15"/>
          <p:cNvSpPr txBox="1"/>
          <p:nvPr/>
        </p:nvSpPr>
        <p:spPr>
          <a:xfrm>
            <a:off x="1188720" y="3959352"/>
            <a:ext cx="548640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EBDD"/>
                </a:solidFill>
                <a:latin typeface="Calibri" pitchFamily="34" charset="0"/>
                <a:ea typeface="Calibri" pitchFamily="34" charset="-122"/>
                <a:cs typeface="Calibri" pitchFamily="34" charset="-120"/>
              </a:rPr>
              <a:t>The mod</a:t>
            </a:r>
            <a:endParaRPr lang="en-US" sz="1900" dirty="0"/>
          </a:p>
        </p:txBody>
      </p:sp>
      <p:sp>
        <p:nvSpPr>
          <p:cNvPr id="19" name="Text 16"/>
          <p:cNvSpPr txBox="1"/>
          <p:nvPr/>
        </p:nvSpPr>
        <p:spPr>
          <a:xfrm>
            <a:off x="1188720" y="4325112"/>
            <a:ext cx="5486400" cy="365760"/>
          </a:xfrm>
          <a:prstGeom prst="rect">
            <a:avLst/>
          </a:prstGeom>
          <a:noFill/>
          <a:ln/>
        </p:spPr>
        <p:txBody>
          <a:bodyPr wrap="square" lIns="0" tIns="0" rIns="0" bIns="0" rtlCol="0" anchor="t"/>
          <a:lstStyle/>
          <a:p>
            <a:pPr algn="l" indent="0" marL="0">
              <a:lnSpc>
                <a:spcPct val="110000"/>
              </a:lnSpc>
              <a:buNone/>
            </a:pPr>
            <a:r>
              <a:rPr lang="en-US" sz="1400" dirty="0">
                <a:solidFill>
                  <a:srgbClr val="B3A995"/>
                </a:solidFill>
                <a:latin typeface="Calibri" pitchFamily="34" charset="0"/>
                <a:ea typeface="Calibri" pitchFamily="34" charset="-122"/>
                <a:cs typeface="Calibri" pitchFamily="34" charset="-120"/>
              </a:rPr>
              <a:t>Tools, parts, and the two-resistor, two-wire rework.</a:t>
            </a:r>
            <a:endParaRPr lang="en-US" sz="1400" dirty="0"/>
          </a:p>
        </p:txBody>
      </p:sp>
      <p:sp>
        <p:nvSpPr>
          <p:cNvPr id="20" name="Shape 17"/>
          <p:cNvSpPr/>
          <p:nvPr/>
        </p:nvSpPr>
        <p:spPr>
          <a:xfrm>
            <a:off x="548640" y="4773168"/>
            <a:ext cx="457200" cy="457200"/>
          </a:xfrm>
          <a:prstGeom prst="ellipse">
            <a:avLst/>
          </a:prstGeom>
          <a:solidFill>
            <a:srgbClr val="D4AF37"/>
          </a:solidFill>
          <a:ln w="12700">
            <a:solidFill>
              <a:srgbClr val="D4AF37"/>
            </a:solidFill>
            <a:prstDash val="solid"/>
          </a:ln>
        </p:spPr>
      </p:sp>
      <p:sp>
        <p:nvSpPr>
          <p:cNvPr id="21" name="Text 18"/>
          <p:cNvSpPr txBox="1"/>
          <p:nvPr/>
        </p:nvSpPr>
        <p:spPr>
          <a:xfrm>
            <a:off x="548640" y="4773168"/>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5</a:t>
            </a:r>
            <a:endParaRPr lang="en-US" sz="1600" dirty="0"/>
          </a:p>
        </p:txBody>
      </p:sp>
      <p:sp>
        <p:nvSpPr>
          <p:cNvPr id="22" name="Text 19"/>
          <p:cNvSpPr txBox="1"/>
          <p:nvPr/>
        </p:nvSpPr>
        <p:spPr>
          <a:xfrm>
            <a:off x="1188720" y="4745736"/>
            <a:ext cx="548640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EBDD"/>
                </a:solidFill>
                <a:latin typeface="Calibri" pitchFamily="34" charset="0"/>
                <a:ea typeface="Calibri" pitchFamily="34" charset="-122"/>
                <a:cs typeface="Calibri" pitchFamily="34" charset="-120"/>
              </a:rPr>
              <a:t>Flash, set up, get on the air</a:t>
            </a:r>
            <a:endParaRPr lang="en-US" sz="1900" dirty="0"/>
          </a:p>
        </p:txBody>
      </p:sp>
      <p:sp>
        <p:nvSpPr>
          <p:cNvPr id="23" name="Text 20"/>
          <p:cNvSpPr txBox="1"/>
          <p:nvPr/>
        </p:nvSpPr>
        <p:spPr>
          <a:xfrm>
            <a:off x="1188720" y="5111496"/>
            <a:ext cx="5486400" cy="365760"/>
          </a:xfrm>
          <a:prstGeom prst="rect">
            <a:avLst/>
          </a:prstGeom>
          <a:noFill/>
          <a:ln/>
        </p:spPr>
        <p:txBody>
          <a:bodyPr wrap="square" lIns="0" tIns="0" rIns="0" bIns="0" rtlCol="0" anchor="t"/>
          <a:lstStyle/>
          <a:p>
            <a:pPr algn="l" indent="0" marL="0">
              <a:lnSpc>
                <a:spcPct val="110000"/>
              </a:lnSpc>
              <a:buNone/>
            </a:pPr>
            <a:r>
              <a:rPr lang="en-US" sz="1400" dirty="0">
                <a:solidFill>
                  <a:srgbClr val="B3A995"/>
                </a:solidFill>
                <a:latin typeface="Calibri" pitchFamily="34" charset="0"/>
                <a:ea typeface="Calibri" pitchFamily="34" charset="-122"/>
                <a:cs typeface="Calibri" pitchFamily="34" charset="-120"/>
              </a:rPr>
              <a:t>uvtools2, the CW menu, and 144.025.</a:t>
            </a:r>
            <a:endParaRPr lang="en-US" sz="1400" dirty="0"/>
          </a:p>
        </p:txBody>
      </p:sp>
      <p:sp>
        <p:nvSpPr>
          <p:cNvPr id="24" name="Shape 21"/>
          <p:cNvSpPr/>
          <p:nvPr/>
        </p:nvSpPr>
        <p:spPr>
          <a:xfrm>
            <a:off x="548640" y="5559552"/>
            <a:ext cx="457200" cy="457200"/>
          </a:xfrm>
          <a:prstGeom prst="ellipse">
            <a:avLst/>
          </a:prstGeom>
          <a:solidFill>
            <a:srgbClr val="D4AF37"/>
          </a:solidFill>
          <a:ln w="12700">
            <a:solidFill>
              <a:srgbClr val="D4AF37"/>
            </a:solidFill>
            <a:prstDash val="solid"/>
          </a:ln>
        </p:spPr>
      </p:sp>
      <p:sp>
        <p:nvSpPr>
          <p:cNvPr id="25" name="Text 22"/>
          <p:cNvSpPr txBox="1"/>
          <p:nvPr/>
        </p:nvSpPr>
        <p:spPr>
          <a:xfrm>
            <a:off x="548640" y="5559552"/>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6</a:t>
            </a:r>
            <a:endParaRPr lang="en-US" sz="1600" dirty="0"/>
          </a:p>
        </p:txBody>
      </p:sp>
      <p:sp>
        <p:nvSpPr>
          <p:cNvPr id="26" name="Text 23"/>
          <p:cNvSpPr txBox="1"/>
          <p:nvPr/>
        </p:nvSpPr>
        <p:spPr>
          <a:xfrm>
            <a:off x="1188720" y="5532120"/>
            <a:ext cx="5486400" cy="365760"/>
          </a:xfrm>
          <a:prstGeom prst="rect">
            <a:avLst/>
          </a:prstGeom>
          <a:noFill/>
          <a:ln/>
        </p:spPr>
        <p:txBody>
          <a:bodyPr wrap="square" lIns="0" tIns="0" rIns="0" bIns="0" rtlCol="0" anchor="t"/>
          <a:lstStyle/>
          <a:p>
            <a:pPr algn="l" indent="0" marL="0">
              <a:lnSpc>
                <a:spcPct val="110000"/>
              </a:lnSpc>
              <a:buNone/>
            </a:pPr>
            <a:r>
              <a:rPr lang="en-US" sz="1900" b="1" dirty="0">
                <a:solidFill>
                  <a:srgbClr val="F2EBDD"/>
                </a:solidFill>
                <a:latin typeface="Calibri" pitchFamily="34" charset="0"/>
                <a:ea typeface="Calibri" pitchFamily="34" charset="-122"/>
                <a:cs typeface="Calibri" pitchFamily="34" charset="-120"/>
              </a:rPr>
              <a:t>The Brass Knuckle Gang</a:t>
            </a:r>
            <a:endParaRPr lang="en-US" sz="1900" dirty="0"/>
          </a:p>
        </p:txBody>
      </p:sp>
      <p:sp>
        <p:nvSpPr>
          <p:cNvPr id="27" name="Text 24"/>
          <p:cNvSpPr txBox="1"/>
          <p:nvPr/>
        </p:nvSpPr>
        <p:spPr>
          <a:xfrm>
            <a:off x="1188720" y="5897880"/>
            <a:ext cx="5486400" cy="365760"/>
          </a:xfrm>
          <a:prstGeom prst="rect">
            <a:avLst/>
          </a:prstGeom>
          <a:noFill/>
          <a:ln/>
        </p:spPr>
        <p:txBody>
          <a:bodyPr wrap="square" lIns="0" tIns="0" rIns="0" bIns="0" rtlCol="0" anchor="t"/>
          <a:lstStyle/>
          <a:p>
            <a:pPr algn="l" indent="0" marL="0">
              <a:lnSpc>
                <a:spcPct val="110000"/>
              </a:lnSpc>
              <a:buNone/>
            </a:pPr>
            <a:r>
              <a:rPr lang="en-US" sz="1400" dirty="0">
                <a:solidFill>
                  <a:srgbClr val="B3A995"/>
                </a:solidFill>
                <a:latin typeface="Calibri" pitchFamily="34" charset="0"/>
                <a:ea typeface="Calibri" pitchFamily="34" charset="-122"/>
                <a:cs typeface="Calibri" pitchFamily="34" charset="-120"/>
              </a:rPr>
              <a:t>Who we are and how you get a number.</a:t>
            </a:r>
            <a:endParaRPr lang="en-US" sz="1400" dirty="0"/>
          </a:p>
        </p:txBody>
      </p:sp>
      <p:sp>
        <p:nvSpPr>
          <p:cNvPr id="28" name="Shape 25"/>
          <p:cNvSpPr/>
          <p:nvPr/>
        </p:nvSpPr>
        <p:spPr>
          <a:xfrm>
            <a:off x="7223760" y="1600200"/>
            <a:ext cx="4416552" cy="4663440"/>
          </a:xfrm>
          <a:prstGeom prst="roundRect">
            <a:avLst>
              <a:gd name="adj" fmla="val 2484"/>
            </a:avLst>
          </a:prstGeom>
          <a:solidFill>
            <a:srgbClr val="211D19"/>
          </a:solidFill>
          <a:ln w="12700">
            <a:solidFill>
              <a:srgbClr val="211D19"/>
            </a:solidFill>
            <a:prstDash val="solid"/>
          </a:ln>
        </p:spPr>
      </p:sp>
      <p:sp>
        <p:nvSpPr>
          <p:cNvPr id="29" name="Text 26"/>
          <p:cNvSpPr txBox="1"/>
          <p:nvPr/>
        </p:nvSpPr>
        <p:spPr>
          <a:xfrm>
            <a:off x="7406640" y="1783080"/>
            <a:ext cx="1828800" cy="914400"/>
          </a:xfrm>
          <a:prstGeom prst="rect">
            <a:avLst/>
          </a:prstGeom>
          <a:noFill/>
          <a:ln/>
        </p:spPr>
        <p:txBody>
          <a:bodyPr wrap="square" lIns="0" tIns="0" rIns="0" bIns="0" rtlCol="0" anchor="ctr"/>
          <a:lstStyle/>
          <a:p>
            <a:pPr algn="r" indent="0" marL="0">
              <a:buNone/>
            </a:pPr>
            <a:r>
              <a:rPr lang="en-US" sz="4800" b="1" dirty="0">
                <a:solidFill>
                  <a:srgbClr val="D4AF37"/>
                </a:solidFill>
                <a:latin typeface="Cambria" pitchFamily="34" charset="0"/>
                <a:ea typeface="Cambria" pitchFamily="34" charset="-122"/>
                <a:cs typeface="Cambria" pitchFamily="34" charset="-120"/>
              </a:rPr>
              <a:t>$30</a:t>
            </a:r>
            <a:endParaRPr lang="en-US" sz="4800" dirty="0"/>
          </a:p>
        </p:txBody>
      </p:sp>
      <p:sp>
        <p:nvSpPr>
          <p:cNvPr id="30" name="Text 27"/>
          <p:cNvSpPr txBox="1"/>
          <p:nvPr/>
        </p:nvSpPr>
        <p:spPr>
          <a:xfrm>
            <a:off x="9418320" y="1783080"/>
            <a:ext cx="2103120" cy="914400"/>
          </a:xfrm>
          <a:prstGeom prst="rect">
            <a:avLst/>
          </a:prstGeom>
          <a:noFill/>
          <a:ln/>
        </p:spPr>
        <p:txBody>
          <a:bodyPr wrap="square" lIns="0" tIns="0" rIns="0" bIns="0" rtlCol="0" anchor="ctr"/>
          <a:lstStyle/>
          <a:p>
            <a:pPr algn="l" indent="0" marL="0">
              <a:lnSpc>
                <a:spcPct val="110000"/>
              </a:lnSpc>
              <a:buNone/>
            </a:pPr>
            <a:r>
              <a:rPr lang="en-US" sz="1800" dirty="0">
                <a:solidFill>
                  <a:srgbClr val="F2EBDD"/>
                </a:solidFill>
                <a:latin typeface="Calibri" pitchFamily="34" charset="0"/>
                <a:ea typeface="Calibri" pitchFamily="34" charset="-122"/>
                <a:cs typeface="Calibri" pitchFamily="34" charset="-120"/>
              </a:rPr>
              <a:t>the radio</a:t>
            </a:r>
            <a:endParaRPr lang="en-US" sz="1800" dirty="0"/>
          </a:p>
        </p:txBody>
      </p:sp>
      <p:sp>
        <p:nvSpPr>
          <p:cNvPr id="31" name="Text 28"/>
          <p:cNvSpPr txBox="1"/>
          <p:nvPr/>
        </p:nvSpPr>
        <p:spPr>
          <a:xfrm>
            <a:off x="7406640" y="2898648"/>
            <a:ext cx="1828800" cy="914400"/>
          </a:xfrm>
          <a:prstGeom prst="rect">
            <a:avLst/>
          </a:prstGeom>
          <a:noFill/>
          <a:ln/>
        </p:spPr>
        <p:txBody>
          <a:bodyPr wrap="square" lIns="0" tIns="0" rIns="0" bIns="0" rtlCol="0" anchor="ctr"/>
          <a:lstStyle/>
          <a:p>
            <a:pPr algn="r" indent="0" marL="0">
              <a:buNone/>
            </a:pPr>
            <a:r>
              <a:rPr lang="en-US" sz="4800" b="1" dirty="0">
                <a:solidFill>
                  <a:srgbClr val="D4AF37"/>
                </a:solidFill>
                <a:latin typeface="Cambria" pitchFamily="34" charset="0"/>
                <a:ea typeface="Cambria" pitchFamily="34" charset="-122"/>
                <a:cs typeface="Cambria" pitchFamily="34" charset="-120"/>
              </a:rPr>
              <a:t>2</a:t>
            </a:r>
            <a:endParaRPr lang="en-US" sz="4800" dirty="0"/>
          </a:p>
        </p:txBody>
      </p:sp>
      <p:sp>
        <p:nvSpPr>
          <p:cNvPr id="32" name="Text 29"/>
          <p:cNvSpPr txBox="1"/>
          <p:nvPr/>
        </p:nvSpPr>
        <p:spPr>
          <a:xfrm>
            <a:off x="9418320" y="2898648"/>
            <a:ext cx="2103120" cy="914400"/>
          </a:xfrm>
          <a:prstGeom prst="rect">
            <a:avLst/>
          </a:prstGeom>
          <a:noFill/>
          <a:ln/>
        </p:spPr>
        <p:txBody>
          <a:bodyPr wrap="square" lIns="0" tIns="0" rIns="0" bIns="0" rtlCol="0" anchor="ctr"/>
          <a:lstStyle/>
          <a:p>
            <a:pPr algn="l" indent="0" marL="0">
              <a:lnSpc>
                <a:spcPct val="110000"/>
              </a:lnSpc>
              <a:buNone/>
            </a:pPr>
            <a:r>
              <a:rPr lang="en-US" sz="1800" dirty="0">
                <a:solidFill>
                  <a:srgbClr val="F2EBDD"/>
                </a:solidFill>
                <a:latin typeface="Calibri" pitchFamily="34" charset="0"/>
                <a:ea typeface="Calibri" pitchFamily="34" charset="-122"/>
                <a:cs typeface="Calibri" pitchFamily="34" charset="-120"/>
              </a:rPr>
              <a:t>resistors off</a:t>
            </a:r>
            <a:endParaRPr lang="en-US" sz="1800" dirty="0"/>
          </a:p>
        </p:txBody>
      </p:sp>
      <p:sp>
        <p:nvSpPr>
          <p:cNvPr id="33" name="Text 30"/>
          <p:cNvSpPr txBox="1"/>
          <p:nvPr/>
        </p:nvSpPr>
        <p:spPr>
          <a:xfrm>
            <a:off x="7406640" y="4014216"/>
            <a:ext cx="1828800" cy="914400"/>
          </a:xfrm>
          <a:prstGeom prst="rect">
            <a:avLst/>
          </a:prstGeom>
          <a:noFill/>
          <a:ln/>
        </p:spPr>
        <p:txBody>
          <a:bodyPr wrap="square" lIns="0" tIns="0" rIns="0" bIns="0" rtlCol="0" anchor="ctr"/>
          <a:lstStyle/>
          <a:p>
            <a:pPr algn="r" indent="0" marL="0">
              <a:buNone/>
            </a:pPr>
            <a:r>
              <a:rPr lang="en-US" sz="4800" b="1" dirty="0">
                <a:solidFill>
                  <a:srgbClr val="D4AF37"/>
                </a:solidFill>
                <a:latin typeface="Cambria" pitchFamily="34" charset="0"/>
                <a:ea typeface="Cambria" pitchFamily="34" charset="-122"/>
                <a:cs typeface="Cambria" pitchFamily="34" charset="-120"/>
              </a:rPr>
              <a:t>2</a:t>
            </a:r>
            <a:endParaRPr lang="en-US" sz="4800" dirty="0"/>
          </a:p>
        </p:txBody>
      </p:sp>
      <p:sp>
        <p:nvSpPr>
          <p:cNvPr id="34" name="Text 31"/>
          <p:cNvSpPr txBox="1"/>
          <p:nvPr/>
        </p:nvSpPr>
        <p:spPr>
          <a:xfrm>
            <a:off x="9418320" y="4014216"/>
            <a:ext cx="2103120" cy="914400"/>
          </a:xfrm>
          <a:prstGeom prst="rect">
            <a:avLst/>
          </a:prstGeom>
          <a:noFill/>
          <a:ln/>
        </p:spPr>
        <p:txBody>
          <a:bodyPr wrap="square" lIns="0" tIns="0" rIns="0" bIns="0" rtlCol="0" anchor="ctr"/>
          <a:lstStyle/>
          <a:p>
            <a:pPr algn="l" indent="0" marL="0">
              <a:lnSpc>
                <a:spcPct val="110000"/>
              </a:lnSpc>
              <a:buNone/>
            </a:pPr>
            <a:r>
              <a:rPr lang="en-US" sz="1800" dirty="0">
                <a:solidFill>
                  <a:srgbClr val="F2EBDD"/>
                </a:solidFill>
                <a:latin typeface="Calibri" pitchFamily="34" charset="0"/>
                <a:ea typeface="Calibri" pitchFamily="34" charset="-122"/>
                <a:cs typeface="Calibri" pitchFamily="34" charset="-120"/>
              </a:rPr>
              <a:t>wires on</a:t>
            </a:r>
            <a:endParaRPr lang="en-US" sz="1800" dirty="0"/>
          </a:p>
        </p:txBody>
      </p:sp>
      <p:sp>
        <p:nvSpPr>
          <p:cNvPr id="35" name="Text 32"/>
          <p:cNvSpPr txBox="1"/>
          <p:nvPr/>
        </p:nvSpPr>
        <p:spPr>
          <a:xfrm>
            <a:off x="7406640" y="5129784"/>
            <a:ext cx="1828800" cy="914400"/>
          </a:xfrm>
          <a:prstGeom prst="rect">
            <a:avLst/>
          </a:prstGeom>
          <a:noFill/>
          <a:ln/>
        </p:spPr>
        <p:txBody>
          <a:bodyPr wrap="square" lIns="0" tIns="0" rIns="0" bIns="0" rtlCol="0" anchor="ctr"/>
          <a:lstStyle/>
          <a:p>
            <a:pPr algn="r" indent="0" marL="0">
              <a:buNone/>
            </a:pPr>
            <a:r>
              <a:rPr lang="en-US" sz="4800" b="1" dirty="0">
                <a:solidFill>
                  <a:srgbClr val="D4AF37"/>
                </a:solidFill>
                <a:latin typeface="Cambria" pitchFamily="34" charset="0"/>
                <a:ea typeface="Cambria" pitchFamily="34" charset="-122"/>
                <a:cs typeface="Cambria" pitchFamily="34" charset="-120"/>
              </a:rPr>
              <a:t>1</a:t>
            </a:r>
            <a:endParaRPr lang="en-US" sz="4800" dirty="0"/>
          </a:p>
        </p:txBody>
      </p:sp>
      <p:sp>
        <p:nvSpPr>
          <p:cNvPr id="36" name="Text 33"/>
          <p:cNvSpPr txBox="1"/>
          <p:nvPr/>
        </p:nvSpPr>
        <p:spPr>
          <a:xfrm>
            <a:off x="9418320" y="5129784"/>
            <a:ext cx="2103120" cy="914400"/>
          </a:xfrm>
          <a:prstGeom prst="rect">
            <a:avLst/>
          </a:prstGeom>
          <a:noFill/>
          <a:ln/>
        </p:spPr>
        <p:txBody>
          <a:bodyPr wrap="square" lIns="0" tIns="0" rIns="0" bIns="0" rtlCol="0" anchor="ctr"/>
          <a:lstStyle/>
          <a:p>
            <a:pPr algn="l" indent="0" marL="0">
              <a:lnSpc>
                <a:spcPct val="110000"/>
              </a:lnSpc>
              <a:buNone/>
            </a:pPr>
            <a:r>
              <a:rPr lang="en-US" sz="1800" dirty="0">
                <a:solidFill>
                  <a:srgbClr val="F2EBDD"/>
                </a:solidFill>
                <a:latin typeface="Calibri" pitchFamily="34" charset="0"/>
                <a:ea typeface="Calibri" pitchFamily="34" charset="-122"/>
                <a:cs typeface="Calibri" pitchFamily="34" charset="-120"/>
              </a:rPr>
              <a:t>evening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Why 2 meter CW?</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One goal: more operators sending Morse on 144 MHz than last year. These are the side effects.</a:t>
            </a:r>
            <a:endParaRPr lang="en-US" sz="1600" dirty="0"/>
          </a:p>
        </p:txBody>
      </p:sp>
      <p:sp>
        <p:nvSpPr>
          <p:cNvPr id="5" name="Shape 2"/>
          <p:cNvSpPr/>
          <p:nvPr/>
        </p:nvSpPr>
        <p:spPr>
          <a:xfrm>
            <a:off x="548640" y="1828800"/>
            <a:ext cx="3515258" cy="3749040"/>
          </a:xfrm>
          <a:prstGeom prst="roundRect">
            <a:avLst>
              <a:gd name="adj" fmla="val 3121"/>
            </a:avLst>
          </a:prstGeom>
          <a:solidFill>
            <a:srgbClr val="211D19"/>
          </a:solidFill>
          <a:ln w="12700">
            <a:solidFill>
              <a:srgbClr val="211D19"/>
            </a:solidFill>
            <a:prstDash val="solid"/>
          </a:ln>
        </p:spPr>
      </p:sp>
      <p:sp>
        <p:nvSpPr>
          <p:cNvPr id="6" name="Shape 3"/>
          <p:cNvSpPr/>
          <p:nvPr/>
        </p:nvSpPr>
        <p:spPr>
          <a:xfrm>
            <a:off x="822960" y="2103120"/>
            <a:ext cx="640080" cy="640080"/>
          </a:xfrm>
          <a:prstGeom prst="ellipse">
            <a:avLst/>
          </a:prstGeom>
          <a:solidFill>
            <a:srgbClr val="D4AF37"/>
          </a:solidFill>
          <a:ln w="12700">
            <a:solidFill>
              <a:srgbClr val="D4AF37"/>
            </a:solidFill>
            <a:prstDash val="solid"/>
          </a:ln>
        </p:spPr>
      </p:sp>
      <p:pic>
        <p:nvPicPr>
          <p:cNvPr id="7" name="Image 0" descr="preencoded.png">    </p:cNvPr>
          <p:cNvPicPr>
            <a:picLocks noChangeAspect="1"/>
          </p:cNvPicPr>
          <p:nvPr/>
        </p:nvPicPr>
        <p:blipFill>
          <a:blip r:embed="rId1"/>
          <a:stretch>
            <a:fillRect/>
          </a:stretch>
        </p:blipFill>
        <p:spPr>
          <a:xfrm>
            <a:off x="995782" y="2275942"/>
            <a:ext cx="294437" cy="294437"/>
          </a:xfrm>
          <a:prstGeom prst="rect">
            <a:avLst/>
          </a:prstGeom>
        </p:spPr>
      </p:pic>
      <p:sp>
        <p:nvSpPr>
          <p:cNvPr id="8" name="Text 4"/>
          <p:cNvSpPr txBox="1"/>
          <p:nvPr/>
        </p:nvSpPr>
        <p:spPr>
          <a:xfrm>
            <a:off x="822960" y="2880360"/>
            <a:ext cx="296661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The band is empty</a:t>
            </a:r>
            <a:endParaRPr lang="en-US" sz="2000" dirty="0"/>
          </a:p>
        </p:txBody>
      </p:sp>
      <p:sp>
        <p:nvSpPr>
          <p:cNvPr id="9" name="Text 5"/>
          <p:cNvSpPr txBox="1"/>
          <p:nvPr/>
        </p:nvSpPr>
        <p:spPr>
          <a:xfrm>
            <a:off x="822960" y="3337560"/>
            <a:ext cx="2966618" cy="2103120"/>
          </a:xfrm>
          <a:prstGeom prst="rect">
            <a:avLst/>
          </a:prstGeom>
          <a:noFill/>
          <a:ln/>
        </p:spPr>
        <p:txBody>
          <a:bodyPr wrap="square" lIns="0" tIns="0" rIns="0" bIns="0" rtlCol="0" anchor="t"/>
          <a:lstStyle/>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Outside a few repeaters and a net or two, two meters goes days without a signal. The weak-signal end goes weeks.</a:t>
            </a:r>
            <a:endParaRPr lang="en-US" sz="1400" dirty="0"/>
          </a:p>
          <a:p>
            <a:pPr algn="l" indent="0" marL="0">
              <a:lnSpc>
                <a:spcPct val="110000"/>
              </a:lnSpc>
              <a:buNone/>
            </a:pPr>
            <a:endParaRPr lang="en-US" sz="1400" dirty="0"/>
          </a:p>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An active band is far easier to defend than an empty one. Every contact is evidence, and it costs you an evening.</a:t>
            </a:r>
            <a:endParaRPr lang="en-US" sz="1400" dirty="0"/>
          </a:p>
        </p:txBody>
      </p:sp>
      <p:sp>
        <p:nvSpPr>
          <p:cNvPr id="10" name="Shape 6"/>
          <p:cNvSpPr/>
          <p:nvPr/>
        </p:nvSpPr>
        <p:spPr>
          <a:xfrm>
            <a:off x="4338218" y="1828800"/>
            <a:ext cx="3515258" cy="3749040"/>
          </a:xfrm>
          <a:prstGeom prst="roundRect">
            <a:avLst>
              <a:gd name="adj" fmla="val 3121"/>
            </a:avLst>
          </a:prstGeom>
          <a:solidFill>
            <a:srgbClr val="211D19"/>
          </a:solidFill>
          <a:ln w="12700">
            <a:solidFill>
              <a:srgbClr val="211D19"/>
            </a:solidFill>
            <a:prstDash val="solid"/>
          </a:ln>
        </p:spPr>
      </p:sp>
      <p:sp>
        <p:nvSpPr>
          <p:cNvPr id="11" name="Shape 7"/>
          <p:cNvSpPr/>
          <p:nvPr/>
        </p:nvSpPr>
        <p:spPr>
          <a:xfrm>
            <a:off x="4612538" y="2103120"/>
            <a:ext cx="640080" cy="640080"/>
          </a:xfrm>
          <a:prstGeom prst="ellipse">
            <a:avLst/>
          </a:prstGeom>
          <a:solidFill>
            <a:srgbClr val="D4AF37"/>
          </a:solidFill>
          <a:ln w="12700">
            <a:solidFill>
              <a:srgbClr val="D4AF37"/>
            </a:solidFill>
            <a:prstDash val="solid"/>
          </a:ln>
        </p:spPr>
      </p:sp>
      <p:pic>
        <p:nvPicPr>
          <p:cNvPr id="12" name="Image 1" descr="preencoded.png">    </p:cNvPr>
          <p:cNvPicPr>
            <a:picLocks noChangeAspect="1"/>
          </p:cNvPicPr>
          <p:nvPr/>
        </p:nvPicPr>
        <p:blipFill>
          <a:blip r:embed="rId2"/>
          <a:stretch>
            <a:fillRect/>
          </a:stretch>
        </p:blipFill>
        <p:spPr>
          <a:xfrm>
            <a:off x="4785360" y="2275942"/>
            <a:ext cx="294437" cy="294437"/>
          </a:xfrm>
          <a:prstGeom prst="rect">
            <a:avLst/>
          </a:prstGeom>
        </p:spPr>
      </p:pic>
      <p:sp>
        <p:nvSpPr>
          <p:cNvPr id="13" name="Text 8"/>
          <p:cNvSpPr txBox="1"/>
          <p:nvPr/>
        </p:nvSpPr>
        <p:spPr>
          <a:xfrm>
            <a:off x="4612538" y="2880360"/>
            <a:ext cx="296661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It is local, by physics</a:t>
            </a:r>
            <a:endParaRPr lang="en-US" sz="2000" dirty="0"/>
          </a:p>
        </p:txBody>
      </p:sp>
      <p:sp>
        <p:nvSpPr>
          <p:cNvPr id="14" name="Text 9"/>
          <p:cNvSpPr txBox="1"/>
          <p:nvPr/>
        </p:nvSpPr>
        <p:spPr>
          <a:xfrm>
            <a:off x="4612538" y="3337560"/>
            <a:ext cx="2966618" cy="2103120"/>
          </a:xfrm>
          <a:prstGeom prst="rect">
            <a:avLst/>
          </a:prstGeom>
          <a:noFill/>
          <a:ln/>
        </p:spPr>
        <p:txBody>
          <a:bodyPr wrap="square" lIns="0" tIns="0" rIns="0" bIns="0" rtlCol="0" anchor="t"/>
          <a:lstStyle/>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With a handheld and a modest antenna, 2m CW reaches the hams around you, not strangers a thousand miles away.</a:t>
            </a:r>
            <a:endParaRPr lang="en-US" sz="1400" dirty="0"/>
          </a:p>
          <a:p>
            <a:pPr algn="l" indent="0" marL="0">
              <a:lnSpc>
                <a:spcPct val="110000"/>
              </a:lnSpc>
              <a:buNone/>
            </a:pPr>
            <a:endParaRPr lang="en-US" sz="1400" dirty="0"/>
          </a:p>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You cannot grow this without meeting your neighbors: back to the club, talk friends into a radio, get on the air together.</a:t>
            </a:r>
            <a:endParaRPr lang="en-US" sz="1400" dirty="0"/>
          </a:p>
        </p:txBody>
      </p:sp>
      <p:sp>
        <p:nvSpPr>
          <p:cNvPr id="15" name="Shape 10"/>
          <p:cNvSpPr/>
          <p:nvPr/>
        </p:nvSpPr>
        <p:spPr>
          <a:xfrm>
            <a:off x="8127797" y="1828800"/>
            <a:ext cx="3515258" cy="3749040"/>
          </a:xfrm>
          <a:prstGeom prst="roundRect">
            <a:avLst>
              <a:gd name="adj" fmla="val 3121"/>
            </a:avLst>
          </a:prstGeom>
          <a:solidFill>
            <a:srgbClr val="211D19"/>
          </a:solidFill>
          <a:ln w="12700">
            <a:solidFill>
              <a:srgbClr val="211D19"/>
            </a:solidFill>
            <a:prstDash val="solid"/>
          </a:ln>
        </p:spPr>
      </p:sp>
      <p:sp>
        <p:nvSpPr>
          <p:cNvPr id="16" name="Shape 11"/>
          <p:cNvSpPr/>
          <p:nvPr/>
        </p:nvSpPr>
        <p:spPr>
          <a:xfrm>
            <a:off x="8402117" y="2103120"/>
            <a:ext cx="640080" cy="640080"/>
          </a:xfrm>
          <a:prstGeom prst="ellipse">
            <a:avLst/>
          </a:prstGeom>
          <a:solidFill>
            <a:srgbClr val="D4AF37"/>
          </a:solidFill>
          <a:ln w="12700">
            <a:solidFill>
              <a:srgbClr val="D4AF37"/>
            </a:solidFill>
            <a:prstDash val="solid"/>
          </a:ln>
        </p:spPr>
      </p:sp>
      <p:pic>
        <p:nvPicPr>
          <p:cNvPr id="17" name="Image 2" descr="preencoded.png">    </p:cNvPr>
          <p:cNvPicPr>
            <a:picLocks noChangeAspect="1"/>
          </p:cNvPicPr>
          <p:nvPr/>
        </p:nvPicPr>
        <p:blipFill>
          <a:blip r:embed="rId3"/>
          <a:stretch>
            <a:fillRect/>
          </a:stretch>
        </p:blipFill>
        <p:spPr>
          <a:xfrm>
            <a:off x="8574938" y="2275942"/>
            <a:ext cx="294437" cy="294437"/>
          </a:xfrm>
          <a:prstGeom prst="rect">
            <a:avLst/>
          </a:prstGeom>
        </p:spPr>
      </p:pic>
      <p:sp>
        <p:nvSpPr>
          <p:cNvPr id="18" name="Text 12"/>
          <p:cNvSpPr txBox="1"/>
          <p:nvPr/>
        </p:nvSpPr>
        <p:spPr>
          <a:xfrm>
            <a:off x="8402117" y="2880360"/>
            <a:ext cx="296661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Nobody fears a $30 radio</a:t>
            </a:r>
            <a:endParaRPr lang="en-US" sz="2000" dirty="0"/>
          </a:p>
        </p:txBody>
      </p:sp>
      <p:sp>
        <p:nvSpPr>
          <p:cNvPr id="19" name="Text 13"/>
          <p:cNvSpPr txBox="1"/>
          <p:nvPr/>
        </p:nvSpPr>
        <p:spPr>
          <a:xfrm>
            <a:off x="8402117" y="3337560"/>
            <a:ext cx="2966618" cy="2103120"/>
          </a:xfrm>
          <a:prstGeom prst="rect">
            <a:avLst/>
          </a:prstGeom>
          <a:noFill/>
          <a:ln/>
        </p:spPr>
        <p:txBody>
          <a:bodyPr wrap="square" lIns="0" tIns="0" rIns="0" bIns="0" rtlCol="0" anchor="t"/>
          <a:lstStyle/>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The barrier to tinkering is fear, not skill. Nobody's first soldering job belongs inside a $1,300 HF rig, so the iron stays in the drawer.</a:t>
            </a:r>
            <a:endParaRPr lang="en-US" sz="1400" dirty="0"/>
          </a:p>
          <a:p>
            <a:pPr algn="l" indent="0" marL="0">
              <a:lnSpc>
                <a:spcPct val="110000"/>
              </a:lnSpc>
              <a:buNone/>
            </a:pPr>
            <a:endParaRPr lang="en-US" sz="1400" dirty="0"/>
          </a:p>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When the worst case is ordering another one, people try things. People who try things build things.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Why the Quansheng?</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Out of the box it will not send CW at all. What it has is a price tag and an open-source firmware family.</a:t>
            </a:r>
            <a:endParaRPr lang="en-US" sz="1600" dirty="0"/>
          </a:p>
        </p:txBody>
      </p:sp>
      <p:sp>
        <p:nvSpPr>
          <p:cNvPr id="5" name="Shape 2"/>
          <p:cNvSpPr/>
          <p:nvPr/>
        </p:nvSpPr>
        <p:spPr>
          <a:xfrm>
            <a:off x="548640" y="1828800"/>
            <a:ext cx="5120640" cy="4343400"/>
          </a:xfrm>
          <a:prstGeom prst="roundRect">
            <a:avLst>
              <a:gd name="adj" fmla="val 2526"/>
            </a:avLst>
          </a:prstGeom>
          <a:solidFill>
            <a:srgbClr val="211D19"/>
          </a:solidFill>
          <a:ln w="12700">
            <a:solidFill>
              <a:srgbClr val="211D19"/>
            </a:solidFill>
            <a:prstDash val="solid"/>
          </a:ln>
        </p:spPr>
      </p:sp>
      <p:sp>
        <p:nvSpPr>
          <p:cNvPr id="6" name="Shape 3"/>
          <p:cNvSpPr/>
          <p:nvPr/>
        </p:nvSpPr>
        <p:spPr>
          <a:xfrm>
            <a:off x="822960" y="2103120"/>
            <a:ext cx="640080" cy="640080"/>
          </a:xfrm>
          <a:prstGeom prst="ellipse">
            <a:avLst/>
          </a:prstGeom>
          <a:solidFill>
            <a:srgbClr val="D4AF37"/>
          </a:solidFill>
          <a:ln w="12700">
            <a:solidFill>
              <a:srgbClr val="D4AF37"/>
            </a:solidFill>
            <a:prstDash val="solid"/>
          </a:ln>
        </p:spPr>
      </p:sp>
      <p:pic>
        <p:nvPicPr>
          <p:cNvPr id="7" name="Image 0" descr="preencoded.png">    </p:cNvPr>
          <p:cNvPicPr>
            <a:picLocks noChangeAspect="1"/>
          </p:cNvPicPr>
          <p:nvPr/>
        </p:nvPicPr>
        <p:blipFill>
          <a:blip r:embed="rId1"/>
          <a:stretch>
            <a:fillRect/>
          </a:stretch>
        </p:blipFill>
        <p:spPr>
          <a:xfrm>
            <a:off x="995782" y="2275942"/>
            <a:ext cx="294437" cy="294437"/>
          </a:xfrm>
          <a:prstGeom prst="rect">
            <a:avLst/>
          </a:prstGeom>
        </p:spPr>
      </p:pic>
      <p:sp>
        <p:nvSpPr>
          <p:cNvPr id="8" name="Text 4"/>
          <p:cNvSpPr txBox="1"/>
          <p:nvPr/>
        </p:nvSpPr>
        <p:spPr>
          <a:xfrm>
            <a:off x="822960" y="2880360"/>
            <a:ext cx="4572000"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Cheap enough to open</a:t>
            </a:r>
            <a:endParaRPr lang="en-US" sz="2000" dirty="0"/>
          </a:p>
        </p:txBody>
      </p:sp>
      <p:sp>
        <p:nvSpPr>
          <p:cNvPr id="9" name="Text 5"/>
          <p:cNvSpPr txBox="1"/>
          <p:nvPr/>
        </p:nvSpPr>
        <p:spPr>
          <a:xfrm>
            <a:off x="822960" y="3337560"/>
            <a:ext cx="4572000" cy="27432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About $30 delivered. Less than the club spends on coffee.</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Sold everywhere, so a club build night could order five identical radios.</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Very easy to open: two screws and a pry at one edge.</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The MCU is fully documented by the community, so firmware authors can drive the hardware directly.</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If someone destroys one, the club is out $30 and up one member who has seen the inside of a radio.</a:t>
            </a:r>
            <a:endParaRPr lang="en-US" sz="1400" dirty="0"/>
          </a:p>
        </p:txBody>
      </p:sp>
      <p:sp>
        <p:nvSpPr>
          <p:cNvPr id="10" name="Text 6"/>
          <p:cNvSpPr txBox="1"/>
          <p:nvPr/>
        </p:nvSpPr>
        <p:spPr>
          <a:xfrm>
            <a:off x="6309360" y="1828800"/>
            <a:ext cx="5333695"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The firmware lineage</a:t>
            </a:r>
            <a:endParaRPr lang="en-US" sz="2000" dirty="0"/>
          </a:p>
        </p:txBody>
      </p:sp>
      <p:sp>
        <p:nvSpPr>
          <p:cNvPr id="11" name="Shape 7"/>
          <p:cNvSpPr/>
          <p:nvPr/>
        </p:nvSpPr>
        <p:spPr>
          <a:xfrm>
            <a:off x="6537960" y="2788920"/>
            <a:ext cx="0" cy="548640"/>
          </a:xfrm>
          <a:prstGeom prst="line">
            <a:avLst/>
          </a:prstGeom>
          <a:noFill/>
          <a:ln w="25400">
            <a:solidFill>
              <a:srgbClr val="D4AF37"/>
            </a:solidFill>
            <a:prstDash val="solid"/>
          </a:ln>
        </p:spPr>
      </p:sp>
      <p:sp>
        <p:nvSpPr>
          <p:cNvPr id="12" name="Shape 8"/>
          <p:cNvSpPr/>
          <p:nvPr/>
        </p:nvSpPr>
        <p:spPr>
          <a:xfrm>
            <a:off x="6309360" y="2331720"/>
            <a:ext cx="457200" cy="457200"/>
          </a:xfrm>
          <a:prstGeom prst="ellipse">
            <a:avLst/>
          </a:prstGeom>
          <a:solidFill>
            <a:srgbClr val="D4AF37"/>
          </a:solidFill>
          <a:ln w="12700">
            <a:solidFill>
              <a:srgbClr val="D4AF37"/>
            </a:solidFill>
            <a:prstDash val="solid"/>
          </a:ln>
        </p:spPr>
      </p:sp>
      <p:sp>
        <p:nvSpPr>
          <p:cNvPr id="13" name="Text 9"/>
          <p:cNvSpPr txBox="1"/>
          <p:nvPr/>
        </p:nvSpPr>
        <p:spPr>
          <a:xfrm>
            <a:off x="6309360" y="2331720"/>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1</a:t>
            </a:r>
            <a:endParaRPr lang="en-US" sz="1600" dirty="0"/>
          </a:p>
        </p:txBody>
      </p:sp>
      <p:sp>
        <p:nvSpPr>
          <p:cNvPr id="14" name="Text 10"/>
          <p:cNvSpPr txBox="1"/>
          <p:nvPr/>
        </p:nvSpPr>
        <p:spPr>
          <a:xfrm>
            <a:off x="6949440" y="2304288"/>
            <a:ext cx="4693615" cy="36576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DualTachyon</a:t>
            </a:r>
            <a:endParaRPr lang="en-US" sz="1600" dirty="0"/>
          </a:p>
        </p:txBody>
      </p:sp>
      <p:sp>
        <p:nvSpPr>
          <p:cNvPr id="15" name="Text 11"/>
          <p:cNvSpPr txBox="1"/>
          <p:nvPr/>
        </p:nvSpPr>
        <p:spPr>
          <a:xfrm>
            <a:off x="6949440" y="2633472"/>
            <a:ext cx="4693615" cy="64008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First open-source firmware for the original UV-K5. Paved the way.</a:t>
            </a:r>
            <a:endParaRPr lang="en-US" sz="1300" dirty="0"/>
          </a:p>
        </p:txBody>
      </p:sp>
      <p:sp>
        <p:nvSpPr>
          <p:cNvPr id="16" name="Shape 12"/>
          <p:cNvSpPr/>
          <p:nvPr/>
        </p:nvSpPr>
        <p:spPr>
          <a:xfrm>
            <a:off x="6537960" y="3776472"/>
            <a:ext cx="0" cy="548640"/>
          </a:xfrm>
          <a:prstGeom prst="line">
            <a:avLst/>
          </a:prstGeom>
          <a:noFill/>
          <a:ln w="25400">
            <a:solidFill>
              <a:srgbClr val="D4AF37"/>
            </a:solidFill>
            <a:prstDash val="solid"/>
          </a:ln>
        </p:spPr>
      </p:sp>
      <p:sp>
        <p:nvSpPr>
          <p:cNvPr id="17" name="Shape 13"/>
          <p:cNvSpPr/>
          <p:nvPr/>
        </p:nvSpPr>
        <p:spPr>
          <a:xfrm>
            <a:off x="6309360" y="3319272"/>
            <a:ext cx="457200" cy="457200"/>
          </a:xfrm>
          <a:prstGeom prst="ellipse">
            <a:avLst/>
          </a:prstGeom>
          <a:solidFill>
            <a:srgbClr val="D4AF37"/>
          </a:solidFill>
          <a:ln w="12700">
            <a:solidFill>
              <a:srgbClr val="D4AF37"/>
            </a:solidFill>
            <a:prstDash val="solid"/>
          </a:ln>
        </p:spPr>
      </p:sp>
      <p:sp>
        <p:nvSpPr>
          <p:cNvPr id="18" name="Text 14"/>
          <p:cNvSpPr txBox="1"/>
          <p:nvPr/>
        </p:nvSpPr>
        <p:spPr>
          <a:xfrm>
            <a:off x="6309360" y="3319272"/>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2</a:t>
            </a:r>
            <a:endParaRPr lang="en-US" sz="1600" dirty="0"/>
          </a:p>
        </p:txBody>
      </p:sp>
      <p:sp>
        <p:nvSpPr>
          <p:cNvPr id="19" name="Text 15"/>
          <p:cNvSpPr txBox="1"/>
          <p:nvPr/>
        </p:nvSpPr>
        <p:spPr>
          <a:xfrm>
            <a:off x="6949440" y="3291840"/>
            <a:ext cx="4693615" cy="36576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egzumer</a:t>
            </a:r>
            <a:endParaRPr lang="en-US" sz="1600" dirty="0"/>
          </a:p>
        </p:txBody>
      </p:sp>
      <p:sp>
        <p:nvSpPr>
          <p:cNvPr id="20" name="Text 16"/>
          <p:cNvSpPr txBox="1"/>
          <p:nvPr/>
        </p:nvSpPr>
        <p:spPr>
          <a:xfrm>
            <a:off x="6949440" y="3621024"/>
            <a:ext cx="4693615" cy="64008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The feature-rich custom firmware for the v1 radios.</a:t>
            </a:r>
            <a:endParaRPr lang="en-US" sz="1300" dirty="0"/>
          </a:p>
        </p:txBody>
      </p:sp>
      <p:sp>
        <p:nvSpPr>
          <p:cNvPr id="21" name="Shape 17"/>
          <p:cNvSpPr/>
          <p:nvPr/>
        </p:nvSpPr>
        <p:spPr>
          <a:xfrm>
            <a:off x="6537960" y="4764024"/>
            <a:ext cx="0" cy="548640"/>
          </a:xfrm>
          <a:prstGeom prst="line">
            <a:avLst/>
          </a:prstGeom>
          <a:noFill/>
          <a:ln w="25400">
            <a:solidFill>
              <a:srgbClr val="D4AF37"/>
            </a:solidFill>
            <a:prstDash val="solid"/>
          </a:ln>
        </p:spPr>
      </p:sp>
      <p:sp>
        <p:nvSpPr>
          <p:cNvPr id="22" name="Shape 18"/>
          <p:cNvSpPr/>
          <p:nvPr/>
        </p:nvSpPr>
        <p:spPr>
          <a:xfrm>
            <a:off x="6309360" y="4306824"/>
            <a:ext cx="457200" cy="457200"/>
          </a:xfrm>
          <a:prstGeom prst="ellipse">
            <a:avLst/>
          </a:prstGeom>
          <a:solidFill>
            <a:srgbClr val="D4AF37"/>
          </a:solidFill>
          <a:ln w="12700">
            <a:solidFill>
              <a:srgbClr val="D4AF37"/>
            </a:solidFill>
            <a:prstDash val="solid"/>
          </a:ln>
        </p:spPr>
      </p:sp>
      <p:sp>
        <p:nvSpPr>
          <p:cNvPr id="23" name="Text 19"/>
          <p:cNvSpPr txBox="1"/>
          <p:nvPr/>
        </p:nvSpPr>
        <p:spPr>
          <a:xfrm>
            <a:off x="6309360" y="4306824"/>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3</a:t>
            </a:r>
            <a:endParaRPr lang="en-US" sz="1600" dirty="0"/>
          </a:p>
        </p:txBody>
      </p:sp>
      <p:sp>
        <p:nvSpPr>
          <p:cNvPr id="24" name="Text 20"/>
          <p:cNvSpPr txBox="1"/>
          <p:nvPr/>
        </p:nvSpPr>
        <p:spPr>
          <a:xfrm>
            <a:off x="6949440" y="4279392"/>
            <a:ext cx="4693615" cy="36576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F4HWN "Fusion" (armel + muzkr)</a:t>
            </a:r>
            <a:endParaRPr lang="en-US" sz="1600" dirty="0"/>
          </a:p>
        </p:txBody>
      </p:sp>
      <p:sp>
        <p:nvSpPr>
          <p:cNvPr id="25" name="Text 21"/>
          <p:cNvSpPr txBox="1"/>
          <p:nvPr/>
        </p:nvSpPr>
        <p:spPr>
          <a:xfrm>
            <a:off x="6949440" y="4608576"/>
            <a:ext cx="4693615" cy="64008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Port to the UV-K5 v3 and UV-K1 with the newer PY32F071 MCU.</a:t>
            </a:r>
            <a:endParaRPr lang="en-US" sz="1300" dirty="0"/>
          </a:p>
        </p:txBody>
      </p:sp>
      <p:sp>
        <p:nvSpPr>
          <p:cNvPr id="26" name="Shape 22"/>
          <p:cNvSpPr/>
          <p:nvPr/>
        </p:nvSpPr>
        <p:spPr>
          <a:xfrm>
            <a:off x="6309360" y="5294376"/>
            <a:ext cx="457200" cy="457200"/>
          </a:xfrm>
          <a:prstGeom prst="ellipse">
            <a:avLst/>
          </a:prstGeom>
          <a:solidFill>
            <a:srgbClr val="D4AF37"/>
          </a:solidFill>
          <a:ln w="12700">
            <a:solidFill>
              <a:srgbClr val="D4AF37"/>
            </a:solidFill>
            <a:prstDash val="solid"/>
          </a:ln>
        </p:spPr>
      </p:sp>
      <p:sp>
        <p:nvSpPr>
          <p:cNvPr id="27" name="Text 23"/>
          <p:cNvSpPr txBox="1"/>
          <p:nvPr/>
        </p:nvSpPr>
        <p:spPr>
          <a:xfrm>
            <a:off x="6309360" y="5294376"/>
            <a:ext cx="457200" cy="457200"/>
          </a:xfrm>
          <a:prstGeom prst="rect">
            <a:avLst/>
          </a:prstGeom>
          <a:noFill/>
          <a:ln/>
        </p:spPr>
        <p:txBody>
          <a:bodyPr wrap="square" lIns="0" tIns="0" rIns="0" bIns="0" rtlCol="0" anchor="ctr"/>
          <a:lstStyle/>
          <a:p>
            <a:pPr algn="ctr" indent="0" marL="0">
              <a:buNone/>
            </a:pPr>
            <a:r>
              <a:rPr lang="en-US" sz="1600" b="1" dirty="0">
                <a:solidFill>
                  <a:srgbClr val="141210"/>
                </a:solidFill>
                <a:latin typeface="Cambria" pitchFamily="34" charset="0"/>
                <a:ea typeface="Cambria" pitchFamily="34" charset="-122"/>
                <a:cs typeface="Cambria" pitchFamily="34" charset="-120"/>
              </a:rPr>
              <a:t>4</a:t>
            </a:r>
            <a:endParaRPr lang="en-US" sz="1600" dirty="0"/>
          </a:p>
        </p:txBody>
      </p:sp>
      <p:sp>
        <p:nvSpPr>
          <p:cNvPr id="28" name="Text 24"/>
          <p:cNvSpPr txBox="1"/>
          <p:nvPr/>
        </p:nvSpPr>
        <p:spPr>
          <a:xfrm>
            <a:off x="6949440" y="5266944"/>
            <a:ext cx="4693615" cy="36576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NR7Y CW mod</a:t>
            </a:r>
            <a:endParaRPr lang="en-US" sz="1600" dirty="0"/>
          </a:p>
        </p:txBody>
      </p:sp>
      <p:sp>
        <p:nvSpPr>
          <p:cNvPr id="29" name="Text 25"/>
          <p:cNvSpPr txBox="1"/>
          <p:nvPr/>
        </p:nvSpPr>
        <p:spPr>
          <a:xfrm>
            <a:off x="6949440" y="5596128"/>
            <a:ext cx="4693615" cy="64008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Real CW keying, iambic keyer, messages and practice mode layered on Fusion. Apache 2.0.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Which radio? Buy the K1.</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Three hardware families, two firmware families. Loading the wrong one means a reflash at best.</a:t>
            </a:r>
            <a:endParaRPr lang="en-US" sz="1600" dirty="0"/>
          </a:p>
        </p:txBody>
      </p:sp>
      <p:sp>
        <p:nvSpPr>
          <p:cNvPr id="5" name="Shape 2"/>
          <p:cNvSpPr/>
          <p:nvPr/>
        </p:nvSpPr>
        <p:spPr>
          <a:xfrm>
            <a:off x="548640" y="1828800"/>
            <a:ext cx="3515258" cy="2926080"/>
          </a:xfrm>
          <a:prstGeom prst="roundRect">
            <a:avLst>
              <a:gd name="adj" fmla="val 3750"/>
            </a:avLst>
          </a:prstGeom>
          <a:solidFill>
            <a:srgbClr val="211D19"/>
          </a:solidFill>
          <a:ln w="12700">
            <a:solidFill>
              <a:srgbClr val="211D19"/>
            </a:solidFill>
            <a:prstDash val="solid"/>
          </a:ln>
        </p:spPr>
      </p:sp>
      <p:sp>
        <p:nvSpPr>
          <p:cNvPr id="6" name="Text 3"/>
          <p:cNvSpPr txBox="1"/>
          <p:nvPr/>
        </p:nvSpPr>
        <p:spPr>
          <a:xfrm>
            <a:off x="822960" y="2011680"/>
            <a:ext cx="2966618" cy="365760"/>
          </a:xfrm>
          <a:prstGeom prst="rect">
            <a:avLst/>
          </a:prstGeom>
          <a:noFill/>
          <a:ln/>
        </p:spPr>
        <p:txBody>
          <a:bodyPr wrap="square" lIns="0" tIns="0" rIns="0" bIns="0" rtlCol="0" anchor="ctr"/>
          <a:lstStyle/>
          <a:p>
            <a:pPr indent="0" marL="0">
              <a:buNone/>
            </a:pPr>
            <a:r>
              <a:rPr lang="en-US" sz="1900" b="1" dirty="0">
                <a:solidFill>
                  <a:srgbClr val="D4AF37"/>
                </a:solidFill>
                <a:latin typeface="Cambria" pitchFamily="34" charset="0"/>
                <a:ea typeface="Cambria" pitchFamily="34" charset="-122"/>
                <a:cs typeface="Cambria" pitchFamily="34" charset="-120"/>
              </a:rPr>
              <a:t>UV-K5 v1 (original)</a:t>
            </a:r>
            <a:endParaRPr lang="en-US" sz="1900" dirty="0"/>
          </a:p>
        </p:txBody>
      </p:sp>
      <p:sp>
        <p:nvSpPr>
          <p:cNvPr id="7" name="Text 4"/>
          <p:cNvSpPr txBox="1"/>
          <p:nvPr/>
        </p:nvSpPr>
        <p:spPr>
          <a:xfrm>
            <a:off x="822960" y="2514600"/>
            <a:ext cx="2966618" cy="24688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Also sold as K5, K5(8), K5(99), K6.</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All the colored and clear cases are v1.</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Board marked V1.x, DP32G030 MCU.</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Needs the separate v1 CW firmware.</a:t>
            </a:r>
            <a:endParaRPr lang="en-US" sz="1400" dirty="0"/>
          </a:p>
        </p:txBody>
      </p:sp>
      <p:sp>
        <p:nvSpPr>
          <p:cNvPr id="8" name="Shape 5"/>
          <p:cNvSpPr/>
          <p:nvPr/>
        </p:nvSpPr>
        <p:spPr>
          <a:xfrm>
            <a:off x="4338218" y="1828800"/>
            <a:ext cx="3515258" cy="2926080"/>
          </a:xfrm>
          <a:prstGeom prst="roundRect">
            <a:avLst>
              <a:gd name="adj" fmla="val 3750"/>
            </a:avLst>
          </a:prstGeom>
          <a:solidFill>
            <a:srgbClr val="211D19"/>
          </a:solidFill>
          <a:ln w="12700">
            <a:solidFill>
              <a:srgbClr val="211D19"/>
            </a:solidFill>
            <a:prstDash val="solid"/>
          </a:ln>
        </p:spPr>
      </p:sp>
      <p:sp>
        <p:nvSpPr>
          <p:cNvPr id="9" name="Text 6"/>
          <p:cNvSpPr txBox="1"/>
          <p:nvPr/>
        </p:nvSpPr>
        <p:spPr>
          <a:xfrm>
            <a:off x="4612538" y="2011680"/>
            <a:ext cx="2966618" cy="365760"/>
          </a:xfrm>
          <a:prstGeom prst="rect">
            <a:avLst/>
          </a:prstGeom>
          <a:noFill/>
          <a:ln/>
        </p:spPr>
        <p:txBody>
          <a:bodyPr wrap="square" lIns="0" tIns="0" rIns="0" bIns="0" rtlCol="0" anchor="ctr"/>
          <a:lstStyle/>
          <a:p>
            <a:pPr indent="0" marL="0">
              <a:buNone/>
            </a:pPr>
            <a:r>
              <a:rPr lang="en-US" sz="1900" b="1" dirty="0">
                <a:solidFill>
                  <a:srgbClr val="D4AF37"/>
                </a:solidFill>
                <a:latin typeface="Cambria" pitchFamily="34" charset="0"/>
                <a:ea typeface="Cambria" pitchFamily="34" charset="-122"/>
                <a:cs typeface="Cambria" pitchFamily="34" charset="-120"/>
              </a:rPr>
              <a:t>UV-K5 v3</a:t>
            </a:r>
            <a:endParaRPr lang="en-US" sz="1900" dirty="0"/>
          </a:p>
        </p:txBody>
      </p:sp>
      <p:sp>
        <p:nvSpPr>
          <p:cNvPr id="10" name="Text 7"/>
          <p:cNvSpPr txBox="1"/>
          <p:nvPr/>
        </p:nvSpPr>
        <p:spPr>
          <a:xfrm>
            <a:off x="4612538" y="2514600"/>
            <a:ext cx="2966618" cy="24688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Looks identical to the v1 from outside.</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Label behind the battery says V3.</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Board marked V2.x, PY32F071 MCU.</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Same firmware as the K1.</a:t>
            </a:r>
            <a:endParaRPr lang="en-US" sz="1400" dirty="0"/>
          </a:p>
        </p:txBody>
      </p:sp>
      <p:sp>
        <p:nvSpPr>
          <p:cNvPr id="11" name="Shape 8"/>
          <p:cNvSpPr/>
          <p:nvPr/>
        </p:nvSpPr>
        <p:spPr>
          <a:xfrm>
            <a:off x="8127797" y="1828800"/>
            <a:ext cx="3515258" cy="2926080"/>
          </a:xfrm>
          <a:prstGeom prst="roundRect">
            <a:avLst>
              <a:gd name="adj" fmla="val 3750"/>
            </a:avLst>
          </a:prstGeom>
          <a:solidFill>
            <a:srgbClr val="2A2520"/>
          </a:solidFill>
          <a:ln w="12700">
            <a:solidFill>
              <a:srgbClr val="2A2520"/>
            </a:solidFill>
            <a:prstDash val="solid"/>
          </a:ln>
        </p:spPr>
      </p:sp>
      <p:sp>
        <p:nvSpPr>
          <p:cNvPr id="12" name="Text 9"/>
          <p:cNvSpPr txBox="1"/>
          <p:nvPr/>
        </p:nvSpPr>
        <p:spPr>
          <a:xfrm>
            <a:off x="8402117" y="2011680"/>
            <a:ext cx="2966618" cy="365760"/>
          </a:xfrm>
          <a:prstGeom prst="rect">
            <a:avLst/>
          </a:prstGeom>
          <a:noFill/>
          <a:ln/>
        </p:spPr>
        <p:txBody>
          <a:bodyPr wrap="square" lIns="0" tIns="0" rIns="0" bIns="0" rtlCol="0" anchor="ctr"/>
          <a:lstStyle/>
          <a:p>
            <a:pPr indent="0" marL="0">
              <a:buNone/>
            </a:pPr>
            <a:r>
              <a:rPr lang="en-US" sz="1900" b="1" dirty="0">
                <a:solidFill>
                  <a:srgbClr val="F0D27A"/>
                </a:solidFill>
                <a:latin typeface="Cambria" pitchFamily="34" charset="0"/>
                <a:ea typeface="Cambria" pitchFamily="34" charset="-122"/>
                <a:cs typeface="Cambria" pitchFamily="34" charset="-120"/>
              </a:rPr>
              <a:t>UV-K1  (recommended)</a:t>
            </a:r>
            <a:endParaRPr lang="en-US" sz="1900" dirty="0"/>
          </a:p>
        </p:txBody>
      </p:sp>
      <p:sp>
        <p:nvSpPr>
          <p:cNvPr id="13" name="Text 10"/>
          <p:cNvSpPr txBox="1"/>
          <p:nvPr/>
        </p:nvSpPr>
        <p:spPr>
          <a:xfrm>
            <a:off x="8402117" y="2514600"/>
            <a:ext cx="2966618" cy="24688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One known target. Order five, get five identical radios.</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With or without the chin, same internals.</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PY32F071 MCU, same firmware as v3.</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Cleanest rework of the three.</a:t>
            </a:r>
            <a:endParaRPr lang="en-US" sz="1400" dirty="0"/>
          </a:p>
        </p:txBody>
      </p:sp>
      <p:sp>
        <p:nvSpPr>
          <p:cNvPr id="14" name="Shape 11"/>
          <p:cNvSpPr/>
          <p:nvPr/>
        </p:nvSpPr>
        <p:spPr>
          <a:xfrm>
            <a:off x="548640" y="5029200"/>
            <a:ext cx="11094415" cy="960120"/>
          </a:xfrm>
          <a:prstGeom prst="roundRect">
            <a:avLst>
              <a:gd name="adj" fmla="val 11429"/>
            </a:avLst>
          </a:prstGeom>
          <a:solidFill>
            <a:srgbClr val="2A2520"/>
          </a:solidFill>
          <a:ln w="12700">
            <a:solidFill>
              <a:srgbClr val="2A2520"/>
            </a:solidFill>
            <a:prstDash val="solid"/>
          </a:ln>
        </p:spPr>
      </p:sp>
      <p:sp>
        <p:nvSpPr>
          <p:cNvPr id="15" name="Shape 12"/>
          <p:cNvSpPr/>
          <p:nvPr/>
        </p:nvSpPr>
        <p:spPr>
          <a:xfrm>
            <a:off x="777240" y="5230368"/>
            <a:ext cx="548640" cy="548640"/>
          </a:xfrm>
          <a:prstGeom prst="ellipse">
            <a:avLst/>
          </a:prstGeom>
          <a:solidFill>
            <a:srgbClr val="D4AF37"/>
          </a:solidFill>
          <a:ln w="12700">
            <a:solidFill>
              <a:srgbClr val="D4AF37"/>
            </a:solidFill>
            <a:prstDash val="solid"/>
          </a:ln>
        </p:spPr>
      </p:sp>
      <p:pic>
        <p:nvPicPr>
          <p:cNvPr id="16" name="Image 0" descr="preencoded.png">    </p:cNvPr>
          <p:cNvPicPr>
            <a:picLocks noChangeAspect="1"/>
          </p:cNvPicPr>
          <p:nvPr/>
        </p:nvPicPr>
        <p:blipFill>
          <a:blip r:embed="rId1"/>
          <a:stretch>
            <a:fillRect/>
          </a:stretch>
        </p:blipFill>
        <p:spPr>
          <a:xfrm>
            <a:off x="925373" y="5378501"/>
            <a:ext cx="252374" cy="252374"/>
          </a:xfrm>
          <a:prstGeom prst="rect">
            <a:avLst/>
          </a:prstGeom>
        </p:spPr>
      </p:pic>
      <p:sp>
        <p:nvSpPr>
          <p:cNvPr id="17" name="Text 13"/>
          <p:cNvSpPr txBox="1"/>
          <p:nvPr/>
        </p:nvSpPr>
        <p:spPr>
          <a:xfrm>
            <a:off x="1508760" y="5166360"/>
            <a:ext cx="9905695" cy="731520"/>
          </a:xfrm>
          <a:prstGeom prst="rect">
            <a:avLst/>
          </a:prstGeom>
          <a:noFill/>
          <a:ln/>
        </p:spPr>
        <p:txBody>
          <a:bodyPr wrap="square" lIns="0" tIns="0" rIns="0" bIns="0" rtlCol="0" anchor="ctr"/>
          <a:lstStyle/>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The mystery "v2": label says V3, board is silkscreened V1.8, and the MCU is different. It runs neither firmware. Rare, but it exists. Pull the battery and read the label before you order a cable.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What the CW firmware gives you</a:t>
            </a:r>
            <a:endParaRPr lang="en-US" sz="3600" dirty="0"/>
          </a:p>
        </p:txBody>
      </p:sp>
      <p:sp>
        <p:nvSpPr>
          <p:cNvPr id="4" name="Shape 1"/>
          <p:cNvSpPr/>
          <p:nvPr/>
        </p:nvSpPr>
        <p:spPr>
          <a:xfrm>
            <a:off x="548640" y="1417320"/>
            <a:ext cx="2567864" cy="2240280"/>
          </a:xfrm>
          <a:prstGeom prst="roundRect">
            <a:avLst>
              <a:gd name="adj" fmla="val 4898"/>
            </a:avLst>
          </a:prstGeom>
          <a:solidFill>
            <a:srgbClr val="211D19"/>
          </a:solidFill>
          <a:ln w="12700">
            <a:solidFill>
              <a:srgbClr val="211D19"/>
            </a:solidFill>
            <a:prstDash val="solid"/>
          </a:ln>
        </p:spPr>
      </p:sp>
      <p:sp>
        <p:nvSpPr>
          <p:cNvPr id="5" name="Shape 2"/>
          <p:cNvSpPr/>
          <p:nvPr/>
        </p:nvSpPr>
        <p:spPr>
          <a:xfrm>
            <a:off x="777240" y="1645920"/>
            <a:ext cx="502920" cy="502920"/>
          </a:xfrm>
          <a:prstGeom prst="ellipse">
            <a:avLst/>
          </a:prstGeom>
          <a:solidFill>
            <a:srgbClr val="D4AF37"/>
          </a:solidFill>
          <a:ln w="12700">
            <a:solidFill>
              <a:srgbClr val="D4AF37"/>
            </a:solidFill>
            <a:prstDash val="solid"/>
          </a:ln>
        </p:spPr>
      </p:sp>
      <p:pic>
        <p:nvPicPr>
          <p:cNvPr id="6" name="Image 0" descr="preencoded.png">    </p:cNvPr>
          <p:cNvPicPr>
            <a:picLocks noChangeAspect="1"/>
          </p:cNvPicPr>
          <p:nvPr/>
        </p:nvPicPr>
        <p:blipFill>
          <a:blip r:embed="rId1"/>
          <a:stretch>
            <a:fillRect/>
          </a:stretch>
        </p:blipFill>
        <p:spPr>
          <a:xfrm>
            <a:off x="913028" y="1781708"/>
            <a:ext cx="231343" cy="231343"/>
          </a:xfrm>
          <a:prstGeom prst="rect">
            <a:avLst/>
          </a:prstGeom>
        </p:spPr>
      </p:pic>
      <p:sp>
        <p:nvSpPr>
          <p:cNvPr id="7" name="Text 3"/>
          <p:cNvSpPr txBox="1"/>
          <p:nvPr/>
        </p:nvSpPr>
        <p:spPr>
          <a:xfrm>
            <a:off x="1417320" y="1645920"/>
            <a:ext cx="1516304"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True CW keying</a:t>
            </a:r>
            <a:endParaRPr lang="en-US" sz="1500" dirty="0"/>
          </a:p>
        </p:txBody>
      </p:sp>
      <p:sp>
        <p:nvSpPr>
          <p:cNvPr id="8" name="Text 4"/>
          <p:cNvSpPr txBox="1"/>
          <p:nvPr/>
        </p:nvSpPr>
        <p:spPr>
          <a:xfrm>
            <a:off x="777240" y="2286000"/>
            <a:ext cx="2110664" cy="123444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Carrier keyed on and off with fast RX/TX switching and full break-in. Not a tone into an FM mic.</a:t>
            </a:r>
            <a:endParaRPr lang="en-US" sz="1250" dirty="0"/>
          </a:p>
        </p:txBody>
      </p:sp>
      <p:sp>
        <p:nvSpPr>
          <p:cNvPr id="9" name="Shape 5"/>
          <p:cNvSpPr/>
          <p:nvPr/>
        </p:nvSpPr>
        <p:spPr>
          <a:xfrm>
            <a:off x="3390824" y="1417320"/>
            <a:ext cx="2567864" cy="2240280"/>
          </a:xfrm>
          <a:prstGeom prst="roundRect">
            <a:avLst>
              <a:gd name="adj" fmla="val 4898"/>
            </a:avLst>
          </a:prstGeom>
          <a:solidFill>
            <a:srgbClr val="211D19"/>
          </a:solidFill>
          <a:ln w="12700">
            <a:solidFill>
              <a:srgbClr val="211D19"/>
            </a:solidFill>
            <a:prstDash val="solid"/>
          </a:ln>
        </p:spPr>
      </p:sp>
      <p:sp>
        <p:nvSpPr>
          <p:cNvPr id="10" name="Shape 6"/>
          <p:cNvSpPr/>
          <p:nvPr/>
        </p:nvSpPr>
        <p:spPr>
          <a:xfrm>
            <a:off x="3619424" y="1645920"/>
            <a:ext cx="502920" cy="502920"/>
          </a:xfrm>
          <a:prstGeom prst="ellipse">
            <a:avLst/>
          </a:prstGeom>
          <a:solidFill>
            <a:srgbClr val="D4AF37"/>
          </a:solidFill>
          <a:ln w="12700">
            <a:solidFill>
              <a:srgbClr val="D4AF37"/>
            </a:solidFill>
            <a:prstDash val="solid"/>
          </a:ln>
        </p:spPr>
      </p:sp>
      <p:pic>
        <p:nvPicPr>
          <p:cNvPr id="11" name="Image 1" descr="preencoded.png">    </p:cNvPr>
          <p:cNvPicPr>
            <a:picLocks noChangeAspect="1"/>
          </p:cNvPicPr>
          <p:nvPr/>
        </p:nvPicPr>
        <p:blipFill>
          <a:blip r:embed="rId2"/>
          <a:stretch>
            <a:fillRect/>
          </a:stretch>
        </p:blipFill>
        <p:spPr>
          <a:xfrm>
            <a:off x="3755212" y="1781708"/>
            <a:ext cx="231343" cy="231343"/>
          </a:xfrm>
          <a:prstGeom prst="rect">
            <a:avLst/>
          </a:prstGeom>
        </p:spPr>
      </p:pic>
      <p:sp>
        <p:nvSpPr>
          <p:cNvPr id="12" name="Text 7"/>
          <p:cNvSpPr txBox="1"/>
          <p:nvPr/>
        </p:nvSpPr>
        <p:spPr>
          <a:xfrm>
            <a:off x="4259504" y="1645920"/>
            <a:ext cx="1516304"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Iambic keyer</a:t>
            </a:r>
            <a:endParaRPr lang="en-US" sz="1500" dirty="0"/>
          </a:p>
        </p:txBody>
      </p:sp>
      <p:sp>
        <p:nvSpPr>
          <p:cNvPr id="13" name="Text 8"/>
          <p:cNvSpPr txBox="1"/>
          <p:nvPr/>
        </p:nvSpPr>
        <p:spPr>
          <a:xfrm>
            <a:off x="3619424" y="2286000"/>
            <a:ext cx="2110664" cy="123444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Modes A, B, Ultimatic and Bug. 10 to 45 WPM. Any paddle, straight key, or even PTT and the side button.</a:t>
            </a:r>
            <a:endParaRPr lang="en-US" sz="1250" dirty="0"/>
          </a:p>
        </p:txBody>
      </p:sp>
      <p:sp>
        <p:nvSpPr>
          <p:cNvPr id="14" name="Shape 9"/>
          <p:cNvSpPr/>
          <p:nvPr/>
        </p:nvSpPr>
        <p:spPr>
          <a:xfrm>
            <a:off x="6233008" y="1417320"/>
            <a:ext cx="2567864" cy="2240280"/>
          </a:xfrm>
          <a:prstGeom prst="roundRect">
            <a:avLst>
              <a:gd name="adj" fmla="val 4898"/>
            </a:avLst>
          </a:prstGeom>
          <a:solidFill>
            <a:srgbClr val="211D19"/>
          </a:solidFill>
          <a:ln w="12700">
            <a:solidFill>
              <a:srgbClr val="211D19"/>
            </a:solidFill>
            <a:prstDash val="solid"/>
          </a:ln>
        </p:spPr>
      </p:sp>
      <p:sp>
        <p:nvSpPr>
          <p:cNvPr id="15" name="Shape 10"/>
          <p:cNvSpPr/>
          <p:nvPr/>
        </p:nvSpPr>
        <p:spPr>
          <a:xfrm>
            <a:off x="6461608" y="1645920"/>
            <a:ext cx="502920" cy="502920"/>
          </a:xfrm>
          <a:prstGeom prst="ellipse">
            <a:avLst/>
          </a:prstGeom>
          <a:solidFill>
            <a:srgbClr val="D4AF37"/>
          </a:solidFill>
          <a:ln w="12700">
            <a:solidFill>
              <a:srgbClr val="D4AF37"/>
            </a:solidFill>
            <a:prstDash val="solid"/>
          </a:ln>
        </p:spPr>
      </p:sp>
      <p:pic>
        <p:nvPicPr>
          <p:cNvPr id="16" name="Image 2" descr="preencoded.png">    </p:cNvPr>
          <p:cNvPicPr>
            <a:picLocks noChangeAspect="1"/>
          </p:cNvPicPr>
          <p:nvPr/>
        </p:nvPicPr>
        <p:blipFill>
          <a:blip r:embed="rId3"/>
          <a:stretch>
            <a:fillRect/>
          </a:stretch>
        </p:blipFill>
        <p:spPr>
          <a:xfrm>
            <a:off x="6597396" y="1781708"/>
            <a:ext cx="231343" cy="231343"/>
          </a:xfrm>
          <a:prstGeom prst="rect">
            <a:avLst/>
          </a:prstGeom>
        </p:spPr>
      </p:pic>
      <p:sp>
        <p:nvSpPr>
          <p:cNvPr id="17" name="Text 11"/>
          <p:cNvSpPr txBox="1"/>
          <p:nvPr/>
        </p:nvSpPr>
        <p:spPr>
          <a:xfrm>
            <a:off x="7101688" y="1645920"/>
            <a:ext cx="1516304"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Sidetone</a:t>
            </a:r>
            <a:endParaRPr lang="en-US" sz="1500" dirty="0"/>
          </a:p>
        </p:txBody>
      </p:sp>
      <p:sp>
        <p:nvSpPr>
          <p:cNvPr id="18" name="Text 12"/>
          <p:cNvSpPr txBox="1"/>
          <p:nvPr/>
        </p:nvSpPr>
        <p:spPr>
          <a:xfrm>
            <a:off x="6461608" y="2286000"/>
            <a:ext cx="2110664" cy="123444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450 to 800 Hz in 50 Hz steps, volume off through 6. The tone you hear is the tone you send.</a:t>
            </a:r>
            <a:endParaRPr lang="en-US" sz="1250" dirty="0"/>
          </a:p>
        </p:txBody>
      </p:sp>
      <p:sp>
        <p:nvSpPr>
          <p:cNvPr id="19" name="Shape 13"/>
          <p:cNvSpPr/>
          <p:nvPr/>
        </p:nvSpPr>
        <p:spPr>
          <a:xfrm>
            <a:off x="9075191" y="1417320"/>
            <a:ext cx="2567864" cy="2240280"/>
          </a:xfrm>
          <a:prstGeom prst="roundRect">
            <a:avLst>
              <a:gd name="adj" fmla="val 4898"/>
            </a:avLst>
          </a:prstGeom>
          <a:solidFill>
            <a:srgbClr val="211D19"/>
          </a:solidFill>
          <a:ln w="12700">
            <a:solidFill>
              <a:srgbClr val="211D19"/>
            </a:solidFill>
            <a:prstDash val="solid"/>
          </a:ln>
        </p:spPr>
      </p:sp>
      <p:sp>
        <p:nvSpPr>
          <p:cNvPr id="20" name="Shape 14"/>
          <p:cNvSpPr/>
          <p:nvPr/>
        </p:nvSpPr>
        <p:spPr>
          <a:xfrm>
            <a:off x="9303791" y="1645920"/>
            <a:ext cx="502920" cy="502920"/>
          </a:xfrm>
          <a:prstGeom prst="ellipse">
            <a:avLst/>
          </a:prstGeom>
          <a:solidFill>
            <a:srgbClr val="D4AF37"/>
          </a:solidFill>
          <a:ln w="12700">
            <a:solidFill>
              <a:srgbClr val="D4AF37"/>
            </a:solidFill>
            <a:prstDash val="solid"/>
          </a:ln>
        </p:spPr>
      </p:sp>
      <p:pic>
        <p:nvPicPr>
          <p:cNvPr id="21" name="Image 3" descr="preencoded.png">    </p:cNvPr>
          <p:cNvPicPr>
            <a:picLocks noChangeAspect="1"/>
          </p:cNvPicPr>
          <p:nvPr/>
        </p:nvPicPr>
        <p:blipFill>
          <a:blip r:embed="rId4"/>
          <a:stretch>
            <a:fillRect/>
          </a:stretch>
        </p:blipFill>
        <p:spPr>
          <a:xfrm>
            <a:off x="9439580" y="1781708"/>
            <a:ext cx="231343" cy="231343"/>
          </a:xfrm>
          <a:prstGeom prst="rect">
            <a:avLst/>
          </a:prstGeom>
        </p:spPr>
      </p:pic>
      <p:sp>
        <p:nvSpPr>
          <p:cNvPr id="22" name="Text 15"/>
          <p:cNvSpPr txBox="1"/>
          <p:nvPr/>
        </p:nvSpPr>
        <p:spPr>
          <a:xfrm>
            <a:off x="9943871" y="1645920"/>
            <a:ext cx="1516304"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Message memories</a:t>
            </a:r>
            <a:endParaRPr lang="en-US" sz="1500" dirty="0"/>
          </a:p>
        </p:txBody>
      </p:sp>
      <p:sp>
        <p:nvSpPr>
          <p:cNvPr id="23" name="Text 16"/>
          <p:cNvSpPr txBox="1"/>
          <p:nvPr/>
        </p:nvSpPr>
        <p:spPr>
          <a:xfrm>
            <a:off x="9303791" y="2286000"/>
            <a:ext cx="2110664" cy="123444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Four slots of 46 characters. Record by keying, then play or repeat. Map them to F1, F2 or M.</a:t>
            </a:r>
            <a:endParaRPr lang="en-US" sz="1250" dirty="0"/>
          </a:p>
        </p:txBody>
      </p:sp>
      <p:sp>
        <p:nvSpPr>
          <p:cNvPr id="24" name="Shape 17"/>
          <p:cNvSpPr/>
          <p:nvPr/>
        </p:nvSpPr>
        <p:spPr>
          <a:xfrm>
            <a:off x="548640" y="3931920"/>
            <a:ext cx="2567864" cy="2240280"/>
          </a:xfrm>
          <a:prstGeom prst="roundRect">
            <a:avLst>
              <a:gd name="adj" fmla="val 4898"/>
            </a:avLst>
          </a:prstGeom>
          <a:solidFill>
            <a:srgbClr val="211D19"/>
          </a:solidFill>
          <a:ln w="12700">
            <a:solidFill>
              <a:srgbClr val="211D19"/>
            </a:solidFill>
            <a:prstDash val="solid"/>
          </a:ln>
        </p:spPr>
      </p:sp>
      <p:sp>
        <p:nvSpPr>
          <p:cNvPr id="25" name="Shape 18"/>
          <p:cNvSpPr/>
          <p:nvPr/>
        </p:nvSpPr>
        <p:spPr>
          <a:xfrm>
            <a:off x="777240" y="4160520"/>
            <a:ext cx="502920" cy="502920"/>
          </a:xfrm>
          <a:prstGeom prst="ellipse">
            <a:avLst/>
          </a:prstGeom>
          <a:solidFill>
            <a:srgbClr val="D4AF37"/>
          </a:solidFill>
          <a:ln w="12700">
            <a:solidFill>
              <a:srgbClr val="D4AF37"/>
            </a:solidFill>
            <a:prstDash val="solid"/>
          </a:ln>
        </p:spPr>
      </p:sp>
      <p:pic>
        <p:nvPicPr>
          <p:cNvPr id="26" name="Image 4" descr="preencoded.png">    </p:cNvPr>
          <p:cNvPicPr>
            <a:picLocks noChangeAspect="1"/>
          </p:cNvPicPr>
          <p:nvPr/>
        </p:nvPicPr>
        <p:blipFill>
          <a:blip r:embed="rId5"/>
          <a:stretch>
            <a:fillRect/>
          </a:stretch>
        </p:blipFill>
        <p:spPr>
          <a:xfrm>
            <a:off x="913028" y="4296308"/>
            <a:ext cx="231343" cy="231343"/>
          </a:xfrm>
          <a:prstGeom prst="rect">
            <a:avLst/>
          </a:prstGeom>
        </p:spPr>
      </p:pic>
      <p:sp>
        <p:nvSpPr>
          <p:cNvPr id="27" name="Text 19"/>
          <p:cNvSpPr txBox="1"/>
          <p:nvPr/>
        </p:nvSpPr>
        <p:spPr>
          <a:xfrm>
            <a:off x="1417320" y="4160520"/>
            <a:ext cx="1516304"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Decoder on screen</a:t>
            </a:r>
            <a:endParaRPr lang="en-US" sz="1500" dirty="0"/>
          </a:p>
        </p:txBody>
      </p:sp>
      <p:sp>
        <p:nvSpPr>
          <p:cNvPr id="28" name="Text 20"/>
          <p:cNvSpPr txBox="1"/>
          <p:nvPr/>
        </p:nvSpPr>
        <p:spPr>
          <a:xfrm>
            <a:off x="777240" y="4800600"/>
            <a:ext cx="2110664" cy="123444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Decodes your sending and what it hears. About 19 characters scroll across the middle line.</a:t>
            </a:r>
            <a:endParaRPr lang="en-US" sz="1250" dirty="0"/>
          </a:p>
        </p:txBody>
      </p:sp>
      <p:sp>
        <p:nvSpPr>
          <p:cNvPr id="29" name="Shape 21"/>
          <p:cNvSpPr/>
          <p:nvPr/>
        </p:nvSpPr>
        <p:spPr>
          <a:xfrm>
            <a:off x="3390824" y="3931920"/>
            <a:ext cx="2567864" cy="2240280"/>
          </a:xfrm>
          <a:prstGeom prst="roundRect">
            <a:avLst>
              <a:gd name="adj" fmla="val 4898"/>
            </a:avLst>
          </a:prstGeom>
          <a:solidFill>
            <a:srgbClr val="211D19"/>
          </a:solidFill>
          <a:ln w="12700">
            <a:solidFill>
              <a:srgbClr val="211D19"/>
            </a:solidFill>
            <a:prstDash val="solid"/>
          </a:ln>
        </p:spPr>
      </p:sp>
      <p:sp>
        <p:nvSpPr>
          <p:cNvPr id="30" name="Shape 22"/>
          <p:cNvSpPr/>
          <p:nvPr/>
        </p:nvSpPr>
        <p:spPr>
          <a:xfrm>
            <a:off x="3619424" y="4160520"/>
            <a:ext cx="502920" cy="502920"/>
          </a:xfrm>
          <a:prstGeom prst="ellipse">
            <a:avLst/>
          </a:prstGeom>
          <a:solidFill>
            <a:srgbClr val="D4AF37"/>
          </a:solidFill>
          <a:ln w="12700">
            <a:solidFill>
              <a:srgbClr val="D4AF37"/>
            </a:solidFill>
            <a:prstDash val="solid"/>
          </a:ln>
        </p:spPr>
      </p:sp>
      <p:pic>
        <p:nvPicPr>
          <p:cNvPr id="31" name="Image 5" descr="preencoded.png">    </p:cNvPr>
          <p:cNvPicPr>
            <a:picLocks noChangeAspect="1"/>
          </p:cNvPicPr>
          <p:nvPr/>
        </p:nvPicPr>
        <p:blipFill>
          <a:blip r:embed="rId6"/>
          <a:stretch>
            <a:fillRect/>
          </a:stretch>
        </p:blipFill>
        <p:spPr>
          <a:xfrm>
            <a:off x="3755212" y="4296308"/>
            <a:ext cx="231343" cy="231343"/>
          </a:xfrm>
          <a:prstGeom prst="rect">
            <a:avLst/>
          </a:prstGeom>
        </p:spPr>
      </p:pic>
      <p:sp>
        <p:nvSpPr>
          <p:cNvPr id="32" name="Text 23"/>
          <p:cNvSpPr txBox="1"/>
          <p:nvPr/>
        </p:nvSpPr>
        <p:spPr>
          <a:xfrm>
            <a:off x="4259504" y="4160520"/>
            <a:ext cx="1516304"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Code practice oscillator</a:t>
            </a:r>
            <a:endParaRPr lang="en-US" sz="1500" dirty="0"/>
          </a:p>
        </p:txBody>
      </p:sp>
      <p:sp>
        <p:nvSpPr>
          <p:cNvPr id="33" name="Text 24"/>
          <p:cNvSpPr txBox="1"/>
          <p:nvPr/>
        </p:nvSpPr>
        <p:spPr>
          <a:xfrm>
            <a:off x="3619424" y="4800600"/>
            <a:ext cx="2110664" cy="123444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No RX, no TX, no license needed. Sidetone plus decode, and it can blink the flashlight LED.</a:t>
            </a:r>
            <a:endParaRPr lang="en-US" sz="1250" dirty="0"/>
          </a:p>
        </p:txBody>
      </p:sp>
      <p:sp>
        <p:nvSpPr>
          <p:cNvPr id="34" name="Shape 25"/>
          <p:cNvSpPr/>
          <p:nvPr/>
        </p:nvSpPr>
        <p:spPr>
          <a:xfrm>
            <a:off x="6233008" y="3931920"/>
            <a:ext cx="2567864" cy="2240280"/>
          </a:xfrm>
          <a:prstGeom prst="roundRect">
            <a:avLst>
              <a:gd name="adj" fmla="val 4898"/>
            </a:avLst>
          </a:prstGeom>
          <a:solidFill>
            <a:srgbClr val="211D19"/>
          </a:solidFill>
          <a:ln w="12700">
            <a:solidFill>
              <a:srgbClr val="211D19"/>
            </a:solidFill>
            <a:prstDash val="solid"/>
          </a:ln>
        </p:spPr>
      </p:sp>
      <p:sp>
        <p:nvSpPr>
          <p:cNvPr id="35" name="Shape 26"/>
          <p:cNvSpPr/>
          <p:nvPr/>
        </p:nvSpPr>
        <p:spPr>
          <a:xfrm>
            <a:off x="6461608" y="4160520"/>
            <a:ext cx="502920" cy="502920"/>
          </a:xfrm>
          <a:prstGeom prst="ellipse">
            <a:avLst/>
          </a:prstGeom>
          <a:solidFill>
            <a:srgbClr val="D4AF37"/>
          </a:solidFill>
          <a:ln w="12700">
            <a:solidFill>
              <a:srgbClr val="D4AF37"/>
            </a:solidFill>
            <a:prstDash val="solid"/>
          </a:ln>
        </p:spPr>
      </p:sp>
      <p:pic>
        <p:nvPicPr>
          <p:cNvPr id="36" name="Image 6" descr="preencoded.png">    </p:cNvPr>
          <p:cNvPicPr>
            <a:picLocks noChangeAspect="1"/>
          </p:cNvPicPr>
          <p:nvPr/>
        </p:nvPicPr>
        <p:blipFill>
          <a:blip r:embed="rId7"/>
          <a:stretch>
            <a:fillRect/>
          </a:stretch>
        </p:blipFill>
        <p:spPr>
          <a:xfrm>
            <a:off x="6597396" y="4296308"/>
            <a:ext cx="231343" cy="231343"/>
          </a:xfrm>
          <a:prstGeom prst="rect">
            <a:avLst/>
          </a:prstGeom>
        </p:spPr>
      </p:pic>
      <p:sp>
        <p:nvSpPr>
          <p:cNvPr id="37" name="Text 27"/>
          <p:cNvSpPr txBox="1"/>
          <p:nvPr/>
        </p:nvSpPr>
        <p:spPr>
          <a:xfrm>
            <a:off x="7101688" y="4160520"/>
            <a:ext cx="1516304"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Filter width</a:t>
            </a:r>
            <a:endParaRPr lang="en-US" sz="1500" dirty="0"/>
          </a:p>
        </p:txBody>
      </p:sp>
      <p:sp>
        <p:nvSpPr>
          <p:cNvPr id="38" name="Text 28"/>
          <p:cNvSpPr txBox="1"/>
          <p:nvPr/>
        </p:nvSpPr>
        <p:spPr>
          <a:xfrm>
            <a:off x="6461608" y="4800600"/>
            <a:ext cx="2110664" cy="123444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Cycle the IF bandwidth to narrow out a neighbor. Only active in CW mode.</a:t>
            </a:r>
            <a:endParaRPr lang="en-US" sz="1250" dirty="0"/>
          </a:p>
        </p:txBody>
      </p:sp>
      <p:sp>
        <p:nvSpPr>
          <p:cNvPr id="39" name="Shape 29"/>
          <p:cNvSpPr/>
          <p:nvPr/>
        </p:nvSpPr>
        <p:spPr>
          <a:xfrm>
            <a:off x="9075191" y="3931920"/>
            <a:ext cx="2567864" cy="2240280"/>
          </a:xfrm>
          <a:prstGeom prst="roundRect">
            <a:avLst>
              <a:gd name="adj" fmla="val 4898"/>
            </a:avLst>
          </a:prstGeom>
          <a:solidFill>
            <a:srgbClr val="211D19"/>
          </a:solidFill>
          <a:ln w="12700">
            <a:solidFill>
              <a:srgbClr val="211D19"/>
            </a:solidFill>
            <a:prstDash val="solid"/>
          </a:ln>
        </p:spPr>
      </p:sp>
      <p:sp>
        <p:nvSpPr>
          <p:cNvPr id="40" name="Shape 30"/>
          <p:cNvSpPr/>
          <p:nvPr/>
        </p:nvSpPr>
        <p:spPr>
          <a:xfrm>
            <a:off x="9303791" y="4160520"/>
            <a:ext cx="502920" cy="502920"/>
          </a:xfrm>
          <a:prstGeom prst="ellipse">
            <a:avLst/>
          </a:prstGeom>
          <a:solidFill>
            <a:srgbClr val="D4AF37"/>
          </a:solidFill>
          <a:ln w="12700">
            <a:solidFill>
              <a:srgbClr val="D4AF37"/>
            </a:solidFill>
            <a:prstDash val="solid"/>
          </a:ln>
        </p:spPr>
      </p:sp>
      <p:pic>
        <p:nvPicPr>
          <p:cNvPr id="41" name="Image 7" descr="preencoded.png">    </p:cNvPr>
          <p:cNvPicPr>
            <a:picLocks noChangeAspect="1"/>
          </p:cNvPicPr>
          <p:nvPr/>
        </p:nvPicPr>
        <p:blipFill>
          <a:blip r:embed="rId8"/>
          <a:stretch>
            <a:fillRect/>
          </a:stretch>
        </p:blipFill>
        <p:spPr>
          <a:xfrm>
            <a:off x="9439580" y="4296308"/>
            <a:ext cx="231343" cy="231343"/>
          </a:xfrm>
          <a:prstGeom prst="rect">
            <a:avLst/>
          </a:prstGeom>
        </p:spPr>
      </p:pic>
      <p:sp>
        <p:nvSpPr>
          <p:cNvPr id="42" name="Text 31"/>
          <p:cNvSpPr txBox="1"/>
          <p:nvPr/>
        </p:nvSpPr>
        <p:spPr>
          <a:xfrm>
            <a:off x="9943871" y="4160520"/>
            <a:ext cx="1516304" cy="502920"/>
          </a:xfrm>
          <a:prstGeom prst="rect">
            <a:avLst/>
          </a:prstGeom>
          <a:noFill/>
          <a:ln/>
        </p:spPr>
        <p:txBody>
          <a:bodyPr wrap="square" lIns="0" tIns="0" rIns="0" bIns="0" rtlCol="0" anchor="ctr"/>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SSB cross-mode</a:t>
            </a:r>
            <a:endParaRPr lang="en-US" sz="1500" dirty="0"/>
          </a:p>
        </p:txBody>
      </p:sp>
      <p:sp>
        <p:nvSpPr>
          <p:cNvPr id="43" name="Text 32"/>
          <p:cNvSpPr txBox="1"/>
          <p:nvPr/>
        </p:nvSpPr>
        <p:spPr>
          <a:xfrm>
            <a:off x="9303791" y="4800600"/>
            <a:ext cx="2110664" cy="123444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Shifts your CW up by the sidetone so an op on 144.200 USB hears a clean tone without retuning.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Three ways to key it</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Pick by how much you want to open the radio. The rest of this talk walks through the third one.</a:t>
            </a:r>
            <a:endParaRPr lang="en-US" sz="1600" dirty="0"/>
          </a:p>
        </p:txBody>
      </p:sp>
      <p:sp>
        <p:nvSpPr>
          <p:cNvPr id="5" name="Shape 2"/>
          <p:cNvSpPr/>
          <p:nvPr/>
        </p:nvSpPr>
        <p:spPr>
          <a:xfrm>
            <a:off x="548640" y="1828800"/>
            <a:ext cx="3515258" cy="3977640"/>
          </a:xfrm>
          <a:prstGeom prst="roundRect">
            <a:avLst>
              <a:gd name="adj" fmla="val 3121"/>
            </a:avLst>
          </a:prstGeom>
          <a:solidFill>
            <a:srgbClr val="211D19"/>
          </a:solidFill>
          <a:ln w="12700">
            <a:solidFill>
              <a:srgbClr val="211D19"/>
            </a:solidFill>
            <a:prstDash val="solid"/>
          </a:ln>
        </p:spPr>
      </p:sp>
      <p:sp>
        <p:nvSpPr>
          <p:cNvPr id="6" name="Shape 3"/>
          <p:cNvSpPr/>
          <p:nvPr/>
        </p:nvSpPr>
        <p:spPr>
          <a:xfrm>
            <a:off x="822960" y="2103120"/>
            <a:ext cx="640080" cy="640080"/>
          </a:xfrm>
          <a:prstGeom prst="ellipse">
            <a:avLst/>
          </a:prstGeom>
          <a:solidFill>
            <a:srgbClr val="D4AF37"/>
          </a:solidFill>
          <a:ln w="12700">
            <a:solidFill>
              <a:srgbClr val="D4AF37"/>
            </a:solidFill>
            <a:prstDash val="solid"/>
          </a:ln>
        </p:spPr>
      </p:sp>
      <p:pic>
        <p:nvPicPr>
          <p:cNvPr id="7" name="Image 0" descr="preencoded.png">    </p:cNvPr>
          <p:cNvPicPr>
            <a:picLocks noChangeAspect="1"/>
          </p:cNvPicPr>
          <p:nvPr/>
        </p:nvPicPr>
        <p:blipFill>
          <a:blip r:embed="rId1"/>
          <a:stretch>
            <a:fillRect/>
          </a:stretch>
        </p:blipFill>
        <p:spPr>
          <a:xfrm>
            <a:off x="995782" y="2275942"/>
            <a:ext cx="294437" cy="294437"/>
          </a:xfrm>
          <a:prstGeom prst="rect">
            <a:avLst/>
          </a:prstGeom>
        </p:spPr>
      </p:pic>
      <p:sp>
        <p:nvSpPr>
          <p:cNvPr id="8" name="Text 4"/>
          <p:cNvSpPr txBox="1"/>
          <p:nvPr/>
        </p:nvSpPr>
        <p:spPr>
          <a:xfrm>
            <a:off x="822960" y="2880360"/>
            <a:ext cx="296661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PTT and side button</a:t>
            </a:r>
            <a:endParaRPr lang="en-US" sz="2000" dirty="0"/>
          </a:p>
        </p:txBody>
      </p:sp>
      <p:sp>
        <p:nvSpPr>
          <p:cNvPr id="9" name="Text 5"/>
          <p:cNvSpPr txBox="1"/>
          <p:nvPr/>
        </p:nvSpPr>
        <p:spPr>
          <a:xfrm>
            <a:off x="822960" y="3246120"/>
            <a:ext cx="2966618" cy="320040"/>
          </a:xfrm>
          <a:prstGeom prst="rect">
            <a:avLst/>
          </a:prstGeom>
          <a:noFill/>
          <a:ln/>
        </p:spPr>
        <p:txBody>
          <a:bodyPr wrap="square" lIns="0" tIns="0" rIns="0" bIns="0" rtlCol="0" anchor="t"/>
          <a:lstStyle/>
          <a:p>
            <a:pPr algn="l" indent="0" marL="0">
              <a:lnSpc>
                <a:spcPct val="110000"/>
              </a:lnSpc>
              <a:buNone/>
            </a:pPr>
            <a:r>
              <a:rPr lang="en-US" sz="1300" i="1" dirty="0">
                <a:solidFill>
                  <a:srgbClr val="B3A995"/>
                </a:solidFill>
                <a:latin typeface="Calibri" pitchFamily="34" charset="0"/>
                <a:ea typeface="Calibri" pitchFamily="34" charset="-122"/>
                <a:cs typeface="Calibri" pitchFamily="34" charset="-120"/>
              </a:rPr>
              <a:t>No hardware at all</a:t>
            </a:r>
            <a:endParaRPr lang="en-US" sz="1300" dirty="0"/>
          </a:p>
        </p:txBody>
      </p:sp>
      <p:sp>
        <p:nvSpPr>
          <p:cNvPr id="10" name="Text 6"/>
          <p:cNvSpPr txBox="1"/>
          <p:nvPr/>
        </p:nvSpPr>
        <p:spPr>
          <a:xfrm>
            <a:off x="822960" y="3703320"/>
            <a:ext cx="2966618" cy="20116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PTT is dah, Side 1 is dit. Iambic keyer still works.</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Also "PTT HandKey" for straight-key style.</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Try CW the day you flash. Clumsy for real QSOs.</a:t>
            </a:r>
            <a:endParaRPr lang="en-US" sz="1400" dirty="0"/>
          </a:p>
        </p:txBody>
      </p:sp>
      <p:sp>
        <p:nvSpPr>
          <p:cNvPr id="11" name="Shape 7"/>
          <p:cNvSpPr/>
          <p:nvPr/>
        </p:nvSpPr>
        <p:spPr>
          <a:xfrm>
            <a:off x="4338218" y="1828800"/>
            <a:ext cx="3515258" cy="3977640"/>
          </a:xfrm>
          <a:prstGeom prst="roundRect">
            <a:avLst>
              <a:gd name="adj" fmla="val 3121"/>
            </a:avLst>
          </a:prstGeom>
          <a:solidFill>
            <a:srgbClr val="211D19"/>
          </a:solidFill>
          <a:ln w="12700">
            <a:solidFill>
              <a:srgbClr val="211D19"/>
            </a:solidFill>
            <a:prstDash val="solid"/>
          </a:ln>
        </p:spPr>
      </p:sp>
      <p:sp>
        <p:nvSpPr>
          <p:cNvPr id="12" name="Shape 8"/>
          <p:cNvSpPr/>
          <p:nvPr/>
        </p:nvSpPr>
        <p:spPr>
          <a:xfrm>
            <a:off x="4612538" y="2103120"/>
            <a:ext cx="640080" cy="640080"/>
          </a:xfrm>
          <a:prstGeom prst="ellipse">
            <a:avLst/>
          </a:prstGeom>
          <a:solidFill>
            <a:srgbClr val="D4AF37"/>
          </a:solidFill>
          <a:ln w="12700">
            <a:solidFill>
              <a:srgbClr val="D4AF37"/>
            </a:solidFill>
            <a:prstDash val="solid"/>
          </a:ln>
        </p:spPr>
      </p:sp>
      <p:pic>
        <p:nvPicPr>
          <p:cNvPr id="13" name="Image 1" descr="preencoded.png">    </p:cNvPr>
          <p:cNvPicPr>
            <a:picLocks noChangeAspect="1"/>
          </p:cNvPicPr>
          <p:nvPr/>
        </p:nvPicPr>
        <p:blipFill>
          <a:blip r:embed="rId2"/>
          <a:stretch>
            <a:fillRect/>
          </a:stretch>
        </p:blipFill>
        <p:spPr>
          <a:xfrm>
            <a:off x="4785360" y="2275942"/>
            <a:ext cx="294437" cy="294437"/>
          </a:xfrm>
          <a:prstGeom prst="rect">
            <a:avLst/>
          </a:prstGeom>
        </p:spPr>
      </p:pic>
      <p:sp>
        <p:nvSpPr>
          <p:cNvPr id="14" name="Text 9"/>
          <p:cNvSpPr txBox="1"/>
          <p:nvPr/>
        </p:nvSpPr>
        <p:spPr>
          <a:xfrm>
            <a:off x="4612538" y="2880360"/>
            <a:ext cx="296661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USB-C to TRS cable</a:t>
            </a:r>
            <a:endParaRPr lang="en-US" sz="2000" dirty="0"/>
          </a:p>
        </p:txBody>
      </p:sp>
      <p:sp>
        <p:nvSpPr>
          <p:cNvPr id="15" name="Text 10"/>
          <p:cNvSpPr txBox="1"/>
          <p:nvPr/>
        </p:nvSpPr>
        <p:spPr>
          <a:xfrm>
            <a:off x="4612538" y="3246120"/>
            <a:ext cx="2966618" cy="320040"/>
          </a:xfrm>
          <a:prstGeom prst="rect">
            <a:avLst/>
          </a:prstGeom>
          <a:noFill/>
          <a:ln/>
        </p:spPr>
        <p:txBody>
          <a:bodyPr wrap="square" lIns="0" tIns="0" rIns="0" bIns="0" rtlCol="0" anchor="t"/>
          <a:lstStyle/>
          <a:p>
            <a:pPr algn="l" indent="0" marL="0">
              <a:lnSpc>
                <a:spcPct val="110000"/>
              </a:lnSpc>
              <a:buNone/>
            </a:pPr>
            <a:r>
              <a:rPr lang="en-US" sz="1300" i="1" dirty="0">
                <a:solidFill>
                  <a:srgbClr val="B3A995"/>
                </a:solidFill>
                <a:latin typeface="Calibri" pitchFamily="34" charset="0"/>
                <a:ea typeface="Calibri" pitchFamily="34" charset="-122"/>
                <a:cs typeface="Calibri" pitchFamily="34" charset="-120"/>
              </a:rPr>
              <a:t>Custom passive cable, radio stays closed</a:t>
            </a:r>
            <a:endParaRPr lang="en-US" sz="1300" dirty="0"/>
          </a:p>
        </p:txBody>
      </p:sp>
      <p:sp>
        <p:nvSpPr>
          <p:cNvPr id="16" name="Text 11"/>
          <p:cNvSpPr txBox="1"/>
          <p:nvPr/>
        </p:nvSpPr>
        <p:spPr>
          <a:xfrm>
            <a:off x="4612538" y="3703320"/>
            <a:ext cx="2966618" cy="20116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D+ to tip (dit), D- to ring (dah), ground to sleeve.</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No electronics. You will have to build it.</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Very sensitive to your own RF. Can lock into key-down, so keep it short, use medium power.</a:t>
            </a:r>
            <a:endParaRPr lang="en-US" sz="1400" dirty="0"/>
          </a:p>
        </p:txBody>
      </p:sp>
      <p:sp>
        <p:nvSpPr>
          <p:cNvPr id="17" name="Shape 12"/>
          <p:cNvSpPr/>
          <p:nvPr/>
        </p:nvSpPr>
        <p:spPr>
          <a:xfrm>
            <a:off x="8127797" y="1828800"/>
            <a:ext cx="3515258" cy="3977640"/>
          </a:xfrm>
          <a:prstGeom prst="roundRect">
            <a:avLst>
              <a:gd name="adj" fmla="val 3121"/>
            </a:avLst>
          </a:prstGeom>
          <a:solidFill>
            <a:srgbClr val="2A2520"/>
          </a:solidFill>
          <a:ln w="12700">
            <a:solidFill>
              <a:srgbClr val="2A2520"/>
            </a:solidFill>
            <a:prstDash val="solid"/>
          </a:ln>
        </p:spPr>
      </p:sp>
      <p:sp>
        <p:nvSpPr>
          <p:cNvPr id="18" name="Shape 13"/>
          <p:cNvSpPr/>
          <p:nvPr/>
        </p:nvSpPr>
        <p:spPr>
          <a:xfrm>
            <a:off x="8402117" y="2103120"/>
            <a:ext cx="640080" cy="640080"/>
          </a:xfrm>
          <a:prstGeom prst="ellipse">
            <a:avLst/>
          </a:prstGeom>
          <a:solidFill>
            <a:srgbClr val="D4AF37"/>
          </a:solidFill>
          <a:ln w="12700">
            <a:solidFill>
              <a:srgbClr val="D4AF37"/>
            </a:solidFill>
            <a:prstDash val="solid"/>
          </a:ln>
        </p:spPr>
      </p:sp>
      <p:pic>
        <p:nvPicPr>
          <p:cNvPr id="19" name="Image 2" descr="preencoded.png">    </p:cNvPr>
          <p:cNvPicPr>
            <a:picLocks noChangeAspect="1"/>
          </p:cNvPicPr>
          <p:nvPr/>
        </p:nvPicPr>
        <p:blipFill>
          <a:blip r:embed="rId3"/>
          <a:stretch>
            <a:fillRect/>
          </a:stretch>
        </p:blipFill>
        <p:spPr>
          <a:xfrm>
            <a:off x="8574938" y="2275942"/>
            <a:ext cx="294437" cy="294437"/>
          </a:xfrm>
          <a:prstGeom prst="rect">
            <a:avLst/>
          </a:prstGeom>
        </p:spPr>
      </p:pic>
      <p:sp>
        <p:nvSpPr>
          <p:cNvPr id="20" name="Text 14"/>
          <p:cNvSpPr txBox="1"/>
          <p:nvPr/>
        </p:nvSpPr>
        <p:spPr>
          <a:xfrm>
            <a:off x="8402117" y="2880360"/>
            <a:ext cx="296661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The rework</a:t>
            </a:r>
            <a:endParaRPr lang="en-US" sz="2000" dirty="0"/>
          </a:p>
        </p:txBody>
      </p:sp>
      <p:sp>
        <p:nvSpPr>
          <p:cNvPr id="21" name="Text 15"/>
          <p:cNvSpPr txBox="1"/>
          <p:nvPr/>
        </p:nvSpPr>
        <p:spPr>
          <a:xfrm>
            <a:off x="8402117" y="3246120"/>
            <a:ext cx="2966618" cy="320040"/>
          </a:xfrm>
          <a:prstGeom prst="rect">
            <a:avLst/>
          </a:prstGeom>
          <a:noFill/>
          <a:ln/>
        </p:spPr>
        <p:txBody>
          <a:bodyPr wrap="square" lIns="0" tIns="0" rIns="0" bIns="0" rtlCol="0" anchor="t"/>
          <a:lstStyle/>
          <a:p>
            <a:pPr algn="l" indent="0" marL="0">
              <a:lnSpc>
                <a:spcPct val="110000"/>
              </a:lnSpc>
              <a:buNone/>
            </a:pPr>
            <a:r>
              <a:rPr lang="en-US" sz="1300" i="1" dirty="0">
                <a:solidFill>
                  <a:srgbClr val="B3A995"/>
                </a:solidFill>
                <a:latin typeface="Calibri" pitchFamily="34" charset="0"/>
                <a:ea typeface="Calibri" pitchFamily="34" charset="-122"/>
                <a:cs typeface="Calibri" pitchFamily="34" charset="-120"/>
              </a:rPr>
              <a:t>Two resistors off, two wires on</a:t>
            </a:r>
            <a:endParaRPr lang="en-US" sz="1300" dirty="0"/>
          </a:p>
        </p:txBody>
      </p:sp>
      <p:sp>
        <p:nvSpPr>
          <p:cNvPr id="22" name="Text 16"/>
          <p:cNvSpPr txBox="1"/>
          <p:nvPr/>
        </p:nvSpPr>
        <p:spPr>
          <a:xfrm>
            <a:off x="8402117" y="3703320"/>
            <a:ext cx="2966618" cy="20116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Any off-the-shelf TRS paddle plugs straight into the 3.5 mm headset jack.</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Rock solid input, no special cable.</a:t>
            </a:r>
            <a:endParaRPr lang="en-US" sz="1400" dirty="0"/>
          </a:p>
          <a:p>
            <a:pPr marL="177800" indent="-177800">
              <a:lnSpc>
                <a:spcPct val="105000"/>
              </a:lnSpc>
              <a:spcAft>
                <a:spcPts val="600"/>
              </a:spcAft>
              <a:buSzPct val="100000"/>
              <a:buChar char="•"/>
            </a:pPr>
            <a:r>
              <a:rPr lang="en-US" sz="1400" dirty="0">
                <a:solidFill>
                  <a:srgbClr val="F2EBDD"/>
                </a:solidFill>
                <a:latin typeface="Calibri" pitchFamily="34" charset="0"/>
                <a:ea typeface="Calibri" pitchFamily="34" charset="-122"/>
                <a:cs typeface="Calibri" pitchFamily="34" charset="-120"/>
              </a:rPr>
              <a:t>Open the case and solder. External mic PTT and SWD debug stop working.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Tools and supplies</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Everything on this slide fits in a shoebox. Most of it is already in your junk drawer.</a:t>
            </a:r>
            <a:endParaRPr lang="en-US" sz="1600" dirty="0"/>
          </a:p>
        </p:txBody>
      </p:sp>
      <p:sp>
        <p:nvSpPr>
          <p:cNvPr id="5" name="Shape 2"/>
          <p:cNvSpPr/>
          <p:nvPr/>
        </p:nvSpPr>
        <p:spPr>
          <a:xfrm>
            <a:off x="548640" y="1828800"/>
            <a:ext cx="5410048" cy="3017520"/>
          </a:xfrm>
          <a:prstGeom prst="roundRect">
            <a:avLst>
              <a:gd name="adj" fmla="val 3636"/>
            </a:avLst>
          </a:prstGeom>
          <a:solidFill>
            <a:srgbClr val="211D19"/>
          </a:solidFill>
          <a:ln w="12700">
            <a:solidFill>
              <a:srgbClr val="211D19"/>
            </a:solidFill>
            <a:prstDash val="solid"/>
          </a:ln>
        </p:spPr>
      </p:sp>
      <p:sp>
        <p:nvSpPr>
          <p:cNvPr id="6" name="Shape 3"/>
          <p:cNvSpPr/>
          <p:nvPr/>
        </p:nvSpPr>
        <p:spPr>
          <a:xfrm>
            <a:off x="822960" y="2057400"/>
            <a:ext cx="548640" cy="548640"/>
          </a:xfrm>
          <a:prstGeom prst="ellipse">
            <a:avLst/>
          </a:prstGeom>
          <a:solidFill>
            <a:srgbClr val="D4AF37"/>
          </a:solidFill>
          <a:ln w="12700">
            <a:solidFill>
              <a:srgbClr val="D4AF37"/>
            </a:solidFill>
            <a:prstDash val="solid"/>
          </a:ln>
        </p:spPr>
      </p:sp>
      <p:pic>
        <p:nvPicPr>
          <p:cNvPr id="7" name="Image 0" descr="preencoded.png">    </p:cNvPr>
          <p:cNvPicPr>
            <a:picLocks noChangeAspect="1"/>
          </p:cNvPicPr>
          <p:nvPr/>
        </p:nvPicPr>
        <p:blipFill>
          <a:blip r:embed="rId1"/>
          <a:stretch>
            <a:fillRect/>
          </a:stretch>
        </p:blipFill>
        <p:spPr>
          <a:xfrm>
            <a:off x="971093" y="2205533"/>
            <a:ext cx="252374" cy="252374"/>
          </a:xfrm>
          <a:prstGeom prst="rect">
            <a:avLst/>
          </a:prstGeom>
        </p:spPr>
      </p:pic>
      <p:sp>
        <p:nvSpPr>
          <p:cNvPr id="8" name="Text 4"/>
          <p:cNvSpPr txBox="1"/>
          <p:nvPr/>
        </p:nvSpPr>
        <p:spPr>
          <a:xfrm>
            <a:off x="1508760" y="2148840"/>
            <a:ext cx="422132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Tools</a:t>
            </a:r>
            <a:endParaRPr lang="en-US" sz="2000" dirty="0"/>
          </a:p>
        </p:txBody>
      </p:sp>
      <p:sp>
        <p:nvSpPr>
          <p:cNvPr id="9" name="Text 5"/>
          <p:cNvSpPr txBox="1"/>
          <p:nvPr/>
        </p:nvSpPr>
        <p:spPr>
          <a:xfrm>
            <a:off x="822960" y="2697480"/>
            <a:ext cx="4861408" cy="246888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Pencil soldering iron. Conical, chisel or bevel tip all work.</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Solder, a little flux, fine tweezers.</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Thin flathead screwdriver or pry tool for the case.</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Plastic spudger for the display frame and ribbon latch.</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Magnifier, loupe, or just your phone camera zoomed in.</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Isopropyl alcohol and a swab for the pads and the display.</a:t>
            </a:r>
            <a:endParaRPr lang="en-US" sz="1400" dirty="0"/>
          </a:p>
        </p:txBody>
      </p:sp>
      <p:sp>
        <p:nvSpPr>
          <p:cNvPr id="10" name="Shape 6"/>
          <p:cNvSpPr/>
          <p:nvPr/>
        </p:nvSpPr>
        <p:spPr>
          <a:xfrm>
            <a:off x="6233008" y="1828800"/>
            <a:ext cx="5410048" cy="3017520"/>
          </a:xfrm>
          <a:prstGeom prst="roundRect">
            <a:avLst>
              <a:gd name="adj" fmla="val 3636"/>
            </a:avLst>
          </a:prstGeom>
          <a:solidFill>
            <a:srgbClr val="211D19"/>
          </a:solidFill>
          <a:ln w="12700">
            <a:solidFill>
              <a:srgbClr val="211D19"/>
            </a:solidFill>
            <a:prstDash val="solid"/>
          </a:ln>
        </p:spPr>
      </p:sp>
      <p:sp>
        <p:nvSpPr>
          <p:cNvPr id="11" name="Shape 7"/>
          <p:cNvSpPr/>
          <p:nvPr/>
        </p:nvSpPr>
        <p:spPr>
          <a:xfrm>
            <a:off x="6507328" y="2057400"/>
            <a:ext cx="548640" cy="548640"/>
          </a:xfrm>
          <a:prstGeom prst="ellipse">
            <a:avLst/>
          </a:prstGeom>
          <a:solidFill>
            <a:srgbClr val="D4AF37"/>
          </a:solidFill>
          <a:ln w="12700">
            <a:solidFill>
              <a:srgbClr val="D4AF37"/>
            </a:solidFill>
            <a:prstDash val="solid"/>
          </a:ln>
        </p:spPr>
      </p:sp>
      <p:pic>
        <p:nvPicPr>
          <p:cNvPr id="12" name="Image 1" descr="preencoded.png">    </p:cNvPr>
          <p:cNvPicPr>
            <a:picLocks noChangeAspect="1"/>
          </p:cNvPicPr>
          <p:nvPr/>
        </p:nvPicPr>
        <p:blipFill>
          <a:blip r:embed="rId2"/>
          <a:stretch>
            <a:fillRect/>
          </a:stretch>
        </p:blipFill>
        <p:spPr>
          <a:xfrm>
            <a:off x="6655460" y="2205533"/>
            <a:ext cx="252374" cy="252374"/>
          </a:xfrm>
          <a:prstGeom prst="rect">
            <a:avLst/>
          </a:prstGeom>
        </p:spPr>
      </p:pic>
      <p:sp>
        <p:nvSpPr>
          <p:cNvPr id="13" name="Text 8"/>
          <p:cNvSpPr txBox="1"/>
          <p:nvPr/>
        </p:nvSpPr>
        <p:spPr>
          <a:xfrm>
            <a:off x="7193128" y="2148840"/>
            <a:ext cx="422132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Parts</a:t>
            </a:r>
            <a:endParaRPr lang="en-US" sz="2000" dirty="0"/>
          </a:p>
        </p:txBody>
      </p:sp>
      <p:sp>
        <p:nvSpPr>
          <p:cNvPr id="14" name="Text 9"/>
          <p:cNvSpPr txBox="1"/>
          <p:nvPr/>
        </p:nvSpPr>
        <p:spPr>
          <a:xfrm>
            <a:off x="6507328" y="2697480"/>
            <a:ext cx="4587088" cy="246888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Quansheng UV-K1 (see previous slide).</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Two wires, about 2 in and 3 in, 22 AWG or thinner. Strip them out of the USB cable in the box.</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A paddle or straight key with a 3.5 mm TRS plug.</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K5-style two-pin (Kenwood) programming cable.</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Laptop with Chrome or Chromium for the WebSerial flasher.</a:t>
            </a:r>
            <a:endParaRPr lang="en-US" sz="1400" dirty="0"/>
          </a:p>
          <a:p>
            <a:pPr marL="177800" indent="-177800">
              <a:lnSpc>
                <a:spcPct val="105000"/>
              </a:lnSpc>
              <a:spcAft>
                <a:spcPts val="400"/>
              </a:spcAft>
              <a:buSzPct val="100000"/>
              <a:buChar char="•"/>
            </a:pPr>
            <a:r>
              <a:rPr lang="en-US" sz="1400" dirty="0">
                <a:solidFill>
                  <a:srgbClr val="F2EBDD"/>
                </a:solidFill>
                <a:latin typeface="Calibri" pitchFamily="34" charset="0"/>
                <a:ea typeface="Calibri" pitchFamily="34" charset="-122"/>
                <a:cs typeface="Calibri" pitchFamily="34" charset="-120"/>
              </a:rPr>
              <a:t>The firmware file and CHIRP module from the Releases page.</a:t>
            </a:r>
            <a:endParaRPr lang="en-US" sz="1400" dirty="0"/>
          </a:p>
        </p:txBody>
      </p:sp>
      <p:sp>
        <p:nvSpPr>
          <p:cNvPr id="15" name="Shape 10"/>
          <p:cNvSpPr/>
          <p:nvPr/>
        </p:nvSpPr>
        <p:spPr>
          <a:xfrm>
            <a:off x="548640" y="5120640"/>
            <a:ext cx="2567864" cy="868680"/>
          </a:xfrm>
          <a:prstGeom prst="roundRect">
            <a:avLst>
              <a:gd name="adj" fmla="val 12632"/>
            </a:avLst>
          </a:prstGeom>
          <a:solidFill>
            <a:srgbClr val="2A2520"/>
          </a:solidFill>
          <a:ln w="12700">
            <a:solidFill>
              <a:srgbClr val="2A2520"/>
            </a:solidFill>
            <a:prstDash val="solid"/>
          </a:ln>
        </p:spPr>
      </p:sp>
      <p:sp>
        <p:nvSpPr>
          <p:cNvPr id="16" name="Text 11"/>
          <p:cNvSpPr txBox="1"/>
          <p:nvPr/>
        </p:nvSpPr>
        <p:spPr>
          <a:xfrm>
            <a:off x="731520" y="5120640"/>
            <a:ext cx="1280160" cy="86868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~$30</a:t>
            </a:r>
            <a:endParaRPr lang="en-US" sz="2400" dirty="0"/>
          </a:p>
        </p:txBody>
      </p:sp>
      <p:sp>
        <p:nvSpPr>
          <p:cNvPr id="17" name="Text 12"/>
          <p:cNvSpPr txBox="1"/>
          <p:nvPr/>
        </p:nvSpPr>
        <p:spPr>
          <a:xfrm>
            <a:off x="2057400" y="5120640"/>
            <a:ext cx="921944" cy="868680"/>
          </a:xfrm>
          <a:prstGeom prst="rect">
            <a:avLst/>
          </a:prstGeom>
          <a:noFill/>
          <a:ln/>
        </p:spPr>
        <p:txBody>
          <a:bodyPr wrap="square" lIns="0" tIns="0" rIns="0" bIns="0" rtlCol="0" anchor="ctr"/>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radio</a:t>
            </a:r>
            <a:endParaRPr lang="en-US" sz="1300" dirty="0"/>
          </a:p>
        </p:txBody>
      </p:sp>
      <p:sp>
        <p:nvSpPr>
          <p:cNvPr id="18" name="Shape 13"/>
          <p:cNvSpPr/>
          <p:nvPr/>
        </p:nvSpPr>
        <p:spPr>
          <a:xfrm>
            <a:off x="3390824" y="5120640"/>
            <a:ext cx="2567864" cy="868680"/>
          </a:xfrm>
          <a:prstGeom prst="roundRect">
            <a:avLst>
              <a:gd name="adj" fmla="val 12632"/>
            </a:avLst>
          </a:prstGeom>
          <a:solidFill>
            <a:srgbClr val="2A2520"/>
          </a:solidFill>
          <a:ln w="12700">
            <a:solidFill>
              <a:srgbClr val="2A2520"/>
            </a:solidFill>
            <a:prstDash val="solid"/>
          </a:ln>
        </p:spPr>
      </p:sp>
      <p:sp>
        <p:nvSpPr>
          <p:cNvPr id="19" name="Text 14"/>
          <p:cNvSpPr txBox="1"/>
          <p:nvPr/>
        </p:nvSpPr>
        <p:spPr>
          <a:xfrm>
            <a:off x="3573704" y="5120640"/>
            <a:ext cx="1280160" cy="86868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~$10</a:t>
            </a:r>
            <a:endParaRPr lang="en-US" sz="2400" dirty="0"/>
          </a:p>
        </p:txBody>
      </p:sp>
      <p:sp>
        <p:nvSpPr>
          <p:cNvPr id="20" name="Text 15"/>
          <p:cNvSpPr txBox="1"/>
          <p:nvPr/>
        </p:nvSpPr>
        <p:spPr>
          <a:xfrm>
            <a:off x="4899584" y="5120640"/>
            <a:ext cx="921944" cy="868680"/>
          </a:xfrm>
          <a:prstGeom prst="rect">
            <a:avLst/>
          </a:prstGeom>
          <a:noFill/>
          <a:ln/>
        </p:spPr>
        <p:txBody>
          <a:bodyPr wrap="square" lIns="0" tIns="0" rIns="0" bIns="0" rtlCol="0" anchor="ctr"/>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programming cable</a:t>
            </a:r>
            <a:endParaRPr lang="en-US" sz="1300" dirty="0"/>
          </a:p>
        </p:txBody>
      </p:sp>
      <p:sp>
        <p:nvSpPr>
          <p:cNvPr id="21" name="Shape 16"/>
          <p:cNvSpPr/>
          <p:nvPr/>
        </p:nvSpPr>
        <p:spPr>
          <a:xfrm>
            <a:off x="6233008" y="5120640"/>
            <a:ext cx="2567864" cy="868680"/>
          </a:xfrm>
          <a:prstGeom prst="roundRect">
            <a:avLst>
              <a:gd name="adj" fmla="val 12632"/>
            </a:avLst>
          </a:prstGeom>
          <a:solidFill>
            <a:srgbClr val="2A2520"/>
          </a:solidFill>
          <a:ln w="12700">
            <a:solidFill>
              <a:srgbClr val="2A2520"/>
            </a:solidFill>
            <a:prstDash val="solid"/>
          </a:ln>
        </p:spPr>
      </p:sp>
      <p:sp>
        <p:nvSpPr>
          <p:cNvPr id="22" name="Text 17"/>
          <p:cNvSpPr txBox="1"/>
          <p:nvPr/>
        </p:nvSpPr>
        <p:spPr>
          <a:xfrm>
            <a:off x="6415888" y="5120640"/>
            <a:ext cx="1280160" cy="86868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$0</a:t>
            </a:r>
            <a:endParaRPr lang="en-US" sz="2400" dirty="0"/>
          </a:p>
        </p:txBody>
      </p:sp>
      <p:sp>
        <p:nvSpPr>
          <p:cNvPr id="23" name="Text 18"/>
          <p:cNvSpPr txBox="1"/>
          <p:nvPr/>
        </p:nvSpPr>
        <p:spPr>
          <a:xfrm>
            <a:off x="7741768" y="5120640"/>
            <a:ext cx="921944" cy="868680"/>
          </a:xfrm>
          <a:prstGeom prst="rect">
            <a:avLst/>
          </a:prstGeom>
          <a:noFill/>
          <a:ln/>
        </p:spPr>
        <p:txBody>
          <a:bodyPr wrap="square" lIns="0" tIns="0" rIns="0" bIns="0" rtlCol="0" anchor="ctr"/>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jumper wire</a:t>
            </a:r>
            <a:endParaRPr lang="en-US" sz="1300" dirty="0"/>
          </a:p>
        </p:txBody>
      </p:sp>
      <p:sp>
        <p:nvSpPr>
          <p:cNvPr id="24" name="Shape 19"/>
          <p:cNvSpPr/>
          <p:nvPr/>
        </p:nvSpPr>
        <p:spPr>
          <a:xfrm>
            <a:off x="9075191" y="5120640"/>
            <a:ext cx="2567864" cy="868680"/>
          </a:xfrm>
          <a:prstGeom prst="roundRect">
            <a:avLst>
              <a:gd name="adj" fmla="val 12632"/>
            </a:avLst>
          </a:prstGeom>
          <a:solidFill>
            <a:srgbClr val="2A2520"/>
          </a:solidFill>
          <a:ln w="12700">
            <a:solidFill>
              <a:srgbClr val="2A2520"/>
            </a:solidFill>
            <a:prstDash val="solid"/>
          </a:ln>
        </p:spPr>
      </p:sp>
      <p:sp>
        <p:nvSpPr>
          <p:cNvPr id="25" name="Text 20"/>
          <p:cNvSpPr txBox="1"/>
          <p:nvPr/>
        </p:nvSpPr>
        <p:spPr>
          <a:xfrm>
            <a:off x="9258071" y="5120640"/>
            <a:ext cx="1280160" cy="86868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~$40</a:t>
            </a:r>
            <a:endParaRPr lang="en-US" sz="2400" dirty="0"/>
          </a:p>
        </p:txBody>
      </p:sp>
      <p:sp>
        <p:nvSpPr>
          <p:cNvPr id="26" name="Text 21"/>
          <p:cNvSpPr txBox="1"/>
          <p:nvPr/>
        </p:nvSpPr>
        <p:spPr>
          <a:xfrm>
            <a:off x="10583951" y="5120640"/>
            <a:ext cx="921944" cy="868680"/>
          </a:xfrm>
          <a:prstGeom prst="rect">
            <a:avLst/>
          </a:prstGeom>
          <a:noFill/>
          <a:ln/>
        </p:spPr>
        <p:txBody>
          <a:bodyPr wrap="square" lIns="0" tIns="0" rIns="0" bIns="0" rtlCol="0" anchor="ctr"/>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iron, if you need one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What the mod actually does</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Four changes. The firmware does the rest.</a:t>
            </a:r>
            <a:endParaRPr lang="en-US" sz="1600" dirty="0"/>
          </a:p>
        </p:txBody>
      </p:sp>
      <p:pic>
        <p:nvPicPr>
          <p:cNvPr id="5" name="Image 0" descr="/tmp/claude-0/-home-user-bkg-club/dd98b25f-744f-5b52-bca4-d25dd18876d9/scratchpad/img/rework_schematic.png">    </p:cNvPr>
          <p:cNvPicPr>
            <a:picLocks noChangeAspect="1"/>
          </p:cNvPicPr>
          <p:nvPr/>
        </p:nvPicPr>
        <p:blipFill>
          <a:blip r:embed="rId1"/>
          <a:stretch>
            <a:fillRect/>
          </a:stretch>
        </p:blipFill>
        <p:spPr>
          <a:xfrm>
            <a:off x="548640" y="1737360"/>
            <a:ext cx="5852160" cy="4215384"/>
          </a:xfrm>
          <a:prstGeom prst="rect">
            <a:avLst/>
          </a:prstGeom>
        </p:spPr>
      </p:pic>
      <p:sp>
        <p:nvSpPr>
          <p:cNvPr id="6" name="Text 2"/>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7D7466"/>
                </a:solidFill>
                <a:latin typeface="Calibri" pitchFamily="34" charset="0"/>
                <a:ea typeface="Calibri" pitchFamily="34" charset="-122"/>
                <a:cs typeface="Calibri" pitchFamily="34" charset="-120"/>
              </a:rPr>
              <a:t>Rework schematic from the NR7Y CW Firmware Docs (CC BY-NC-SA 4.0). Original schematic reverse-engineered by mentalDetector.</a:t>
            </a:r>
            <a:endParaRPr lang="en-US" sz="1000" dirty="0"/>
          </a:p>
        </p:txBody>
      </p:sp>
      <p:sp>
        <p:nvSpPr>
          <p:cNvPr id="7" name="Shape 3"/>
          <p:cNvSpPr/>
          <p:nvPr/>
        </p:nvSpPr>
        <p:spPr>
          <a:xfrm>
            <a:off x="6766560" y="1783080"/>
            <a:ext cx="411480" cy="411480"/>
          </a:xfrm>
          <a:prstGeom prst="ellipse">
            <a:avLst/>
          </a:prstGeom>
          <a:solidFill>
            <a:srgbClr val="D4AF37"/>
          </a:solidFill>
          <a:ln w="12700">
            <a:solidFill>
              <a:srgbClr val="D4AF37"/>
            </a:solidFill>
            <a:prstDash val="solid"/>
          </a:ln>
        </p:spPr>
      </p:sp>
      <p:sp>
        <p:nvSpPr>
          <p:cNvPr id="8" name="Text 4"/>
          <p:cNvSpPr txBox="1"/>
          <p:nvPr/>
        </p:nvSpPr>
        <p:spPr>
          <a:xfrm>
            <a:off x="6766560" y="1783080"/>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1</a:t>
            </a:r>
            <a:endParaRPr lang="en-US" sz="1300" dirty="0"/>
          </a:p>
        </p:txBody>
      </p:sp>
      <p:sp>
        <p:nvSpPr>
          <p:cNvPr id="9" name="Text 5"/>
          <p:cNvSpPr txBox="1"/>
          <p:nvPr/>
        </p:nvSpPr>
        <p:spPr>
          <a:xfrm>
            <a:off x="7360920" y="1737360"/>
            <a:ext cx="428213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Remove R72</a:t>
            </a:r>
            <a:endParaRPr lang="en-US" sz="1600" dirty="0"/>
          </a:p>
        </p:txBody>
      </p:sp>
      <p:sp>
        <p:nvSpPr>
          <p:cNvPr id="10" name="Text 6"/>
          <p:cNvSpPr txBox="1"/>
          <p:nvPr/>
        </p:nvSpPr>
        <p:spPr>
          <a:xfrm>
            <a:off x="7360920" y="2039112"/>
            <a:ext cx="4282135" cy="3200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the 1k pull-up on the PTT line</a:t>
            </a:r>
            <a:endParaRPr lang="en-US" sz="1300" dirty="0"/>
          </a:p>
        </p:txBody>
      </p:sp>
      <p:sp>
        <p:nvSpPr>
          <p:cNvPr id="11" name="Shape 7"/>
          <p:cNvSpPr/>
          <p:nvPr/>
        </p:nvSpPr>
        <p:spPr>
          <a:xfrm>
            <a:off x="6766560" y="2496312"/>
            <a:ext cx="411480" cy="411480"/>
          </a:xfrm>
          <a:prstGeom prst="ellipse">
            <a:avLst/>
          </a:prstGeom>
          <a:solidFill>
            <a:srgbClr val="D4AF37"/>
          </a:solidFill>
          <a:ln w="12700">
            <a:solidFill>
              <a:srgbClr val="D4AF37"/>
            </a:solidFill>
            <a:prstDash val="solid"/>
          </a:ln>
        </p:spPr>
      </p:sp>
      <p:sp>
        <p:nvSpPr>
          <p:cNvPr id="12" name="Text 8"/>
          <p:cNvSpPr txBox="1"/>
          <p:nvPr/>
        </p:nvSpPr>
        <p:spPr>
          <a:xfrm>
            <a:off x="6766560" y="2496312"/>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2</a:t>
            </a:r>
            <a:endParaRPr lang="en-US" sz="1300" dirty="0"/>
          </a:p>
        </p:txBody>
      </p:sp>
      <p:sp>
        <p:nvSpPr>
          <p:cNvPr id="13" name="Text 9"/>
          <p:cNvSpPr txBox="1"/>
          <p:nvPr/>
        </p:nvSpPr>
        <p:spPr>
          <a:xfrm>
            <a:off x="7360920" y="2450592"/>
            <a:ext cx="428213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Remove R70</a:t>
            </a:r>
            <a:endParaRPr lang="en-US" sz="1600" dirty="0"/>
          </a:p>
        </p:txBody>
      </p:sp>
      <p:sp>
        <p:nvSpPr>
          <p:cNvPr id="14" name="Text 10"/>
          <p:cNvSpPr txBox="1"/>
          <p:nvPr/>
        </p:nvSpPr>
        <p:spPr>
          <a:xfrm>
            <a:off x="7360920" y="2752344"/>
            <a:ext cx="4282135" cy="3200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the 10 ohm resistor in the mic ground path</a:t>
            </a:r>
            <a:endParaRPr lang="en-US" sz="1300" dirty="0"/>
          </a:p>
        </p:txBody>
      </p:sp>
      <p:sp>
        <p:nvSpPr>
          <p:cNvPr id="15" name="Shape 11"/>
          <p:cNvSpPr/>
          <p:nvPr/>
        </p:nvSpPr>
        <p:spPr>
          <a:xfrm>
            <a:off x="6766560" y="3209544"/>
            <a:ext cx="411480" cy="411480"/>
          </a:xfrm>
          <a:prstGeom prst="ellipse">
            <a:avLst/>
          </a:prstGeom>
          <a:solidFill>
            <a:srgbClr val="D4AF37"/>
          </a:solidFill>
          <a:ln w="12700">
            <a:solidFill>
              <a:srgbClr val="D4AF37"/>
            </a:solidFill>
            <a:prstDash val="solid"/>
          </a:ln>
        </p:spPr>
      </p:sp>
      <p:sp>
        <p:nvSpPr>
          <p:cNvPr id="16" name="Text 12"/>
          <p:cNvSpPr txBox="1"/>
          <p:nvPr/>
        </p:nvSpPr>
        <p:spPr>
          <a:xfrm>
            <a:off x="6766560" y="3209544"/>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3</a:t>
            </a:r>
            <a:endParaRPr lang="en-US" sz="1300" dirty="0"/>
          </a:p>
        </p:txBody>
      </p:sp>
      <p:sp>
        <p:nvSpPr>
          <p:cNvPr id="17" name="Text 13"/>
          <p:cNvSpPr txBox="1"/>
          <p:nvPr/>
        </p:nvSpPr>
        <p:spPr>
          <a:xfrm>
            <a:off x="7360920" y="3163824"/>
            <a:ext cx="428213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Wire PB11 to jack pin 3</a:t>
            </a:r>
            <a:endParaRPr lang="en-US" sz="1600" dirty="0"/>
          </a:p>
        </p:txBody>
      </p:sp>
      <p:sp>
        <p:nvSpPr>
          <p:cNvPr id="18" name="Text 14"/>
          <p:cNvSpPr txBox="1"/>
          <p:nvPr/>
        </p:nvSpPr>
        <p:spPr>
          <a:xfrm>
            <a:off x="7360920" y="3465576"/>
            <a:ext cx="4282135" cy="3200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the SWDIO pad becomes the ring: dah</a:t>
            </a:r>
            <a:endParaRPr lang="en-US" sz="1300" dirty="0"/>
          </a:p>
        </p:txBody>
      </p:sp>
      <p:sp>
        <p:nvSpPr>
          <p:cNvPr id="19" name="Shape 15"/>
          <p:cNvSpPr/>
          <p:nvPr/>
        </p:nvSpPr>
        <p:spPr>
          <a:xfrm>
            <a:off x="6766560" y="3922776"/>
            <a:ext cx="411480" cy="411480"/>
          </a:xfrm>
          <a:prstGeom prst="ellipse">
            <a:avLst/>
          </a:prstGeom>
          <a:solidFill>
            <a:srgbClr val="D4AF37"/>
          </a:solidFill>
          <a:ln w="12700">
            <a:solidFill>
              <a:srgbClr val="D4AF37"/>
            </a:solidFill>
            <a:prstDash val="solid"/>
          </a:ln>
        </p:spPr>
      </p:sp>
      <p:sp>
        <p:nvSpPr>
          <p:cNvPr id="20" name="Text 16"/>
          <p:cNvSpPr txBox="1"/>
          <p:nvPr/>
        </p:nvSpPr>
        <p:spPr>
          <a:xfrm>
            <a:off x="6766560" y="3922776"/>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4</a:t>
            </a:r>
            <a:endParaRPr lang="en-US" sz="1300" dirty="0"/>
          </a:p>
        </p:txBody>
      </p:sp>
      <p:sp>
        <p:nvSpPr>
          <p:cNvPr id="21" name="Text 17"/>
          <p:cNvSpPr txBox="1"/>
          <p:nvPr/>
        </p:nvSpPr>
        <p:spPr>
          <a:xfrm>
            <a:off x="7360920" y="3877056"/>
            <a:ext cx="428213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Wire PTT to jack pin 2</a:t>
            </a:r>
            <a:endParaRPr lang="en-US" sz="1600" dirty="0"/>
          </a:p>
        </p:txBody>
      </p:sp>
      <p:sp>
        <p:nvSpPr>
          <p:cNvPr id="22" name="Text 18"/>
          <p:cNvSpPr txBox="1"/>
          <p:nvPr/>
        </p:nvSpPr>
        <p:spPr>
          <a:xfrm>
            <a:off x="7360920" y="4178808"/>
            <a:ext cx="4282135" cy="3200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the PTT line becomes the tip: dit</a:t>
            </a:r>
            <a:endParaRPr lang="en-US" sz="1300" dirty="0"/>
          </a:p>
        </p:txBody>
      </p:sp>
      <p:sp>
        <p:nvSpPr>
          <p:cNvPr id="23" name="Shape 19"/>
          <p:cNvSpPr/>
          <p:nvPr/>
        </p:nvSpPr>
        <p:spPr>
          <a:xfrm>
            <a:off x="6766560" y="4663440"/>
            <a:ext cx="4876495" cy="1600200"/>
          </a:xfrm>
          <a:prstGeom prst="roundRect">
            <a:avLst>
              <a:gd name="adj" fmla="val 6857"/>
            </a:avLst>
          </a:prstGeom>
          <a:solidFill>
            <a:srgbClr val="2A2520"/>
          </a:solidFill>
          <a:ln w="12700">
            <a:solidFill>
              <a:srgbClr val="2A2520"/>
            </a:solidFill>
            <a:prstDash val="solid"/>
          </a:ln>
        </p:spPr>
      </p:sp>
      <p:sp>
        <p:nvSpPr>
          <p:cNvPr id="24" name="Text 20"/>
          <p:cNvSpPr txBox="1"/>
          <p:nvPr/>
        </p:nvSpPr>
        <p:spPr>
          <a:xfrm>
            <a:off x="6995160" y="4754880"/>
            <a:ext cx="4419295" cy="1463040"/>
          </a:xfrm>
          <a:prstGeom prst="rect">
            <a:avLst/>
          </a:prstGeom>
          <a:noFill/>
          <a:ln/>
        </p:spPr>
        <p:txBody>
          <a:bodyPr wrap="square" lIns="0" tIns="0" rIns="0" bIns="0" rtlCol="0" anchor="t"/>
          <a:lstStyle/>
          <a:p>
            <a:pPr algn="l" indent="0" marL="0">
              <a:lnSpc>
                <a:spcPct val="110000"/>
              </a:lnSpc>
              <a:buNone/>
            </a:pPr>
            <a:r>
              <a:rPr lang="en-US" sz="1250" dirty="0">
                <a:solidFill>
                  <a:srgbClr val="F2EBDD"/>
                </a:solidFill>
                <a:latin typeface="Calibri" pitchFamily="34" charset="0"/>
                <a:ea typeface="Calibri" pitchFamily="34" charset="-122"/>
                <a:cs typeface="Calibri" pitchFamily="34" charset="-120"/>
              </a:rPr>
              <a:t>In CW mode the firmware pulls serial TX low so the sleeve acts as ground, then reads PTT as dit and PB11 as dah.</a:t>
            </a:r>
            <a:endParaRPr lang="en-US" sz="1250" dirty="0"/>
          </a:p>
          <a:p>
            <a:pPr algn="l" indent="0" marL="0">
              <a:lnSpc>
                <a:spcPct val="110000"/>
              </a:lnSpc>
              <a:buNone/>
            </a:pPr>
            <a:endParaRPr lang="en-US" sz="1250" dirty="0"/>
          </a:p>
          <a:p>
            <a:pPr algn="l" indent="0" marL="0">
              <a:lnSpc>
                <a:spcPct val="110000"/>
              </a:lnSpc>
              <a:buNone/>
            </a:pPr>
            <a:r>
              <a:rPr lang="en-US" sz="1250" dirty="0">
                <a:solidFill>
                  <a:srgbClr val="F2EBDD"/>
                </a:solidFill>
                <a:latin typeface="Calibri" pitchFamily="34" charset="0"/>
                <a:ea typeface="Calibri" pitchFamily="34" charset="-122"/>
                <a:cs typeface="Calibri" pitchFamily="34" charset="-120"/>
              </a:rPr>
              <a:t>Designators are from the K5 v1 schematic. The K1 moved the parts; the circuit is identical. Costs: external mic PTT, +5 V on the headset port, and SWD debug. Unplug the paddle for FM.</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Opening the K1</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Two screws, one pry, one ribbon, one display latch. No ring nuts, no front screws.</a:t>
            </a:r>
            <a:endParaRPr lang="en-US" sz="1600" dirty="0"/>
          </a:p>
        </p:txBody>
      </p:sp>
      <p:sp>
        <p:nvSpPr>
          <p:cNvPr id="5" name="Shape 2"/>
          <p:cNvSpPr/>
          <p:nvPr/>
        </p:nvSpPr>
        <p:spPr>
          <a:xfrm>
            <a:off x="548640" y="1856232"/>
            <a:ext cx="411480" cy="411480"/>
          </a:xfrm>
          <a:prstGeom prst="ellipse">
            <a:avLst/>
          </a:prstGeom>
          <a:solidFill>
            <a:srgbClr val="D4AF37"/>
          </a:solidFill>
          <a:ln w="12700">
            <a:solidFill>
              <a:srgbClr val="D4AF37"/>
            </a:solidFill>
            <a:prstDash val="solid"/>
          </a:ln>
        </p:spPr>
      </p:sp>
      <p:sp>
        <p:nvSpPr>
          <p:cNvPr id="6" name="Text 3"/>
          <p:cNvSpPr txBox="1"/>
          <p:nvPr/>
        </p:nvSpPr>
        <p:spPr>
          <a:xfrm>
            <a:off x="548640" y="1856232"/>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1</a:t>
            </a:r>
            <a:endParaRPr lang="en-US" sz="1300" dirty="0"/>
          </a:p>
        </p:txBody>
      </p:sp>
      <p:sp>
        <p:nvSpPr>
          <p:cNvPr id="7" name="Text 4"/>
          <p:cNvSpPr txBox="1"/>
          <p:nvPr/>
        </p:nvSpPr>
        <p:spPr>
          <a:xfrm>
            <a:off x="1143000" y="1828800"/>
            <a:ext cx="4815688"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Strip it</a:t>
            </a:r>
            <a:endParaRPr lang="en-US" sz="1600" dirty="0"/>
          </a:p>
        </p:txBody>
      </p:sp>
      <p:sp>
        <p:nvSpPr>
          <p:cNvPr id="8" name="Text 5"/>
          <p:cNvSpPr txBox="1"/>
          <p:nvPr/>
        </p:nvSpPr>
        <p:spPr>
          <a:xfrm>
            <a:off x="1143000" y="2148840"/>
            <a:ext cx="4815688" cy="73152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Battery, volume knob and antenna off. Leave the ring nuts alone.</a:t>
            </a:r>
            <a:endParaRPr lang="en-US" sz="1300" dirty="0"/>
          </a:p>
        </p:txBody>
      </p:sp>
      <p:sp>
        <p:nvSpPr>
          <p:cNvPr id="9" name="Shape 6"/>
          <p:cNvSpPr/>
          <p:nvPr/>
        </p:nvSpPr>
        <p:spPr>
          <a:xfrm>
            <a:off x="548640" y="2935224"/>
            <a:ext cx="411480" cy="411480"/>
          </a:xfrm>
          <a:prstGeom prst="ellipse">
            <a:avLst/>
          </a:prstGeom>
          <a:solidFill>
            <a:srgbClr val="D4AF37"/>
          </a:solidFill>
          <a:ln w="12700">
            <a:solidFill>
              <a:srgbClr val="D4AF37"/>
            </a:solidFill>
            <a:prstDash val="solid"/>
          </a:ln>
        </p:spPr>
      </p:sp>
      <p:sp>
        <p:nvSpPr>
          <p:cNvPr id="10" name="Text 7"/>
          <p:cNvSpPr txBox="1"/>
          <p:nvPr/>
        </p:nvSpPr>
        <p:spPr>
          <a:xfrm>
            <a:off x="548640" y="2935224"/>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2</a:t>
            </a:r>
            <a:endParaRPr lang="en-US" sz="1300" dirty="0"/>
          </a:p>
        </p:txBody>
      </p:sp>
      <p:sp>
        <p:nvSpPr>
          <p:cNvPr id="11" name="Text 8"/>
          <p:cNvSpPr txBox="1"/>
          <p:nvPr/>
        </p:nvSpPr>
        <p:spPr>
          <a:xfrm>
            <a:off x="1143000" y="2907792"/>
            <a:ext cx="4815688"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Two screws only</a:t>
            </a:r>
            <a:endParaRPr lang="en-US" sz="1600" dirty="0"/>
          </a:p>
        </p:txBody>
      </p:sp>
      <p:sp>
        <p:nvSpPr>
          <p:cNvPr id="12" name="Text 9"/>
          <p:cNvSpPr txBox="1"/>
          <p:nvPr/>
        </p:nvSpPr>
        <p:spPr>
          <a:xfrm>
            <a:off x="1143000" y="3227832"/>
            <a:ext cx="4815688" cy="73152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The two behind the battery at the lower edge. The front screws and the ones by the battery release do not matter.</a:t>
            </a:r>
            <a:endParaRPr lang="en-US" sz="1300" dirty="0"/>
          </a:p>
        </p:txBody>
      </p:sp>
      <p:sp>
        <p:nvSpPr>
          <p:cNvPr id="13" name="Shape 10"/>
          <p:cNvSpPr/>
          <p:nvPr/>
        </p:nvSpPr>
        <p:spPr>
          <a:xfrm>
            <a:off x="548640" y="4014216"/>
            <a:ext cx="411480" cy="411480"/>
          </a:xfrm>
          <a:prstGeom prst="ellipse">
            <a:avLst/>
          </a:prstGeom>
          <a:solidFill>
            <a:srgbClr val="D4AF37"/>
          </a:solidFill>
          <a:ln w="12700">
            <a:solidFill>
              <a:srgbClr val="D4AF37"/>
            </a:solidFill>
            <a:prstDash val="solid"/>
          </a:ln>
        </p:spPr>
      </p:sp>
      <p:sp>
        <p:nvSpPr>
          <p:cNvPr id="14" name="Text 11"/>
          <p:cNvSpPr txBox="1"/>
          <p:nvPr/>
        </p:nvSpPr>
        <p:spPr>
          <a:xfrm>
            <a:off x="548640" y="4014216"/>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3</a:t>
            </a:r>
            <a:endParaRPr lang="en-US" sz="1300" dirty="0"/>
          </a:p>
        </p:txBody>
      </p:sp>
      <p:sp>
        <p:nvSpPr>
          <p:cNvPr id="15" name="Text 12"/>
          <p:cNvSpPr txBox="1"/>
          <p:nvPr/>
        </p:nvSpPr>
        <p:spPr>
          <a:xfrm>
            <a:off x="1143000" y="3986784"/>
            <a:ext cx="4815688"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Pry the lower edge</a:t>
            </a:r>
            <a:endParaRPr lang="en-US" sz="1600" dirty="0"/>
          </a:p>
        </p:txBody>
      </p:sp>
      <p:sp>
        <p:nvSpPr>
          <p:cNvPr id="16" name="Text 13"/>
          <p:cNvSpPr txBox="1"/>
          <p:nvPr/>
        </p:nvSpPr>
        <p:spPr>
          <a:xfrm>
            <a:off x="1143000" y="4306824"/>
            <a:ext cx="4815688" cy="73152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Between the plastic chassis and the inner metal back. Front of the radio facing down so the keypad stays put.</a:t>
            </a:r>
            <a:endParaRPr lang="en-US" sz="1300" dirty="0"/>
          </a:p>
        </p:txBody>
      </p:sp>
      <p:sp>
        <p:nvSpPr>
          <p:cNvPr id="17" name="Shape 14"/>
          <p:cNvSpPr/>
          <p:nvPr/>
        </p:nvSpPr>
        <p:spPr>
          <a:xfrm>
            <a:off x="548640" y="5093208"/>
            <a:ext cx="411480" cy="411480"/>
          </a:xfrm>
          <a:prstGeom prst="ellipse">
            <a:avLst/>
          </a:prstGeom>
          <a:solidFill>
            <a:srgbClr val="D4AF37"/>
          </a:solidFill>
          <a:ln w="12700">
            <a:solidFill>
              <a:srgbClr val="D4AF37"/>
            </a:solidFill>
            <a:prstDash val="solid"/>
          </a:ln>
        </p:spPr>
      </p:sp>
      <p:sp>
        <p:nvSpPr>
          <p:cNvPr id="18" name="Text 15"/>
          <p:cNvSpPr txBox="1"/>
          <p:nvPr/>
        </p:nvSpPr>
        <p:spPr>
          <a:xfrm>
            <a:off x="548640" y="5093208"/>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4</a:t>
            </a:r>
            <a:endParaRPr lang="en-US" sz="1300" dirty="0"/>
          </a:p>
        </p:txBody>
      </p:sp>
      <p:sp>
        <p:nvSpPr>
          <p:cNvPr id="19" name="Text 16"/>
          <p:cNvSpPr txBox="1"/>
          <p:nvPr/>
        </p:nvSpPr>
        <p:spPr>
          <a:xfrm>
            <a:off x="1143000" y="5065776"/>
            <a:ext cx="4815688"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Slide, then stop</a:t>
            </a:r>
            <a:endParaRPr lang="en-US" sz="1600" dirty="0"/>
          </a:p>
        </p:txBody>
      </p:sp>
      <p:sp>
        <p:nvSpPr>
          <p:cNvPr id="20" name="Text 17"/>
          <p:cNvSpPr txBox="1"/>
          <p:nvPr/>
        </p:nvSpPr>
        <p:spPr>
          <a:xfrm>
            <a:off x="1143000" y="5385816"/>
            <a:ext cx="4815688" cy="73152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The inner metal releases and slides down. Only until the volume stem clears the chassis. Do not pull it away yet.</a:t>
            </a:r>
            <a:endParaRPr lang="en-US" sz="1300" dirty="0"/>
          </a:p>
        </p:txBody>
      </p:sp>
      <p:sp>
        <p:nvSpPr>
          <p:cNvPr id="21" name="Shape 18"/>
          <p:cNvSpPr/>
          <p:nvPr/>
        </p:nvSpPr>
        <p:spPr>
          <a:xfrm>
            <a:off x="6233008" y="1856232"/>
            <a:ext cx="411480" cy="411480"/>
          </a:xfrm>
          <a:prstGeom prst="ellipse">
            <a:avLst/>
          </a:prstGeom>
          <a:solidFill>
            <a:srgbClr val="D4AF37"/>
          </a:solidFill>
          <a:ln w="12700">
            <a:solidFill>
              <a:srgbClr val="D4AF37"/>
            </a:solidFill>
            <a:prstDash val="solid"/>
          </a:ln>
        </p:spPr>
      </p:sp>
      <p:sp>
        <p:nvSpPr>
          <p:cNvPr id="22" name="Text 19"/>
          <p:cNvSpPr txBox="1"/>
          <p:nvPr/>
        </p:nvSpPr>
        <p:spPr>
          <a:xfrm>
            <a:off x="6233008" y="1856232"/>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5</a:t>
            </a:r>
            <a:endParaRPr lang="en-US" sz="1300" dirty="0"/>
          </a:p>
        </p:txBody>
      </p:sp>
      <p:sp>
        <p:nvSpPr>
          <p:cNvPr id="23" name="Text 20"/>
          <p:cNvSpPr txBox="1"/>
          <p:nvPr/>
        </p:nvSpPr>
        <p:spPr>
          <a:xfrm>
            <a:off x="6827368" y="1828800"/>
            <a:ext cx="4815688"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Respect the flex circuit</a:t>
            </a:r>
            <a:endParaRPr lang="en-US" sz="1600" dirty="0"/>
          </a:p>
        </p:txBody>
      </p:sp>
      <p:sp>
        <p:nvSpPr>
          <p:cNvPr id="24" name="Text 21"/>
          <p:cNvSpPr txBox="1"/>
          <p:nvPr/>
        </p:nvSpPr>
        <p:spPr>
          <a:xfrm>
            <a:off x="6827368" y="2148840"/>
            <a:ext cx="4815688" cy="73152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A thin ribbon links the board to the front half. Do not over-flex or twist it.</a:t>
            </a:r>
            <a:endParaRPr lang="en-US" sz="1300" dirty="0"/>
          </a:p>
        </p:txBody>
      </p:sp>
      <p:sp>
        <p:nvSpPr>
          <p:cNvPr id="25" name="Shape 22"/>
          <p:cNvSpPr/>
          <p:nvPr/>
        </p:nvSpPr>
        <p:spPr>
          <a:xfrm>
            <a:off x="6233008" y="2935224"/>
            <a:ext cx="411480" cy="411480"/>
          </a:xfrm>
          <a:prstGeom prst="ellipse">
            <a:avLst/>
          </a:prstGeom>
          <a:solidFill>
            <a:srgbClr val="D4AF37"/>
          </a:solidFill>
          <a:ln w="12700">
            <a:solidFill>
              <a:srgbClr val="D4AF37"/>
            </a:solidFill>
            <a:prstDash val="solid"/>
          </a:ln>
        </p:spPr>
      </p:sp>
      <p:sp>
        <p:nvSpPr>
          <p:cNvPr id="26" name="Text 23"/>
          <p:cNvSpPr txBox="1"/>
          <p:nvPr/>
        </p:nvSpPr>
        <p:spPr>
          <a:xfrm>
            <a:off x="6233008" y="2935224"/>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6</a:t>
            </a:r>
            <a:endParaRPr lang="en-US" sz="1300" dirty="0"/>
          </a:p>
        </p:txBody>
      </p:sp>
      <p:sp>
        <p:nvSpPr>
          <p:cNvPr id="27" name="Text 24"/>
          <p:cNvSpPr txBox="1"/>
          <p:nvPr/>
        </p:nvSpPr>
        <p:spPr>
          <a:xfrm>
            <a:off x="6827368" y="2907792"/>
            <a:ext cx="4815688"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Unlatch the ribbon</a:t>
            </a:r>
            <a:endParaRPr lang="en-US" sz="1600" dirty="0"/>
          </a:p>
        </p:txBody>
      </p:sp>
      <p:sp>
        <p:nvSpPr>
          <p:cNvPr id="28" name="Text 25"/>
          <p:cNvSpPr txBox="1"/>
          <p:nvPr/>
        </p:nvSpPr>
        <p:spPr>
          <a:xfrm>
            <a:off x="6827368" y="3227832"/>
            <a:ext cx="4815688" cy="73152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Pry the socket door on the side opposite the ribbon entry. It pivots up and the ribbon slides out. Halves are now separate.</a:t>
            </a:r>
            <a:endParaRPr lang="en-US" sz="1300" dirty="0"/>
          </a:p>
        </p:txBody>
      </p:sp>
      <p:sp>
        <p:nvSpPr>
          <p:cNvPr id="29" name="Shape 26"/>
          <p:cNvSpPr/>
          <p:nvPr/>
        </p:nvSpPr>
        <p:spPr>
          <a:xfrm>
            <a:off x="6233008" y="4014216"/>
            <a:ext cx="411480" cy="411480"/>
          </a:xfrm>
          <a:prstGeom prst="ellipse">
            <a:avLst/>
          </a:prstGeom>
          <a:solidFill>
            <a:srgbClr val="D4AF37"/>
          </a:solidFill>
          <a:ln w="12700">
            <a:solidFill>
              <a:srgbClr val="D4AF37"/>
            </a:solidFill>
            <a:prstDash val="solid"/>
          </a:ln>
        </p:spPr>
      </p:sp>
      <p:sp>
        <p:nvSpPr>
          <p:cNvPr id="30" name="Text 27"/>
          <p:cNvSpPr txBox="1"/>
          <p:nvPr/>
        </p:nvSpPr>
        <p:spPr>
          <a:xfrm>
            <a:off x="6233008" y="4014216"/>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7</a:t>
            </a:r>
            <a:endParaRPr lang="en-US" sz="1300" dirty="0"/>
          </a:p>
        </p:txBody>
      </p:sp>
      <p:sp>
        <p:nvSpPr>
          <p:cNvPr id="31" name="Text 28"/>
          <p:cNvSpPr txBox="1"/>
          <p:nvPr/>
        </p:nvSpPr>
        <p:spPr>
          <a:xfrm>
            <a:off x="6827368" y="3986784"/>
            <a:ext cx="4815688"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Free the display</a:t>
            </a:r>
            <a:endParaRPr lang="en-US" sz="1600" dirty="0"/>
          </a:p>
        </p:txBody>
      </p:sp>
      <p:sp>
        <p:nvSpPr>
          <p:cNvPr id="32" name="Text 29"/>
          <p:cNvSpPr txBox="1"/>
          <p:nvPr/>
        </p:nvSpPr>
        <p:spPr>
          <a:xfrm>
            <a:off x="6827368" y="4306824"/>
            <a:ext cx="4815688" cy="73152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Press in at the lower-left corner of the display frame with a plastic spudger, wiggle, and hinge it up over the top edge.</a:t>
            </a:r>
            <a:endParaRPr lang="en-US" sz="1300" dirty="0"/>
          </a:p>
        </p:txBody>
      </p:sp>
      <p:sp>
        <p:nvSpPr>
          <p:cNvPr id="33" name="Shape 30"/>
          <p:cNvSpPr/>
          <p:nvPr/>
        </p:nvSpPr>
        <p:spPr>
          <a:xfrm>
            <a:off x="6233008" y="5074920"/>
            <a:ext cx="5410048" cy="1188720"/>
          </a:xfrm>
          <a:prstGeom prst="roundRect">
            <a:avLst>
              <a:gd name="adj" fmla="val 9231"/>
            </a:avLst>
          </a:prstGeom>
          <a:solidFill>
            <a:srgbClr val="2A2520"/>
          </a:solidFill>
          <a:ln w="12700">
            <a:solidFill>
              <a:srgbClr val="2A2520"/>
            </a:solidFill>
            <a:prstDash val="solid"/>
          </a:ln>
        </p:spPr>
      </p:sp>
      <p:sp>
        <p:nvSpPr>
          <p:cNvPr id="34" name="Shape 31"/>
          <p:cNvSpPr/>
          <p:nvPr/>
        </p:nvSpPr>
        <p:spPr>
          <a:xfrm>
            <a:off x="6461608" y="5394960"/>
            <a:ext cx="548640" cy="548640"/>
          </a:xfrm>
          <a:prstGeom prst="ellipse">
            <a:avLst/>
          </a:prstGeom>
          <a:solidFill>
            <a:srgbClr val="D4AF37"/>
          </a:solidFill>
          <a:ln w="12700">
            <a:solidFill>
              <a:srgbClr val="D4AF37"/>
            </a:solidFill>
            <a:prstDash val="solid"/>
          </a:ln>
        </p:spPr>
      </p:sp>
      <p:pic>
        <p:nvPicPr>
          <p:cNvPr id="35" name="Image 0" descr="preencoded.png">    </p:cNvPr>
          <p:cNvPicPr>
            <a:picLocks noChangeAspect="1"/>
          </p:cNvPicPr>
          <p:nvPr/>
        </p:nvPicPr>
        <p:blipFill>
          <a:blip r:embed="rId1"/>
          <a:stretch>
            <a:fillRect/>
          </a:stretch>
        </p:blipFill>
        <p:spPr>
          <a:xfrm>
            <a:off x="6609740" y="5543093"/>
            <a:ext cx="252374" cy="252374"/>
          </a:xfrm>
          <a:prstGeom prst="rect">
            <a:avLst/>
          </a:prstGeom>
        </p:spPr>
      </p:pic>
      <p:sp>
        <p:nvSpPr>
          <p:cNvPr id="36" name="Text 32"/>
          <p:cNvSpPr txBox="1"/>
          <p:nvPr/>
        </p:nvSpPr>
        <p:spPr>
          <a:xfrm>
            <a:off x="7193128" y="5212080"/>
            <a:ext cx="3947008" cy="914400"/>
          </a:xfrm>
          <a:prstGeom prst="rect">
            <a:avLst/>
          </a:prstGeom>
          <a:noFill/>
          <a:ln/>
        </p:spPr>
        <p:txBody>
          <a:bodyPr wrap="square" lIns="0" tIns="0" rIns="0" bIns="0" rtlCol="0" anchor="ctr"/>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The ribbon is the fragile part. One of ours yanked it clean out of the board and now owns a radio that only blinks. Door first, then ribbon.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Step one: two resistors off</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The only step that needs a steady hand. Two tiny parts, one careful minute.</a:t>
            </a:r>
            <a:endParaRPr lang="en-US" sz="1600" dirty="0"/>
          </a:p>
        </p:txBody>
      </p:sp>
      <p:pic>
        <p:nvPicPr>
          <p:cNvPr id="5" name="Image 0" descr="/tmp/claude-0/-home-user-bkg-club/dd98b25f-744f-5b52-bca4-d25dd18876d9/scratchpad/img/k1_resistors.jpg">    </p:cNvPr>
          <p:cNvPicPr>
            <a:picLocks noChangeAspect="1"/>
          </p:cNvPicPr>
          <p:nvPr/>
        </p:nvPicPr>
        <p:blipFill>
          <a:blip r:embed="rId1"/>
          <a:stretch>
            <a:fillRect/>
          </a:stretch>
        </p:blipFill>
        <p:spPr>
          <a:xfrm>
            <a:off x="548640" y="1737360"/>
            <a:ext cx="3319272" cy="4389120"/>
          </a:xfrm>
          <a:prstGeom prst="rect">
            <a:avLst/>
          </a:prstGeom>
        </p:spPr>
      </p:pic>
      <p:sp>
        <p:nvSpPr>
          <p:cNvPr id="6" name="Text 2"/>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7D7466"/>
                </a:solidFill>
                <a:latin typeface="Calibri" pitchFamily="34" charset="0"/>
                <a:ea typeface="Calibri" pitchFamily="34" charset="-122"/>
                <a:cs typeface="Calibri" pitchFamily="34" charset="-120"/>
              </a:rPr>
              <a:t>Photo: NR7Y CW Firmware Docs, UV-K1 rework page (CC BY-NC-SA 4.0). The full-resolution version is on the docs site.</a:t>
            </a:r>
            <a:endParaRPr lang="en-US" sz="1000" dirty="0"/>
          </a:p>
        </p:txBody>
      </p:sp>
      <p:sp>
        <p:nvSpPr>
          <p:cNvPr id="7" name="Shape 3"/>
          <p:cNvSpPr/>
          <p:nvPr/>
        </p:nvSpPr>
        <p:spPr>
          <a:xfrm>
            <a:off x="4206240" y="1764792"/>
            <a:ext cx="411480" cy="411480"/>
          </a:xfrm>
          <a:prstGeom prst="ellipse">
            <a:avLst/>
          </a:prstGeom>
          <a:solidFill>
            <a:srgbClr val="D4AF37"/>
          </a:solidFill>
          <a:ln w="12700">
            <a:solidFill>
              <a:srgbClr val="D4AF37"/>
            </a:solidFill>
            <a:prstDash val="solid"/>
          </a:ln>
        </p:spPr>
      </p:sp>
      <p:sp>
        <p:nvSpPr>
          <p:cNvPr id="8" name="Text 4"/>
          <p:cNvSpPr txBox="1"/>
          <p:nvPr/>
        </p:nvSpPr>
        <p:spPr>
          <a:xfrm>
            <a:off x="4206240" y="1764792"/>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1</a:t>
            </a:r>
            <a:endParaRPr lang="en-US" sz="1300" dirty="0"/>
          </a:p>
        </p:txBody>
      </p:sp>
      <p:sp>
        <p:nvSpPr>
          <p:cNvPr id="9" name="Text 5"/>
          <p:cNvSpPr txBox="1"/>
          <p:nvPr/>
        </p:nvSpPr>
        <p:spPr>
          <a:xfrm>
            <a:off x="4800600" y="1737360"/>
            <a:ext cx="6842455" cy="320040"/>
          </a:xfrm>
          <a:prstGeom prst="rect">
            <a:avLst/>
          </a:prstGeom>
          <a:noFill/>
          <a:ln/>
        </p:spPr>
        <p:txBody>
          <a:bodyPr wrap="square" lIns="0" tIns="0" rIns="0" bIns="0" rtlCol="0" anchor="t"/>
          <a:lstStyle/>
          <a:p>
            <a:pPr algn="l" indent="0" marL="0">
              <a:lnSpc>
                <a:spcPct val="110000"/>
              </a:lnSpc>
              <a:buNone/>
            </a:pPr>
            <a:r>
              <a:rPr lang="en-US" sz="1700" b="1" dirty="0">
                <a:solidFill>
                  <a:srgbClr val="F2EBDD"/>
                </a:solidFill>
                <a:latin typeface="Calibri" pitchFamily="34" charset="0"/>
                <a:ea typeface="Calibri" pitchFamily="34" charset="-122"/>
                <a:cs typeface="Calibri" pitchFamily="34" charset="-120"/>
              </a:rPr>
              <a:t>Find them</a:t>
            </a:r>
            <a:endParaRPr lang="en-US" sz="1700" dirty="0"/>
          </a:p>
        </p:txBody>
      </p:sp>
      <p:sp>
        <p:nvSpPr>
          <p:cNvPr id="10" name="Text 6"/>
          <p:cNvSpPr txBox="1"/>
          <p:nvPr/>
        </p:nvSpPr>
        <p:spPr>
          <a:xfrm>
            <a:off x="4800600" y="2075688"/>
            <a:ext cx="6842455" cy="731520"/>
          </a:xfrm>
          <a:prstGeom prst="rect">
            <a:avLst/>
          </a:prstGeom>
          <a:noFill/>
          <a:ln/>
        </p:spPr>
        <p:txBody>
          <a:bodyPr wrap="square" lIns="0" tIns="0" rIns="0" bIns="0" rtlCol="0" anchor="t"/>
          <a:lstStyle/>
          <a:p>
            <a:pPr algn="l" indent="0" marL="0">
              <a:lnSpc>
                <a:spcPct val="110000"/>
              </a:lnSpc>
              <a:buNone/>
            </a:pPr>
            <a:r>
              <a:rPr lang="en-US" sz="1350" dirty="0">
                <a:solidFill>
                  <a:srgbClr val="B3A995"/>
                </a:solidFill>
                <a:latin typeface="Calibri" pitchFamily="34" charset="0"/>
                <a:ea typeface="Calibri" pitchFamily="34" charset="-122"/>
                <a:cs typeface="Calibri" pitchFamily="34" charset="-120"/>
              </a:rPr>
              <a:t>Two 0402-size resistors on the pads right beside the headset jack, circled in yellow. Confirm with the full-res photo on the docs page before heating anything.</a:t>
            </a:r>
            <a:endParaRPr lang="en-US" sz="1350" dirty="0"/>
          </a:p>
        </p:txBody>
      </p:sp>
      <p:sp>
        <p:nvSpPr>
          <p:cNvPr id="11" name="Shape 7"/>
          <p:cNvSpPr/>
          <p:nvPr/>
        </p:nvSpPr>
        <p:spPr>
          <a:xfrm>
            <a:off x="4206240" y="2862072"/>
            <a:ext cx="411480" cy="411480"/>
          </a:xfrm>
          <a:prstGeom prst="ellipse">
            <a:avLst/>
          </a:prstGeom>
          <a:solidFill>
            <a:srgbClr val="D4AF37"/>
          </a:solidFill>
          <a:ln w="12700">
            <a:solidFill>
              <a:srgbClr val="D4AF37"/>
            </a:solidFill>
            <a:prstDash val="solid"/>
          </a:ln>
        </p:spPr>
      </p:sp>
      <p:sp>
        <p:nvSpPr>
          <p:cNvPr id="12" name="Text 8"/>
          <p:cNvSpPr txBox="1"/>
          <p:nvPr/>
        </p:nvSpPr>
        <p:spPr>
          <a:xfrm>
            <a:off x="4206240" y="2862072"/>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2</a:t>
            </a:r>
            <a:endParaRPr lang="en-US" sz="1300" dirty="0"/>
          </a:p>
        </p:txBody>
      </p:sp>
      <p:sp>
        <p:nvSpPr>
          <p:cNvPr id="13" name="Text 9"/>
          <p:cNvSpPr txBox="1"/>
          <p:nvPr/>
        </p:nvSpPr>
        <p:spPr>
          <a:xfrm>
            <a:off x="4800600" y="2834640"/>
            <a:ext cx="6842455" cy="320040"/>
          </a:xfrm>
          <a:prstGeom prst="rect">
            <a:avLst/>
          </a:prstGeom>
          <a:noFill/>
          <a:ln/>
        </p:spPr>
        <p:txBody>
          <a:bodyPr wrap="square" lIns="0" tIns="0" rIns="0" bIns="0" rtlCol="0" anchor="t"/>
          <a:lstStyle/>
          <a:p>
            <a:pPr algn="l" indent="0" marL="0">
              <a:lnSpc>
                <a:spcPct val="110000"/>
              </a:lnSpc>
              <a:buNone/>
            </a:pPr>
            <a:r>
              <a:rPr lang="en-US" sz="1700" b="1" dirty="0">
                <a:solidFill>
                  <a:srgbClr val="F2EBDD"/>
                </a:solidFill>
                <a:latin typeface="Calibri" pitchFamily="34" charset="0"/>
                <a:ea typeface="Calibri" pitchFamily="34" charset="-122"/>
                <a:cs typeface="Calibri" pitchFamily="34" charset="-120"/>
              </a:rPr>
              <a:t>Heat, do not pull</a:t>
            </a:r>
            <a:endParaRPr lang="en-US" sz="1700" dirty="0"/>
          </a:p>
        </p:txBody>
      </p:sp>
      <p:sp>
        <p:nvSpPr>
          <p:cNvPr id="14" name="Text 10"/>
          <p:cNvSpPr txBox="1"/>
          <p:nvPr/>
        </p:nvSpPr>
        <p:spPr>
          <a:xfrm>
            <a:off x="4800600" y="3172968"/>
            <a:ext cx="6842455" cy="731520"/>
          </a:xfrm>
          <a:prstGeom prst="rect">
            <a:avLst/>
          </a:prstGeom>
          <a:noFill/>
          <a:ln/>
        </p:spPr>
        <p:txBody>
          <a:bodyPr wrap="square" lIns="0" tIns="0" rIns="0" bIns="0" rtlCol="0" anchor="t"/>
          <a:lstStyle/>
          <a:p>
            <a:pPr algn="l" indent="0" marL="0">
              <a:lnSpc>
                <a:spcPct val="110000"/>
              </a:lnSpc>
              <a:buNone/>
            </a:pPr>
            <a:r>
              <a:rPr lang="en-US" sz="1350" dirty="0">
                <a:solidFill>
                  <a:srgbClr val="B3A995"/>
                </a:solidFill>
                <a:latin typeface="Calibri" pitchFamily="34" charset="0"/>
                <a:ea typeface="Calibri" pitchFamily="34" charset="-122"/>
                <a:cs typeface="Calibri" pitchFamily="34" charset="-120"/>
              </a:rPr>
              <a:t>Dab of solder on the tip. Heat one end, then the other, until the part slides. Or a wide tip across both ends at once. Lift with tweezers.</a:t>
            </a:r>
            <a:endParaRPr lang="en-US" sz="1350" dirty="0"/>
          </a:p>
        </p:txBody>
      </p:sp>
      <p:sp>
        <p:nvSpPr>
          <p:cNvPr id="15" name="Shape 11"/>
          <p:cNvSpPr/>
          <p:nvPr/>
        </p:nvSpPr>
        <p:spPr>
          <a:xfrm>
            <a:off x="4206240" y="3959352"/>
            <a:ext cx="411480" cy="411480"/>
          </a:xfrm>
          <a:prstGeom prst="ellipse">
            <a:avLst/>
          </a:prstGeom>
          <a:solidFill>
            <a:srgbClr val="D4AF37"/>
          </a:solidFill>
          <a:ln w="12700">
            <a:solidFill>
              <a:srgbClr val="D4AF37"/>
            </a:solidFill>
            <a:prstDash val="solid"/>
          </a:ln>
        </p:spPr>
      </p:sp>
      <p:sp>
        <p:nvSpPr>
          <p:cNvPr id="16" name="Text 12"/>
          <p:cNvSpPr txBox="1"/>
          <p:nvPr/>
        </p:nvSpPr>
        <p:spPr>
          <a:xfrm>
            <a:off x="4206240" y="3959352"/>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3</a:t>
            </a:r>
            <a:endParaRPr lang="en-US" sz="1300" dirty="0"/>
          </a:p>
        </p:txBody>
      </p:sp>
      <p:sp>
        <p:nvSpPr>
          <p:cNvPr id="17" name="Text 13"/>
          <p:cNvSpPr txBox="1"/>
          <p:nvPr/>
        </p:nvSpPr>
        <p:spPr>
          <a:xfrm>
            <a:off x="4800600" y="3931920"/>
            <a:ext cx="6842455" cy="320040"/>
          </a:xfrm>
          <a:prstGeom prst="rect">
            <a:avLst/>
          </a:prstGeom>
          <a:noFill/>
          <a:ln/>
        </p:spPr>
        <p:txBody>
          <a:bodyPr wrap="square" lIns="0" tIns="0" rIns="0" bIns="0" rtlCol="0" anchor="t"/>
          <a:lstStyle/>
          <a:p>
            <a:pPr algn="l" indent="0" marL="0">
              <a:lnSpc>
                <a:spcPct val="110000"/>
              </a:lnSpc>
              <a:buNone/>
            </a:pPr>
            <a:r>
              <a:rPr lang="en-US" sz="1700" b="1" dirty="0">
                <a:solidFill>
                  <a:srgbClr val="F2EBDD"/>
                </a:solidFill>
                <a:latin typeface="Calibri" pitchFamily="34" charset="0"/>
                <a:ea typeface="Calibri" pitchFamily="34" charset="-122"/>
                <a:cs typeface="Calibri" pitchFamily="34" charset="-120"/>
              </a:rPr>
              <a:t>Check the pads</a:t>
            </a:r>
            <a:endParaRPr lang="en-US" sz="1700" dirty="0"/>
          </a:p>
        </p:txBody>
      </p:sp>
      <p:sp>
        <p:nvSpPr>
          <p:cNvPr id="18" name="Text 14"/>
          <p:cNvSpPr txBox="1"/>
          <p:nvPr/>
        </p:nvSpPr>
        <p:spPr>
          <a:xfrm>
            <a:off x="4800600" y="4270248"/>
            <a:ext cx="6842455" cy="731520"/>
          </a:xfrm>
          <a:prstGeom prst="rect">
            <a:avLst/>
          </a:prstGeom>
          <a:noFill/>
          <a:ln/>
        </p:spPr>
        <p:txBody>
          <a:bodyPr wrap="square" lIns="0" tIns="0" rIns="0" bIns="0" rtlCol="0" anchor="t"/>
          <a:lstStyle/>
          <a:p>
            <a:pPr algn="l" indent="0" marL="0">
              <a:lnSpc>
                <a:spcPct val="110000"/>
              </a:lnSpc>
              <a:buNone/>
            </a:pPr>
            <a:r>
              <a:rPr lang="en-US" sz="1350" dirty="0">
                <a:solidFill>
                  <a:srgbClr val="B3A995"/>
                </a:solidFill>
                <a:latin typeface="Calibri" pitchFamily="34" charset="0"/>
                <a:ea typeface="Calibri" pitchFamily="34" charset="-122"/>
                <a:cs typeface="Calibri" pitchFamily="34" charset="-120"/>
              </a:rPr>
              <a:t>Both pads still there, no bridges, no stray solder balls. Clean with alcohol. That is the whole step.</a:t>
            </a:r>
            <a:endParaRPr lang="en-US" sz="1350" dirty="0"/>
          </a:p>
        </p:txBody>
      </p:sp>
      <p:sp>
        <p:nvSpPr>
          <p:cNvPr id="19" name="Shape 15"/>
          <p:cNvSpPr/>
          <p:nvPr/>
        </p:nvSpPr>
        <p:spPr>
          <a:xfrm>
            <a:off x="4206240" y="5074920"/>
            <a:ext cx="7436815" cy="1051560"/>
          </a:xfrm>
          <a:prstGeom prst="roundRect">
            <a:avLst>
              <a:gd name="adj" fmla="val 10435"/>
            </a:avLst>
          </a:prstGeom>
          <a:solidFill>
            <a:srgbClr val="2A2520"/>
          </a:solidFill>
          <a:ln w="12700">
            <a:solidFill>
              <a:srgbClr val="2A2520"/>
            </a:solidFill>
            <a:prstDash val="solid"/>
          </a:ln>
        </p:spPr>
      </p:sp>
      <p:sp>
        <p:nvSpPr>
          <p:cNvPr id="20" name="Shape 16"/>
          <p:cNvSpPr/>
          <p:nvPr/>
        </p:nvSpPr>
        <p:spPr>
          <a:xfrm>
            <a:off x="4434840" y="5321808"/>
            <a:ext cx="548640" cy="548640"/>
          </a:xfrm>
          <a:prstGeom prst="ellipse">
            <a:avLst/>
          </a:prstGeom>
          <a:solidFill>
            <a:srgbClr val="D4AF37"/>
          </a:solidFill>
          <a:ln w="12700">
            <a:solidFill>
              <a:srgbClr val="D4AF37"/>
            </a:solidFill>
            <a:prstDash val="solid"/>
          </a:ln>
        </p:spPr>
      </p:sp>
      <p:pic>
        <p:nvPicPr>
          <p:cNvPr id="21" name="Image 1" descr="preencoded.png">    </p:cNvPr>
          <p:cNvPicPr>
            <a:picLocks noChangeAspect="1"/>
          </p:cNvPicPr>
          <p:nvPr/>
        </p:nvPicPr>
        <p:blipFill>
          <a:blip r:embed="rId2"/>
          <a:stretch>
            <a:fillRect/>
          </a:stretch>
        </p:blipFill>
        <p:spPr>
          <a:xfrm>
            <a:off x="4582973" y="5469941"/>
            <a:ext cx="252374" cy="252374"/>
          </a:xfrm>
          <a:prstGeom prst="rect">
            <a:avLst/>
          </a:prstGeom>
        </p:spPr>
      </p:pic>
      <p:sp>
        <p:nvSpPr>
          <p:cNvPr id="22" name="Text 17"/>
          <p:cNvSpPr txBox="1"/>
          <p:nvPr/>
        </p:nvSpPr>
        <p:spPr>
          <a:xfrm>
            <a:off x="5166360" y="5166360"/>
            <a:ext cx="6248095" cy="868680"/>
          </a:xfrm>
          <a:prstGeom prst="rect">
            <a:avLst/>
          </a:prstGeom>
          <a:noFill/>
          <a:ln/>
        </p:spPr>
        <p:txBody>
          <a:bodyPr wrap="square" lIns="0" tIns="0" rIns="0" bIns="0" rtlCol="0" anchor="ctr"/>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"Technically reversible, although the two resistors will vanish the moment you desolder them." And if you lift a pad, the radio is a keychain. Low heat, patience, tweezers.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Step two: two wires on</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About 2 in and 3 in of anything 22 AWG or thinner. Tin the ends first.</a:t>
            </a:r>
            <a:endParaRPr lang="en-US" sz="1600" dirty="0"/>
          </a:p>
        </p:txBody>
      </p:sp>
      <p:pic>
        <p:nvPicPr>
          <p:cNvPr id="5" name="Image 0" descr="/tmp/claude-0/-home-user-bkg-club/dd98b25f-744f-5b52-bca4-d25dd18876d9/scratchpad/img/k1_wires.jpg">    </p:cNvPr>
          <p:cNvPicPr>
            <a:picLocks noChangeAspect="1"/>
          </p:cNvPicPr>
          <p:nvPr/>
        </p:nvPicPr>
        <p:blipFill>
          <a:blip r:embed="rId1"/>
          <a:stretch>
            <a:fillRect/>
          </a:stretch>
        </p:blipFill>
        <p:spPr>
          <a:xfrm>
            <a:off x="548640" y="1737360"/>
            <a:ext cx="2889504" cy="4389120"/>
          </a:xfrm>
          <a:prstGeom prst="rect">
            <a:avLst/>
          </a:prstGeom>
        </p:spPr>
      </p:pic>
      <p:sp>
        <p:nvSpPr>
          <p:cNvPr id="6" name="Text 2"/>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7D7466"/>
                </a:solidFill>
                <a:latin typeface="Calibri" pitchFamily="34" charset="0"/>
                <a:ea typeface="Calibri" pitchFamily="34" charset="-122"/>
                <a:cs typeface="Calibri" pitchFamily="34" charset="-120"/>
              </a:rPr>
              <a:t>Photo: NR7Y CW Firmware Docs, UV-K1 rework page (CC BY-NC-SA 4.0). Wire colors are the author's; use whatever you have.</a:t>
            </a:r>
            <a:endParaRPr lang="en-US" sz="1000" dirty="0"/>
          </a:p>
        </p:txBody>
      </p:sp>
      <p:sp>
        <p:nvSpPr>
          <p:cNvPr id="7" name="Shape 3"/>
          <p:cNvSpPr/>
          <p:nvPr/>
        </p:nvSpPr>
        <p:spPr>
          <a:xfrm>
            <a:off x="3794760" y="1764792"/>
            <a:ext cx="411480" cy="411480"/>
          </a:xfrm>
          <a:prstGeom prst="ellipse">
            <a:avLst/>
          </a:prstGeom>
          <a:solidFill>
            <a:srgbClr val="D4AF37"/>
          </a:solidFill>
          <a:ln w="12700">
            <a:solidFill>
              <a:srgbClr val="D4AF37"/>
            </a:solidFill>
            <a:prstDash val="solid"/>
          </a:ln>
        </p:spPr>
      </p:sp>
      <p:sp>
        <p:nvSpPr>
          <p:cNvPr id="8" name="Text 4"/>
          <p:cNvSpPr txBox="1"/>
          <p:nvPr/>
        </p:nvSpPr>
        <p:spPr>
          <a:xfrm>
            <a:off x="3794760" y="1764792"/>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1</a:t>
            </a:r>
            <a:endParaRPr lang="en-US" sz="1300" dirty="0"/>
          </a:p>
        </p:txBody>
      </p:sp>
      <p:sp>
        <p:nvSpPr>
          <p:cNvPr id="9" name="Text 5"/>
          <p:cNvSpPr txBox="1"/>
          <p:nvPr/>
        </p:nvSpPr>
        <p:spPr>
          <a:xfrm>
            <a:off x="4389120" y="1737360"/>
            <a:ext cx="725393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Short wire (blue, ~2 in)</a:t>
            </a:r>
            <a:endParaRPr lang="en-US" sz="1600" dirty="0"/>
          </a:p>
        </p:txBody>
      </p:sp>
      <p:sp>
        <p:nvSpPr>
          <p:cNvPr id="10" name="Text 6"/>
          <p:cNvSpPr txBox="1"/>
          <p:nvPr/>
        </p:nvSpPr>
        <p:spPr>
          <a:xfrm>
            <a:off x="4389120" y="2075688"/>
            <a:ext cx="7253935" cy="7772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From the solder blob on the left edge of the board over to the pad beside the resistor site next to the headset jack. This carries the PTT line to the jack tip: dit.</a:t>
            </a:r>
            <a:endParaRPr lang="en-US" sz="1300" dirty="0"/>
          </a:p>
        </p:txBody>
      </p:sp>
      <p:sp>
        <p:nvSpPr>
          <p:cNvPr id="11" name="Shape 7"/>
          <p:cNvSpPr/>
          <p:nvPr/>
        </p:nvSpPr>
        <p:spPr>
          <a:xfrm>
            <a:off x="3794760" y="2880360"/>
            <a:ext cx="411480" cy="411480"/>
          </a:xfrm>
          <a:prstGeom prst="ellipse">
            <a:avLst/>
          </a:prstGeom>
          <a:solidFill>
            <a:srgbClr val="D4AF37"/>
          </a:solidFill>
          <a:ln w="12700">
            <a:solidFill>
              <a:srgbClr val="D4AF37"/>
            </a:solidFill>
            <a:prstDash val="solid"/>
          </a:ln>
        </p:spPr>
      </p:sp>
      <p:sp>
        <p:nvSpPr>
          <p:cNvPr id="12" name="Text 8"/>
          <p:cNvSpPr txBox="1"/>
          <p:nvPr/>
        </p:nvSpPr>
        <p:spPr>
          <a:xfrm>
            <a:off x="3794760" y="2880360"/>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2</a:t>
            </a:r>
            <a:endParaRPr lang="en-US" sz="1300" dirty="0"/>
          </a:p>
        </p:txBody>
      </p:sp>
      <p:sp>
        <p:nvSpPr>
          <p:cNvPr id="13" name="Text 9"/>
          <p:cNvSpPr txBox="1"/>
          <p:nvPr/>
        </p:nvSpPr>
        <p:spPr>
          <a:xfrm>
            <a:off x="4389120" y="2852928"/>
            <a:ext cx="725393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Long wire (yellow, ~3 in)</a:t>
            </a:r>
            <a:endParaRPr lang="en-US" sz="1600" dirty="0"/>
          </a:p>
        </p:txBody>
      </p:sp>
      <p:sp>
        <p:nvSpPr>
          <p:cNvPr id="14" name="Text 10"/>
          <p:cNvSpPr txBox="1"/>
          <p:nvPr/>
        </p:nvSpPr>
        <p:spPr>
          <a:xfrm>
            <a:off x="4389120" y="3191256"/>
            <a:ext cx="7253935" cy="7772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From the headset-jack pad down to gold pad 3 of the four along the bottom edge. That pad is SWDIO, which becomes the jack ring: dah.</a:t>
            </a:r>
            <a:endParaRPr lang="en-US" sz="1300" dirty="0"/>
          </a:p>
        </p:txBody>
      </p:sp>
      <p:sp>
        <p:nvSpPr>
          <p:cNvPr id="15" name="Shape 11"/>
          <p:cNvSpPr/>
          <p:nvPr/>
        </p:nvSpPr>
        <p:spPr>
          <a:xfrm>
            <a:off x="3794760" y="3995928"/>
            <a:ext cx="411480" cy="411480"/>
          </a:xfrm>
          <a:prstGeom prst="ellipse">
            <a:avLst/>
          </a:prstGeom>
          <a:solidFill>
            <a:srgbClr val="D4AF37"/>
          </a:solidFill>
          <a:ln w="12700">
            <a:solidFill>
              <a:srgbClr val="D4AF37"/>
            </a:solidFill>
            <a:prstDash val="solid"/>
          </a:ln>
        </p:spPr>
      </p:sp>
      <p:sp>
        <p:nvSpPr>
          <p:cNvPr id="16" name="Text 12"/>
          <p:cNvSpPr txBox="1"/>
          <p:nvPr/>
        </p:nvSpPr>
        <p:spPr>
          <a:xfrm>
            <a:off x="3794760" y="3995928"/>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3</a:t>
            </a:r>
            <a:endParaRPr lang="en-US" sz="1300" dirty="0"/>
          </a:p>
        </p:txBody>
      </p:sp>
      <p:sp>
        <p:nvSpPr>
          <p:cNvPr id="17" name="Text 13"/>
          <p:cNvSpPr txBox="1"/>
          <p:nvPr/>
        </p:nvSpPr>
        <p:spPr>
          <a:xfrm>
            <a:off x="4389120" y="3968496"/>
            <a:ext cx="725393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Route and flatten</a:t>
            </a:r>
            <a:endParaRPr lang="en-US" sz="1600" dirty="0"/>
          </a:p>
        </p:txBody>
      </p:sp>
      <p:sp>
        <p:nvSpPr>
          <p:cNvPr id="18" name="Text 14"/>
          <p:cNvSpPr txBox="1"/>
          <p:nvPr/>
        </p:nvSpPr>
        <p:spPr>
          <a:xfrm>
            <a:off x="4389120" y="4306824"/>
            <a:ext cx="7253935" cy="7772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Run the long wire beside the button pads, never under a key. Keep both flat so the display frame seats over them. Snip strays; stranded wire loves to short.</a:t>
            </a:r>
            <a:endParaRPr lang="en-US" sz="1300" dirty="0"/>
          </a:p>
        </p:txBody>
      </p:sp>
      <p:sp>
        <p:nvSpPr>
          <p:cNvPr id="19" name="Shape 15"/>
          <p:cNvSpPr/>
          <p:nvPr/>
        </p:nvSpPr>
        <p:spPr>
          <a:xfrm>
            <a:off x="3794760" y="5111496"/>
            <a:ext cx="411480" cy="411480"/>
          </a:xfrm>
          <a:prstGeom prst="ellipse">
            <a:avLst/>
          </a:prstGeom>
          <a:solidFill>
            <a:srgbClr val="D4AF37"/>
          </a:solidFill>
          <a:ln w="12700">
            <a:solidFill>
              <a:srgbClr val="D4AF37"/>
            </a:solidFill>
            <a:prstDash val="solid"/>
          </a:ln>
        </p:spPr>
      </p:sp>
      <p:sp>
        <p:nvSpPr>
          <p:cNvPr id="20" name="Text 16"/>
          <p:cNvSpPr txBox="1"/>
          <p:nvPr/>
        </p:nvSpPr>
        <p:spPr>
          <a:xfrm>
            <a:off x="3794760" y="5111496"/>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4</a:t>
            </a:r>
            <a:endParaRPr lang="en-US" sz="1300" dirty="0"/>
          </a:p>
        </p:txBody>
      </p:sp>
      <p:sp>
        <p:nvSpPr>
          <p:cNvPr id="21" name="Text 17"/>
          <p:cNvSpPr txBox="1"/>
          <p:nvPr/>
        </p:nvSpPr>
        <p:spPr>
          <a:xfrm>
            <a:off x="4389120" y="5084064"/>
            <a:ext cx="725393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Match the photo</a:t>
            </a:r>
            <a:endParaRPr lang="en-US" sz="1600" dirty="0"/>
          </a:p>
        </p:txBody>
      </p:sp>
      <p:sp>
        <p:nvSpPr>
          <p:cNvPr id="22" name="Text 18"/>
          <p:cNvSpPr txBox="1"/>
          <p:nvPr/>
        </p:nvSpPr>
        <p:spPr>
          <a:xfrm>
            <a:off x="4389120" y="5422392"/>
            <a:ext cx="7253935" cy="7772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Before closing up, compare against the full-res photo on the docs page. Pad-for-pad. Then a quick continuity check from the jack to each pad.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Button it up</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Reverse order, with two things you cannot fix later.</a:t>
            </a:r>
            <a:endParaRPr lang="en-US" sz="1600" dirty="0"/>
          </a:p>
        </p:txBody>
      </p:sp>
      <p:sp>
        <p:nvSpPr>
          <p:cNvPr id="5" name="Shape 2"/>
          <p:cNvSpPr/>
          <p:nvPr/>
        </p:nvSpPr>
        <p:spPr>
          <a:xfrm>
            <a:off x="548640" y="1828800"/>
            <a:ext cx="5410048" cy="4434840"/>
          </a:xfrm>
          <a:prstGeom prst="roundRect">
            <a:avLst>
              <a:gd name="adj" fmla="val 2474"/>
            </a:avLst>
          </a:prstGeom>
          <a:solidFill>
            <a:srgbClr val="211D19"/>
          </a:solidFill>
          <a:ln w="12700">
            <a:solidFill>
              <a:srgbClr val="211D19"/>
            </a:solidFill>
            <a:prstDash val="solid"/>
          </a:ln>
        </p:spPr>
      </p:sp>
      <p:sp>
        <p:nvSpPr>
          <p:cNvPr id="6" name="Text 3"/>
          <p:cNvSpPr txBox="1"/>
          <p:nvPr/>
        </p:nvSpPr>
        <p:spPr>
          <a:xfrm>
            <a:off x="822960" y="2011680"/>
            <a:ext cx="486140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Reassembly</a:t>
            </a:r>
            <a:endParaRPr lang="en-US" sz="2000" dirty="0"/>
          </a:p>
        </p:txBody>
      </p:sp>
      <p:sp>
        <p:nvSpPr>
          <p:cNvPr id="7" name="Shape 4"/>
          <p:cNvSpPr/>
          <p:nvPr/>
        </p:nvSpPr>
        <p:spPr>
          <a:xfrm>
            <a:off x="822960" y="2487168"/>
            <a:ext cx="365760" cy="365760"/>
          </a:xfrm>
          <a:prstGeom prst="ellipse">
            <a:avLst/>
          </a:prstGeom>
          <a:solidFill>
            <a:srgbClr val="D4AF37"/>
          </a:solidFill>
          <a:ln w="12700">
            <a:solidFill>
              <a:srgbClr val="D4AF37"/>
            </a:solidFill>
            <a:prstDash val="solid"/>
          </a:ln>
        </p:spPr>
      </p:sp>
      <p:sp>
        <p:nvSpPr>
          <p:cNvPr id="8" name="Text 5"/>
          <p:cNvSpPr txBox="1"/>
          <p:nvPr/>
        </p:nvSpPr>
        <p:spPr>
          <a:xfrm>
            <a:off x="822960" y="2487168"/>
            <a:ext cx="365760" cy="36576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1</a:t>
            </a:r>
            <a:endParaRPr lang="en-US" sz="1300" dirty="0"/>
          </a:p>
        </p:txBody>
      </p:sp>
      <p:sp>
        <p:nvSpPr>
          <p:cNvPr id="9" name="Text 6"/>
          <p:cNvSpPr txBox="1"/>
          <p:nvPr/>
        </p:nvSpPr>
        <p:spPr>
          <a:xfrm>
            <a:off x="1371600" y="2468880"/>
            <a:ext cx="431276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Display back in: top-right latch first, then drop the lower-left corner into its hole. Press inward like you did to release it, not straight down on the glass.</a:t>
            </a:r>
            <a:endParaRPr lang="en-US" sz="1300" dirty="0"/>
          </a:p>
        </p:txBody>
      </p:sp>
      <p:sp>
        <p:nvSpPr>
          <p:cNvPr id="10" name="Shape 7"/>
          <p:cNvSpPr/>
          <p:nvPr/>
        </p:nvSpPr>
        <p:spPr>
          <a:xfrm>
            <a:off x="822960" y="3200400"/>
            <a:ext cx="365760" cy="365760"/>
          </a:xfrm>
          <a:prstGeom prst="ellipse">
            <a:avLst/>
          </a:prstGeom>
          <a:solidFill>
            <a:srgbClr val="D4AF37"/>
          </a:solidFill>
          <a:ln w="12700">
            <a:solidFill>
              <a:srgbClr val="D4AF37"/>
            </a:solidFill>
            <a:prstDash val="solid"/>
          </a:ln>
        </p:spPr>
      </p:sp>
      <p:sp>
        <p:nvSpPr>
          <p:cNvPr id="11" name="Text 8"/>
          <p:cNvSpPr txBox="1"/>
          <p:nvPr/>
        </p:nvSpPr>
        <p:spPr>
          <a:xfrm>
            <a:off x="822960" y="3200400"/>
            <a:ext cx="365760" cy="36576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2</a:t>
            </a:r>
            <a:endParaRPr lang="en-US" sz="1300" dirty="0"/>
          </a:p>
        </p:txBody>
      </p:sp>
      <p:sp>
        <p:nvSpPr>
          <p:cNvPr id="12" name="Text 9"/>
          <p:cNvSpPr txBox="1"/>
          <p:nvPr/>
        </p:nvSpPr>
        <p:spPr>
          <a:xfrm>
            <a:off x="1371600" y="3182112"/>
            <a:ext cx="431276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Clean the display now. Fingerprints and dust get sealed behind the chassis window.</a:t>
            </a:r>
            <a:endParaRPr lang="en-US" sz="1300" dirty="0"/>
          </a:p>
        </p:txBody>
      </p:sp>
      <p:sp>
        <p:nvSpPr>
          <p:cNvPr id="13" name="Shape 10"/>
          <p:cNvSpPr/>
          <p:nvPr/>
        </p:nvSpPr>
        <p:spPr>
          <a:xfrm>
            <a:off x="822960" y="3913632"/>
            <a:ext cx="365760" cy="365760"/>
          </a:xfrm>
          <a:prstGeom prst="ellipse">
            <a:avLst/>
          </a:prstGeom>
          <a:solidFill>
            <a:srgbClr val="D4AF37"/>
          </a:solidFill>
          <a:ln w="12700">
            <a:solidFill>
              <a:srgbClr val="D4AF37"/>
            </a:solidFill>
            <a:prstDash val="solid"/>
          </a:ln>
        </p:spPr>
      </p:sp>
      <p:sp>
        <p:nvSpPr>
          <p:cNvPr id="14" name="Text 11"/>
          <p:cNvSpPr txBox="1"/>
          <p:nvPr/>
        </p:nvSpPr>
        <p:spPr>
          <a:xfrm>
            <a:off x="822960" y="3913632"/>
            <a:ext cx="365760" cy="36576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3</a:t>
            </a:r>
            <a:endParaRPr lang="en-US" sz="1300" dirty="0"/>
          </a:p>
        </p:txBody>
      </p:sp>
      <p:sp>
        <p:nvSpPr>
          <p:cNvPr id="15" name="Text 12"/>
          <p:cNvSpPr txBox="1"/>
          <p:nvPr/>
        </p:nvSpPr>
        <p:spPr>
          <a:xfrm>
            <a:off x="1371600" y="3895344"/>
            <a:ext cx="431276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Socket door up, slide the ribbon's gold fingers in, hinge the door down to latch.</a:t>
            </a:r>
            <a:endParaRPr lang="en-US" sz="1300" dirty="0"/>
          </a:p>
        </p:txBody>
      </p:sp>
      <p:sp>
        <p:nvSpPr>
          <p:cNvPr id="16" name="Shape 13"/>
          <p:cNvSpPr/>
          <p:nvPr/>
        </p:nvSpPr>
        <p:spPr>
          <a:xfrm>
            <a:off x="822960" y="4626864"/>
            <a:ext cx="365760" cy="365760"/>
          </a:xfrm>
          <a:prstGeom prst="ellipse">
            <a:avLst/>
          </a:prstGeom>
          <a:solidFill>
            <a:srgbClr val="D4AF37"/>
          </a:solidFill>
          <a:ln w="12700">
            <a:solidFill>
              <a:srgbClr val="D4AF37"/>
            </a:solidFill>
            <a:prstDash val="solid"/>
          </a:ln>
        </p:spPr>
      </p:sp>
      <p:sp>
        <p:nvSpPr>
          <p:cNvPr id="17" name="Text 14"/>
          <p:cNvSpPr txBox="1"/>
          <p:nvPr/>
        </p:nvSpPr>
        <p:spPr>
          <a:xfrm>
            <a:off x="822960" y="4626864"/>
            <a:ext cx="365760" cy="36576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4</a:t>
            </a:r>
            <a:endParaRPr lang="en-US" sz="1300" dirty="0"/>
          </a:p>
        </p:txBody>
      </p:sp>
      <p:sp>
        <p:nvSpPr>
          <p:cNvPr id="18" name="Text 15"/>
          <p:cNvSpPr txBox="1"/>
          <p:nvPr/>
        </p:nvSpPr>
        <p:spPr>
          <a:xfrm>
            <a:off x="1371600" y="4608576"/>
            <a:ext cx="431276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Slide the top half of the board and metal back into the chassis, press the bottom in.</a:t>
            </a:r>
            <a:endParaRPr lang="en-US" sz="1300" dirty="0"/>
          </a:p>
        </p:txBody>
      </p:sp>
      <p:sp>
        <p:nvSpPr>
          <p:cNvPr id="19" name="Shape 16"/>
          <p:cNvSpPr/>
          <p:nvPr/>
        </p:nvSpPr>
        <p:spPr>
          <a:xfrm>
            <a:off x="822960" y="5340096"/>
            <a:ext cx="365760" cy="365760"/>
          </a:xfrm>
          <a:prstGeom prst="ellipse">
            <a:avLst/>
          </a:prstGeom>
          <a:solidFill>
            <a:srgbClr val="D4AF37"/>
          </a:solidFill>
          <a:ln w="12700">
            <a:solidFill>
              <a:srgbClr val="D4AF37"/>
            </a:solidFill>
            <a:prstDash val="solid"/>
          </a:ln>
        </p:spPr>
      </p:sp>
      <p:sp>
        <p:nvSpPr>
          <p:cNvPr id="20" name="Text 17"/>
          <p:cNvSpPr txBox="1"/>
          <p:nvPr/>
        </p:nvSpPr>
        <p:spPr>
          <a:xfrm>
            <a:off x="822960" y="5340096"/>
            <a:ext cx="365760" cy="36576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5</a:t>
            </a:r>
            <a:endParaRPr lang="en-US" sz="1300" dirty="0"/>
          </a:p>
        </p:txBody>
      </p:sp>
      <p:sp>
        <p:nvSpPr>
          <p:cNvPr id="21" name="Text 18"/>
          <p:cNvSpPr txBox="1"/>
          <p:nvPr/>
        </p:nvSpPr>
        <p:spPr>
          <a:xfrm>
            <a:off x="1371600" y="5321808"/>
            <a:ext cx="431276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Two screws. Knob, antenna, battery.</a:t>
            </a:r>
            <a:endParaRPr lang="en-US" sz="1300" dirty="0"/>
          </a:p>
        </p:txBody>
      </p:sp>
      <p:sp>
        <p:nvSpPr>
          <p:cNvPr id="22" name="Shape 19"/>
          <p:cNvSpPr/>
          <p:nvPr/>
        </p:nvSpPr>
        <p:spPr>
          <a:xfrm>
            <a:off x="6233008" y="1828800"/>
            <a:ext cx="5410048" cy="4434840"/>
          </a:xfrm>
          <a:prstGeom prst="roundRect">
            <a:avLst>
              <a:gd name="adj" fmla="val 2474"/>
            </a:avLst>
          </a:prstGeom>
          <a:solidFill>
            <a:srgbClr val="2A2520"/>
          </a:solidFill>
          <a:ln w="12700">
            <a:solidFill>
              <a:srgbClr val="2A2520"/>
            </a:solidFill>
            <a:prstDash val="solid"/>
          </a:ln>
        </p:spPr>
      </p:sp>
      <p:sp>
        <p:nvSpPr>
          <p:cNvPr id="23" name="Shape 20"/>
          <p:cNvSpPr/>
          <p:nvPr/>
        </p:nvSpPr>
        <p:spPr>
          <a:xfrm>
            <a:off x="6507328" y="2011680"/>
            <a:ext cx="548640" cy="548640"/>
          </a:xfrm>
          <a:prstGeom prst="ellipse">
            <a:avLst/>
          </a:prstGeom>
          <a:solidFill>
            <a:srgbClr val="D4AF37"/>
          </a:solidFill>
          <a:ln w="12700">
            <a:solidFill>
              <a:srgbClr val="D4AF37"/>
            </a:solidFill>
            <a:prstDash val="solid"/>
          </a:ln>
        </p:spPr>
      </p:sp>
      <p:pic>
        <p:nvPicPr>
          <p:cNvPr id="24" name="Image 0" descr="preencoded.png">    </p:cNvPr>
          <p:cNvPicPr>
            <a:picLocks noChangeAspect="1"/>
          </p:cNvPicPr>
          <p:nvPr/>
        </p:nvPicPr>
        <p:blipFill>
          <a:blip r:embed="rId1"/>
          <a:stretch>
            <a:fillRect/>
          </a:stretch>
        </p:blipFill>
        <p:spPr>
          <a:xfrm>
            <a:off x="6655460" y="2159813"/>
            <a:ext cx="252374" cy="252374"/>
          </a:xfrm>
          <a:prstGeom prst="rect">
            <a:avLst/>
          </a:prstGeom>
        </p:spPr>
      </p:pic>
      <p:sp>
        <p:nvSpPr>
          <p:cNvPr id="25" name="Text 21"/>
          <p:cNvSpPr txBox="1"/>
          <p:nvPr/>
        </p:nvSpPr>
        <p:spPr>
          <a:xfrm>
            <a:off x="7193128" y="2103120"/>
            <a:ext cx="394700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First power-on</a:t>
            </a:r>
            <a:endParaRPr lang="en-US" sz="2000" dirty="0"/>
          </a:p>
        </p:txBody>
      </p:sp>
      <p:sp>
        <p:nvSpPr>
          <p:cNvPr id="26" name="Text 22"/>
          <p:cNvSpPr txBox="1"/>
          <p:nvPr/>
        </p:nvSpPr>
        <p:spPr>
          <a:xfrm>
            <a:off x="6507328" y="2697480"/>
            <a:ext cx="4587088" cy="33832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350" dirty="0">
                <a:solidFill>
                  <a:srgbClr val="F2EBDD"/>
                </a:solidFill>
                <a:latin typeface="Calibri" pitchFamily="34" charset="0"/>
                <a:ea typeface="Calibri" pitchFamily="34" charset="-122"/>
                <a:cs typeface="Calibri" pitchFamily="34" charset="-120"/>
              </a:rPr>
              <a:t>Power on with the stock firmware still loaded. It should boot and behave exactly as before.</a:t>
            </a:r>
            <a:endParaRPr lang="en-US" sz="1350" dirty="0"/>
          </a:p>
          <a:p>
            <a:pPr marL="177800" indent="-177800">
              <a:lnSpc>
                <a:spcPct val="105000"/>
              </a:lnSpc>
              <a:spcAft>
                <a:spcPts val="600"/>
              </a:spcAft>
              <a:buSzPct val="100000"/>
              <a:buChar char="•"/>
            </a:pPr>
            <a:r>
              <a:rPr lang="en-US" sz="1350" dirty="0">
                <a:solidFill>
                  <a:srgbClr val="F2EBDD"/>
                </a:solidFill>
                <a:latin typeface="Calibri" pitchFamily="34" charset="0"/>
                <a:ea typeface="Calibri" pitchFamily="34" charset="-122"/>
                <a:cs typeface="Calibri" pitchFamily="34" charset="-120"/>
              </a:rPr>
              <a:t>Internal mic and speaker still work with nothing plugged into the headset jack.</a:t>
            </a:r>
            <a:endParaRPr lang="en-US" sz="1350" dirty="0"/>
          </a:p>
          <a:p>
            <a:pPr marL="177800" indent="-177800">
              <a:lnSpc>
                <a:spcPct val="105000"/>
              </a:lnSpc>
              <a:spcAft>
                <a:spcPts val="600"/>
              </a:spcAft>
              <a:buSzPct val="100000"/>
              <a:buChar char="•"/>
            </a:pPr>
            <a:r>
              <a:rPr lang="en-US" sz="1350" dirty="0">
                <a:solidFill>
                  <a:srgbClr val="F2EBDD"/>
                </a:solidFill>
                <a:latin typeface="Calibri" pitchFamily="34" charset="0"/>
                <a:ea typeface="Calibri" pitchFamily="34" charset="-122"/>
                <a:cs typeface="Calibri" pitchFamily="34" charset="-120"/>
              </a:rPr>
              <a:t>Plug a paddle in. Nothing should happen yet. The firmware does not know about it.</a:t>
            </a:r>
            <a:endParaRPr lang="en-US" sz="1350" dirty="0"/>
          </a:p>
          <a:p>
            <a:pPr marL="177800" indent="-177800">
              <a:lnSpc>
                <a:spcPct val="105000"/>
              </a:lnSpc>
              <a:spcAft>
                <a:spcPts val="600"/>
              </a:spcAft>
              <a:buSzPct val="100000"/>
              <a:buChar char="•"/>
            </a:pPr>
            <a:r>
              <a:rPr lang="en-US" sz="1350" dirty="0">
                <a:solidFill>
                  <a:srgbClr val="F2EBDD"/>
                </a:solidFill>
                <a:latin typeface="Calibri" pitchFamily="34" charset="0"/>
                <a:ea typeface="Calibri" pitchFamily="34" charset="-122"/>
                <a:cs typeface="Calibri" pitchFamily="34" charset="-120"/>
              </a:rPr>
              <a:t>Boots normally? Then nothing is bridged and no ribbon is torn. Now we flash.</a:t>
            </a:r>
            <a:endParaRPr lang="en-US" sz="1350" dirty="0"/>
          </a:p>
          <a:p>
            <a:pPr marL="177800" indent="-177800">
              <a:lnSpc>
                <a:spcPct val="105000"/>
              </a:lnSpc>
              <a:spcAft>
                <a:spcPts val="600"/>
              </a:spcAft>
              <a:buSzPct val="100000"/>
              <a:buChar char="•"/>
            </a:pPr>
            <a:r>
              <a:rPr lang="en-US" sz="1350" dirty="0">
                <a:solidFill>
                  <a:srgbClr val="F2EBDD"/>
                </a:solidFill>
                <a:latin typeface="Calibri" pitchFamily="34" charset="0"/>
                <a:ea typeface="Calibri" pitchFamily="34" charset="-122"/>
                <a:cs typeface="Calibri" pitchFamily="34" charset="-120"/>
              </a:rPr>
              <a:t>Blank screen, no boot, or a flashing screen: open it back up and check the ribbon seat and the pads before anything else.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Flash it</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Right firmware, right tool, then back up the calibration before you do anything else.</a:t>
            </a:r>
            <a:endParaRPr lang="en-US" sz="1600" dirty="0"/>
          </a:p>
        </p:txBody>
      </p:sp>
      <p:sp>
        <p:nvSpPr>
          <p:cNvPr id="5" name="Shape 2"/>
          <p:cNvSpPr/>
          <p:nvPr/>
        </p:nvSpPr>
        <p:spPr>
          <a:xfrm>
            <a:off x="548640" y="1828800"/>
            <a:ext cx="2036003" cy="3108960"/>
          </a:xfrm>
          <a:prstGeom prst="roundRect">
            <a:avLst>
              <a:gd name="adj" fmla="val 5389"/>
            </a:avLst>
          </a:prstGeom>
          <a:solidFill>
            <a:srgbClr val="211D19"/>
          </a:solidFill>
          <a:ln w="12700">
            <a:solidFill>
              <a:srgbClr val="211D19"/>
            </a:solidFill>
            <a:prstDash val="solid"/>
          </a:ln>
        </p:spPr>
      </p:sp>
      <p:sp>
        <p:nvSpPr>
          <p:cNvPr id="6" name="Shape 3"/>
          <p:cNvSpPr/>
          <p:nvPr/>
        </p:nvSpPr>
        <p:spPr>
          <a:xfrm>
            <a:off x="1246602" y="2103120"/>
            <a:ext cx="640080" cy="640080"/>
          </a:xfrm>
          <a:prstGeom prst="ellipse">
            <a:avLst/>
          </a:prstGeom>
          <a:solidFill>
            <a:srgbClr val="D4AF37"/>
          </a:solidFill>
          <a:ln w="12700">
            <a:solidFill>
              <a:srgbClr val="D4AF37"/>
            </a:solidFill>
            <a:prstDash val="solid"/>
          </a:ln>
        </p:spPr>
      </p:sp>
      <p:pic>
        <p:nvPicPr>
          <p:cNvPr id="7" name="Image 0" descr="preencoded.png">    </p:cNvPr>
          <p:cNvPicPr>
            <a:picLocks noChangeAspect="1"/>
          </p:cNvPicPr>
          <p:nvPr/>
        </p:nvPicPr>
        <p:blipFill>
          <a:blip r:embed="rId1"/>
          <a:stretch>
            <a:fillRect/>
          </a:stretch>
        </p:blipFill>
        <p:spPr>
          <a:xfrm>
            <a:off x="1419423" y="2275942"/>
            <a:ext cx="294437" cy="294437"/>
          </a:xfrm>
          <a:prstGeom prst="rect">
            <a:avLst/>
          </a:prstGeom>
        </p:spPr>
      </p:pic>
      <p:sp>
        <p:nvSpPr>
          <p:cNvPr id="8" name="Shape 4"/>
          <p:cNvSpPr/>
          <p:nvPr/>
        </p:nvSpPr>
        <p:spPr>
          <a:xfrm>
            <a:off x="731520" y="2011680"/>
            <a:ext cx="329184" cy="329184"/>
          </a:xfrm>
          <a:prstGeom prst="ellipse">
            <a:avLst/>
          </a:prstGeom>
          <a:solidFill>
            <a:srgbClr val="D4AF37"/>
          </a:solidFill>
          <a:ln w="12700">
            <a:solidFill>
              <a:srgbClr val="D4AF37"/>
            </a:solidFill>
            <a:prstDash val="solid"/>
          </a:ln>
        </p:spPr>
      </p:sp>
      <p:sp>
        <p:nvSpPr>
          <p:cNvPr id="9" name="Text 5"/>
          <p:cNvSpPr txBox="1"/>
          <p:nvPr/>
        </p:nvSpPr>
        <p:spPr>
          <a:xfrm>
            <a:off x="731520" y="2011680"/>
            <a:ext cx="329184" cy="329184"/>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1</a:t>
            </a:r>
            <a:endParaRPr lang="en-US" sz="1300" dirty="0"/>
          </a:p>
        </p:txBody>
      </p:sp>
      <p:sp>
        <p:nvSpPr>
          <p:cNvPr id="10" name="Text 6"/>
          <p:cNvSpPr txBox="1"/>
          <p:nvPr/>
        </p:nvSpPr>
        <p:spPr>
          <a:xfrm>
            <a:off x="731520" y="2880360"/>
            <a:ext cx="1670243" cy="365760"/>
          </a:xfrm>
          <a:prstGeom prst="rect">
            <a:avLst/>
          </a:prstGeom>
          <a:noFill/>
          <a:ln/>
        </p:spPr>
        <p:txBody>
          <a:bodyPr wrap="square" lIns="0" tIns="0" rIns="0" bIns="0" rtlCol="0" anchor="t"/>
          <a:lstStyle/>
          <a:p>
            <a:pPr algn="ctr" indent="0" marL="0">
              <a:lnSpc>
                <a:spcPct val="110000"/>
              </a:lnSpc>
              <a:buNone/>
            </a:pPr>
            <a:r>
              <a:rPr lang="en-US" sz="1700" b="1" dirty="0">
                <a:solidFill>
                  <a:srgbClr val="F2EBDD"/>
                </a:solidFill>
                <a:latin typeface="Calibri" pitchFamily="34" charset="0"/>
                <a:ea typeface="Calibri" pitchFamily="34" charset="-122"/>
                <a:cs typeface="Calibri" pitchFamily="34" charset="-120"/>
              </a:rPr>
              <a:t>Identify</a:t>
            </a:r>
            <a:endParaRPr lang="en-US" sz="1700" dirty="0"/>
          </a:p>
        </p:txBody>
      </p:sp>
      <p:sp>
        <p:nvSpPr>
          <p:cNvPr id="11" name="Text 7"/>
          <p:cNvSpPr txBox="1"/>
          <p:nvPr/>
        </p:nvSpPr>
        <p:spPr>
          <a:xfrm>
            <a:off x="731520" y="3337560"/>
            <a:ext cx="1670243" cy="1554480"/>
          </a:xfrm>
          <a:prstGeom prst="rect">
            <a:avLst/>
          </a:prstGeom>
          <a:noFill/>
          <a:ln/>
        </p:spPr>
        <p:txBody>
          <a:bodyPr wrap="square" lIns="0" tIns="0" rIns="0" bIns="0" rtlCol="0" anchor="t"/>
          <a:lstStyle/>
          <a:p>
            <a:pPr algn="ctr" indent="0" marL="0">
              <a:lnSpc>
                <a:spcPct val="110000"/>
              </a:lnSpc>
              <a:buNone/>
            </a:pPr>
            <a:r>
              <a:rPr lang="en-US" sz="1250" dirty="0">
                <a:solidFill>
                  <a:srgbClr val="B3A995"/>
                </a:solidFill>
                <a:latin typeface="Calibri" pitchFamily="34" charset="0"/>
                <a:ea typeface="Calibri" pitchFamily="34" charset="-122"/>
                <a:cs typeface="Calibri" pitchFamily="34" charset="-120"/>
              </a:rPr>
              <a:t>Label behind the battery. K1 or V3 use the k1-k5v3 firmware. Never the v1 file.</a:t>
            </a:r>
            <a:endParaRPr lang="en-US" sz="1250" dirty="0"/>
          </a:p>
        </p:txBody>
      </p:sp>
      <p:sp>
        <p:nvSpPr>
          <p:cNvPr id="12" name="Shape 8"/>
          <p:cNvSpPr/>
          <p:nvPr/>
        </p:nvSpPr>
        <p:spPr>
          <a:xfrm>
            <a:off x="2813243" y="1828800"/>
            <a:ext cx="2036003" cy="3108960"/>
          </a:xfrm>
          <a:prstGeom prst="roundRect">
            <a:avLst>
              <a:gd name="adj" fmla="val 5389"/>
            </a:avLst>
          </a:prstGeom>
          <a:solidFill>
            <a:srgbClr val="211D19"/>
          </a:solidFill>
          <a:ln w="12700">
            <a:solidFill>
              <a:srgbClr val="211D19"/>
            </a:solidFill>
            <a:prstDash val="solid"/>
          </a:ln>
        </p:spPr>
      </p:sp>
      <p:sp>
        <p:nvSpPr>
          <p:cNvPr id="13" name="Shape 9"/>
          <p:cNvSpPr/>
          <p:nvPr/>
        </p:nvSpPr>
        <p:spPr>
          <a:xfrm>
            <a:off x="3511205" y="2103120"/>
            <a:ext cx="640080" cy="640080"/>
          </a:xfrm>
          <a:prstGeom prst="ellipse">
            <a:avLst/>
          </a:prstGeom>
          <a:solidFill>
            <a:srgbClr val="D4AF37"/>
          </a:solidFill>
          <a:ln w="12700">
            <a:solidFill>
              <a:srgbClr val="D4AF37"/>
            </a:solidFill>
            <a:prstDash val="solid"/>
          </a:ln>
        </p:spPr>
      </p:sp>
      <p:pic>
        <p:nvPicPr>
          <p:cNvPr id="14" name="Image 1" descr="preencoded.png">    </p:cNvPr>
          <p:cNvPicPr>
            <a:picLocks noChangeAspect="1"/>
          </p:cNvPicPr>
          <p:nvPr/>
        </p:nvPicPr>
        <p:blipFill>
          <a:blip r:embed="rId2"/>
          <a:stretch>
            <a:fillRect/>
          </a:stretch>
        </p:blipFill>
        <p:spPr>
          <a:xfrm>
            <a:off x="3684026" y="2275942"/>
            <a:ext cx="294437" cy="294437"/>
          </a:xfrm>
          <a:prstGeom prst="rect">
            <a:avLst/>
          </a:prstGeom>
        </p:spPr>
      </p:pic>
      <p:sp>
        <p:nvSpPr>
          <p:cNvPr id="15" name="Shape 10"/>
          <p:cNvSpPr/>
          <p:nvPr/>
        </p:nvSpPr>
        <p:spPr>
          <a:xfrm>
            <a:off x="2996123" y="2011680"/>
            <a:ext cx="329184" cy="329184"/>
          </a:xfrm>
          <a:prstGeom prst="ellipse">
            <a:avLst/>
          </a:prstGeom>
          <a:solidFill>
            <a:srgbClr val="D4AF37"/>
          </a:solidFill>
          <a:ln w="12700">
            <a:solidFill>
              <a:srgbClr val="D4AF37"/>
            </a:solidFill>
            <a:prstDash val="solid"/>
          </a:ln>
        </p:spPr>
      </p:sp>
      <p:sp>
        <p:nvSpPr>
          <p:cNvPr id="16" name="Text 11"/>
          <p:cNvSpPr txBox="1"/>
          <p:nvPr/>
        </p:nvSpPr>
        <p:spPr>
          <a:xfrm>
            <a:off x="2996123" y="2011680"/>
            <a:ext cx="329184" cy="329184"/>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2</a:t>
            </a:r>
            <a:endParaRPr lang="en-US" sz="1300" dirty="0"/>
          </a:p>
        </p:txBody>
      </p:sp>
      <p:sp>
        <p:nvSpPr>
          <p:cNvPr id="17" name="Text 12"/>
          <p:cNvSpPr txBox="1"/>
          <p:nvPr/>
        </p:nvSpPr>
        <p:spPr>
          <a:xfrm>
            <a:off x="2996123" y="2880360"/>
            <a:ext cx="1670243" cy="365760"/>
          </a:xfrm>
          <a:prstGeom prst="rect">
            <a:avLst/>
          </a:prstGeom>
          <a:noFill/>
          <a:ln/>
        </p:spPr>
        <p:txBody>
          <a:bodyPr wrap="square" lIns="0" tIns="0" rIns="0" bIns="0" rtlCol="0" anchor="t"/>
          <a:lstStyle/>
          <a:p>
            <a:pPr algn="ctr" indent="0" marL="0">
              <a:lnSpc>
                <a:spcPct val="110000"/>
              </a:lnSpc>
              <a:buNone/>
            </a:pPr>
            <a:r>
              <a:rPr lang="en-US" sz="1700" b="1" dirty="0">
                <a:solidFill>
                  <a:srgbClr val="F2EBDD"/>
                </a:solidFill>
                <a:latin typeface="Calibri" pitchFamily="34" charset="0"/>
                <a:ea typeface="Calibri" pitchFamily="34" charset="-122"/>
                <a:cs typeface="Calibri" pitchFamily="34" charset="-120"/>
              </a:rPr>
              <a:t>Download</a:t>
            </a:r>
            <a:endParaRPr lang="en-US" sz="1700" dirty="0"/>
          </a:p>
        </p:txBody>
      </p:sp>
      <p:sp>
        <p:nvSpPr>
          <p:cNvPr id="18" name="Text 13"/>
          <p:cNvSpPr txBox="1"/>
          <p:nvPr/>
        </p:nvSpPr>
        <p:spPr>
          <a:xfrm>
            <a:off x="2996123" y="3337560"/>
            <a:ext cx="1670243" cy="1554480"/>
          </a:xfrm>
          <a:prstGeom prst="rect">
            <a:avLst/>
          </a:prstGeom>
          <a:noFill/>
          <a:ln/>
        </p:spPr>
        <p:txBody>
          <a:bodyPr wrap="square" lIns="0" tIns="0" rIns="0" bIns="0" rtlCol="0" anchor="t"/>
          <a:lstStyle/>
          <a:p>
            <a:pPr algn="ctr" indent="0" marL="0">
              <a:lnSpc>
                <a:spcPct val="110000"/>
              </a:lnSpc>
              <a:buNone/>
            </a:pPr>
            <a:r>
              <a:rPr lang="en-US" sz="1250" dirty="0">
                <a:solidFill>
                  <a:srgbClr val="B3A995"/>
                </a:solidFill>
                <a:latin typeface="Calibri" pitchFamily="34" charset="0"/>
                <a:ea typeface="Calibri" pitchFamily="34" charset="-122"/>
                <a:cs typeface="Calibri" pitchFamily="34" charset="-120"/>
              </a:rPr>
              <a:t>Releases page: the .bin for the K1/K5v3 and the matching CHIRP module. No compiling.</a:t>
            </a:r>
            <a:endParaRPr lang="en-US" sz="1250" dirty="0"/>
          </a:p>
        </p:txBody>
      </p:sp>
      <p:sp>
        <p:nvSpPr>
          <p:cNvPr id="19" name="Shape 14"/>
          <p:cNvSpPr/>
          <p:nvPr/>
        </p:nvSpPr>
        <p:spPr>
          <a:xfrm>
            <a:off x="5077846" y="1828800"/>
            <a:ext cx="2036003" cy="3108960"/>
          </a:xfrm>
          <a:prstGeom prst="roundRect">
            <a:avLst>
              <a:gd name="adj" fmla="val 5389"/>
            </a:avLst>
          </a:prstGeom>
          <a:solidFill>
            <a:srgbClr val="211D19"/>
          </a:solidFill>
          <a:ln w="12700">
            <a:solidFill>
              <a:srgbClr val="211D19"/>
            </a:solidFill>
            <a:prstDash val="solid"/>
          </a:ln>
        </p:spPr>
      </p:sp>
      <p:sp>
        <p:nvSpPr>
          <p:cNvPr id="20" name="Shape 15"/>
          <p:cNvSpPr/>
          <p:nvPr/>
        </p:nvSpPr>
        <p:spPr>
          <a:xfrm>
            <a:off x="5775808" y="2103120"/>
            <a:ext cx="640080" cy="640080"/>
          </a:xfrm>
          <a:prstGeom prst="ellipse">
            <a:avLst/>
          </a:prstGeom>
          <a:solidFill>
            <a:srgbClr val="D4AF37"/>
          </a:solidFill>
          <a:ln w="12700">
            <a:solidFill>
              <a:srgbClr val="D4AF37"/>
            </a:solidFill>
            <a:prstDash val="solid"/>
          </a:ln>
        </p:spPr>
      </p:sp>
      <p:pic>
        <p:nvPicPr>
          <p:cNvPr id="21" name="Image 2" descr="preencoded.png">    </p:cNvPr>
          <p:cNvPicPr>
            <a:picLocks noChangeAspect="1"/>
          </p:cNvPicPr>
          <p:nvPr/>
        </p:nvPicPr>
        <p:blipFill>
          <a:blip r:embed="rId3"/>
          <a:stretch>
            <a:fillRect/>
          </a:stretch>
        </p:blipFill>
        <p:spPr>
          <a:xfrm>
            <a:off x="5948629" y="2275942"/>
            <a:ext cx="294437" cy="294437"/>
          </a:xfrm>
          <a:prstGeom prst="rect">
            <a:avLst/>
          </a:prstGeom>
        </p:spPr>
      </p:pic>
      <p:sp>
        <p:nvSpPr>
          <p:cNvPr id="22" name="Shape 16"/>
          <p:cNvSpPr/>
          <p:nvPr/>
        </p:nvSpPr>
        <p:spPr>
          <a:xfrm>
            <a:off x="5260726" y="2011680"/>
            <a:ext cx="329184" cy="329184"/>
          </a:xfrm>
          <a:prstGeom prst="ellipse">
            <a:avLst/>
          </a:prstGeom>
          <a:solidFill>
            <a:srgbClr val="D4AF37"/>
          </a:solidFill>
          <a:ln w="12700">
            <a:solidFill>
              <a:srgbClr val="D4AF37"/>
            </a:solidFill>
            <a:prstDash val="solid"/>
          </a:ln>
        </p:spPr>
      </p:sp>
      <p:sp>
        <p:nvSpPr>
          <p:cNvPr id="23" name="Text 17"/>
          <p:cNvSpPr txBox="1"/>
          <p:nvPr/>
        </p:nvSpPr>
        <p:spPr>
          <a:xfrm>
            <a:off x="5260726" y="2011680"/>
            <a:ext cx="329184" cy="329184"/>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3</a:t>
            </a:r>
            <a:endParaRPr lang="en-US" sz="1300" dirty="0"/>
          </a:p>
        </p:txBody>
      </p:sp>
      <p:sp>
        <p:nvSpPr>
          <p:cNvPr id="24" name="Text 18"/>
          <p:cNvSpPr txBox="1"/>
          <p:nvPr/>
        </p:nvSpPr>
        <p:spPr>
          <a:xfrm>
            <a:off x="5260726" y="2880360"/>
            <a:ext cx="1670243" cy="365760"/>
          </a:xfrm>
          <a:prstGeom prst="rect">
            <a:avLst/>
          </a:prstGeom>
          <a:noFill/>
          <a:ln/>
        </p:spPr>
        <p:txBody>
          <a:bodyPr wrap="square" lIns="0" tIns="0" rIns="0" bIns="0" rtlCol="0" anchor="t"/>
          <a:lstStyle/>
          <a:p>
            <a:pPr algn="ctr" indent="0" marL="0">
              <a:lnSpc>
                <a:spcPct val="110000"/>
              </a:lnSpc>
              <a:buNone/>
            </a:pPr>
            <a:r>
              <a:rPr lang="en-US" sz="1700" b="1" dirty="0">
                <a:solidFill>
                  <a:srgbClr val="F2EBDD"/>
                </a:solidFill>
                <a:latin typeface="Calibri" pitchFamily="34" charset="0"/>
                <a:ea typeface="Calibri" pitchFamily="34" charset="-122"/>
                <a:cs typeface="Calibri" pitchFamily="34" charset="-120"/>
              </a:rPr>
              <a:t>Bootloader</a:t>
            </a:r>
            <a:endParaRPr lang="en-US" sz="1700" dirty="0"/>
          </a:p>
        </p:txBody>
      </p:sp>
      <p:sp>
        <p:nvSpPr>
          <p:cNvPr id="25" name="Text 19"/>
          <p:cNvSpPr txBox="1"/>
          <p:nvPr/>
        </p:nvSpPr>
        <p:spPr>
          <a:xfrm>
            <a:off x="5260726" y="3337560"/>
            <a:ext cx="1670243" cy="1554480"/>
          </a:xfrm>
          <a:prstGeom prst="rect">
            <a:avLst/>
          </a:prstGeom>
          <a:noFill/>
          <a:ln/>
        </p:spPr>
        <p:txBody>
          <a:bodyPr wrap="square" lIns="0" tIns="0" rIns="0" bIns="0" rtlCol="0" anchor="t"/>
          <a:lstStyle/>
          <a:p>
            <a:pPr algn="ctr" indent="0" marL="0">
              <a:lnSpc>
                <a:spcPct val="110000"/>
              </a:lnSpc>
              <a:buNone/>
            </a:pPr>
            <a:r>
              <a:rPr lang="en-US" sz="1250" dirty="0">
                <a:solidFill>
                  <a:srgbClr val="B3A995"/>
                </a:solidFill>
                <a:latin typeface="Calibri" pitchFamily="34" charset="0"/>
                <a:ea typeface="Calibri" pitchFamily="34" charset="-122"/>
                <a:cs typeface="Calibri" pitchFamily="34" charset="-120"/>
              </a:rPr>
              <a:t>Hold PTT and power on. Flashlight LED on, screen blank and unlit. Plug in the programming cable.</a:t>
            </a:r>
            <a:endParaRPr lang="en-US" sz="1250" dirty="0"/>
          </a:p>
        </p:txBody>
      </p:sp>
      <p:sp>
        <p:nvSpPr>
          <p:cNvPr id="26" name="Shape 20"/>
          <p:cNvSpPr/>
          <p:nvPr/>
        </p:nvSpPr>
        <p:spPr>
          <a:xfrm>
            <a:off x="7342449" y="1828800"/>
            <a:ext cx="2036003" cy="3108960"/>
          </a:xfrm>
          <a:prstGeom prst="roundRect">
            <a:avLst>
              <a:gd name="adj" fmla="val 5389"/>
            </a:avLst>
          </a:prstGeom>
          <a:solidFill>
            <a:srgbClr val="211D19"/>
          </a:solidFill>
          <a:ln w="12700">
            <a:solidFill>
              <a:srgbClr val="211D19"/>
            </a:solidFill>
            <a:prstDash val="solid"/>
          </a:ln>
        </p:spPr>
      </p:sp>
      <p:sp>
        <p:nvSpPr>
          <p:cNvPr id="27" name="Shape 21"/>
          <p:cNvSpPr/>
          <p:nvPr/>
        </p:nvSpPr>
        <p:spPr>
          <a:xfrm>
            <a:off x="8040411" y="2103120"/>
            <a:ext cx="640080" cy="640080"/>
          </a:xfrm>
          <a:prstGeom prst="ellipse">
            <a:avLst/>
          </a:prstGeom>
          <a:solidFill>
            <a:srgbClr val="D4AF37"/>
          </a:solidFill>
          <a:ln w="12700">
            <a:solidFill>
              <a:srgbClr val="D4AF37"/>
            </a:solidFill>
            <a:prstDash val="solid"/>
          </a:ln>
        </p:spPr>
      </p:sp>
      <p:pic>
        <p:nvPicPr>
          <p:cNvPr id="28" name="Image 3" descr="preencoded.png">    </p:cNvPr>
          <p:cNvPicPr>
            <a:picLocks noChangeAspect="1"/>
          </p:cNvPicPr>
          <p:nvPr/>
        </p:nvPicPr>
        <p:blipFill>
          <a:blip r:embed="rId4"/>
          <a:stretch>
            <a:fillRect/>
          </a:stretch>
        </p:blipFill>
        <p:spPr>
          <a:xfrm>
            <a:off x="8213232" y="2275942"/>
            <a:ext cx="294437" cy="294437"/>
          </a:xfrm>
          <a:prstGeom prst="rect">
            <a:avLst/>
          </a:prstGeom>
        </p:spPr>
      </p:pic>
      <p:sp>
        <p:nvSpPr>
          <p:cNvPr id="29" name="Shape 22"/>
          <p:cNvSpPr/>
          <p:nvPr/>
        </p:nvSpPr>
        <p:spPr>
          <a:xfrm>
            <a:off x="7525329" y="2011680"/>
            <a:ext cx="329184" cy="329184"/>
          </a:xfrm>
          <a:prstGeom prst="ellipse">
            <a:avLst/>
          </a:prstGeom>
          <a:solidFill>
            <a:srgbClr val="D4AF37"/>
          </a:solidFill>
          <a:ln w="12700">
            <a:solidFill>
              <a:srgbClr val="D4AF37"/>
            </a:solidFill>
            <a:prstDash val="solid"/>
          </a:ln>
        </p:spPr>
      </p:sp>
      <p:sp>
        <p:nvSpPr>
          <p:cNvPr id="30" name="Text 23"/>
          <p:cNvSpPr txBox="1"/>
          <p:nvPr/>
        </p:nvSpPr>
        <p:spPr>
          <a:xfrm>
            <a:off x="7525329" y="2011680"/>
            <a:ext cx="329184" cy="329184"/>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4</a:t>
            </a:r>
            <a:endParaRPr lang="en-US" sz="1300" dirty="0"/>
          </a:p>
        </p:txBody>
      </p:sp>
      <p:sp>
        <p:nvSpPr>
          <p:cNvPr id="31" name="Text 24"/>
          <p:cNvSpPr txBox="1"/>
          <p:nvPr/>
        </p:nvSpPr>
        <p:spPr>
          <a:xfrm>
            <a:off x="7525329" y="2880360"/>
            <a:ext cx="1670243" cy="365760"/>
          </a:xfrm>
          <a:prstGeom prst="rect">
            <a:avLst/>
          </a:prstGeom>
          <a:noFill/>
          <a:ln/>
        </p:spPr>
        <p:txBody>
          <a:bodyPr wrap="square" lIns="0" tIns="0" rIns="0" bIns="0" rtlCol="0" anchor="t"/>
          <a:lstStyle/>
          <a:p>
            <a:pPr algn="ctr" indent="0" marL="0">
              <a:lnSpc>
                <a:spcPct val="110000"/>
              </a:lnSpc>
              <a:buNone/>
            </a:pPr>
            <a:r>
              <a:rPr lang="en-US" sz="1700" b="1" dirty="0">
                <a:solidFill>
                  <a:srgbClr val="F2EBDD"/>
                </a:solidFill>
                <a:latin typeface="Calibri" pitchFamily="34" charset="0"/>
                <a:ea typeface="Calibri" pitchFamily="34" charset="-122"/>
                <a:cs typeface="Calibri" pitchFamily="34" charset="-120"/>
              </a:rPr>
              <a:t>uvtools2</a:t>
            </a:r>
            <a:endParaRPr lang="en-US" sz="1700" dirty="0"/>
          </a:p>
        </p:txBody>
      </p:sp>
      <p:sp>
        <p:nvSpPr>
          <p:cNvPr id="32" name="Text 25"/>
          <p:cNvSpPr txBox="1"/>
          <p:nvPr/>
        </p:nvSpPr>
        <p:spPr>
          <a:xfrm>
            <a:off x="7525329" y="3337560"/>
            <a:ext cx="1670243" cy="1554480"/>
          </a:xfrm>
          <a:prstGeom prst="rect">
            <a:avLst/>
          </a:prstGeom>
          <a:noFill/>
          <a:ln/>
        </p:spPr>
        <p:txBody>
          <a:bodyPr wrap="square" lIns="0" tIns="0" rIns="0" bIns="0" rtlCol="0" anchor="t"/>
          <a:lstStyle/>
          <a:p>
            <a:pPr algn="ctr" indent="0" marL="0">
              <a:lnSpc>
                <a:spcPct val="110000"/>
              </a:lnSpc>
              <a:buNone/>
            </a:pPr>
            <a:r>
              <a:rPr lang="en-US" sz="1250" dirty="0">
                <a:solidFill>
                  <a:srgbClr val="B3A995"/>
                </a:solidFill>
                <a:latin typeface="Calibri" pitchFamily="34" charset="0"/>
                <a:ea typeface="Calibri" pitchFamily="34" charset="-122"/>
                <a:cs typeface="Calibri" pitchFamily="34" charset="-120"/>
              </a:rPr>
              <a:t>Open it in Chrome or Chromium, connect the serial port, pick the file, flash. The LED blinks while it writes.</a:t>
            </a:r>
            <a:endParaRPr lang="en-US" sz="1250" dirty="0"/>
          </a:p>
        </p:txBody>
      </p:sp>
      <p:sp>
        <p:nvSpPr>
          <p:cNvPr id="33" name="Shape 26"/>
          <p:cNvSpPr/>
          <p:nvPr/>
        </p:nvSpPr>
        <p:spPr>
          <a:xfrm>
            <a:off x="9607052" y="1828800"/>
            <a:ext cx="2036003" cy="3108960"/>
          </a:xfrm>
          <a:prstGeom prst="roundRect">
            <a:avLst>
              <a:gd name="adj" fmla="val 5389"/>
            </a:avLst>
          </a:prstGeom>
          <a:solidFill>
            <a:srgbClr val="211D19"/>
          </a:solidFill>
          <a:ln w="12700">
            <a:solidFill>
              <a:srgbClr val="211D19"/>
            </a:solidFill>
            <a:prstDash val="solid"/>
          </a:ln>
        </p:spPr>
      </p:sp>
      <p:sp>
        <p:nvSpPr>
          <p:cNvPr id="34" name="Shape 27"/>
          <p:cNvSpPr/>
          <p:nvPr/>
        </p:nvSpPr>
        <p:spPr>
          <a:xfrm>
            <a:off x="10305014" y="2103120"/>
            <a:ext cx="640080" cy="640080"/>
          </a:xfrm>
          <a:prstGeom prst="ellipse">
            <a:avLst/>
          </a:prstGeom>
          <a:solidFill>
            <a:srgbClr val="D4AF37"/>
          </a:solidFill>
          <a:ln w="12700">
            <a:solidFill>
              <a:srgbClr val="D4AF37"/>
            </a:solidFill>
            <a:prstDash val="solid"/>
          </a:ln>
        </p:spPr>
      </p:sp>
      <p:pic>
        <p:nvPicPr>
          <p:cNvPr id="35" name="Image 4" descr="preencoded.png">    </p:cNvPr>
          <p:cNvPicPr>
            <a:picLocks noChangeAspect="1"/>
          </p:cNvPicPr>
          <p:nvPr/>
        </p:nvPicPr>
        <p:blipFill>
          <a:blip r:embed="rId5"/>
          <a:stretch>
            <a:fillRect/>
          </a:stretch>
        </p:blipFill>
        <p:spPr>
          <a:xfrm>
            <a:off x="10477835" y="2275942"/>
            <a:ext cx="294437" cy="294437"/>
          </a:xfrm>
          <a:prstGeom prst="rect">
            <a:avLst/>
          </a:prstGeom>
        </p:spPr>
      </p:pic>
      <p:sp>
        <p:nvSpPr>
          <p:cNvPr id="36" name="Shape 28"/>
          <p:cNvSpPr/>
          <p:nvPr/>
        </p:nvSpPr>
        <p:spPr>
          <a:xfrm>
            <a:off x="9789932" y="2011680"/>
            <a:ext cx="329184" cy="329184"/>
          </a:xfrm>
          <a:prstGeom prst="ellipse">
            <a:avLst/>
          </a:prstGeom>
          <a:solidFill>
            <a:srgbClr val="D4AF37"/>
          </a:solidFill>
          <a:ln w="12700">
            <a:solidFill>
              <a:srgbClr val="D4AF37"/>
            </a:solidFill>
            <a:prstDash val="solid"/>
          </a:ln>
        </p:spPr>
      </p:sp>
      <p:sp>
        <p:nvSpPr>
          <p:cNvPr id="37" name="Text 29"/>
          <p:cNvSpPr txBox="1"/>
          <p:nvPr/>
        </p:nvSpPr>
        <p:spPr>
          <a:xfrm>
            <a:off x="9789932" y="2011680"/>
            <a:ext cx="329184" cy="329184"/>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5</a:t>
            </a:r>
            <a:endParaRPr lang="en-US" sz="1300" dirty="0"/>
          </a:p>
        </p:txBody>
      </p:sp>
      <p:sp>
        <p:nvSpPr>
          <p:cNvPr id="38" name="Text 30"/>
          <p:cNvSpPr txBox="1"/>
          <p:nvPr/>
        </p:nvSpPr>
        <p:spPr>
          <a:xfrm>
            <a:off x="9789932" y="2880360"/>
            <a:ext cx="1670243" cy="365760"/>
          </a:xfrm>
          <a:prstGeom prst="rect">
            <a:avLst/>
          </a:prstGeom>
          <a:noFill/>
          <a:ln/>
        </p:spPr>
        <p:txBody>
          <a:bodyPr wrap="square" lIns="0" tIns="0" rIns="0" bIns="0" rtlCol="0" anchor="t"/>
          <a:lstStyle/>
          <a:p>
            <a:pPr algn="ctr" indent="0" marL="0">
              <a:lnSpc>
                <a:spcPct val="110000"/>
              </a:lnSpc>
              <a:buNone/>
            </a:pPr>
            <a:r>
              <a:rPr lang="en-US" sz="1700" b="1" dirty="0">
                <a:solidFill>
                  <a:srgbClr val="F2EBDD"/>
                </a:solidFill>
                <a:latin typeface="Calibri" pitchFamily="34" charset="0"/>
                <a:ea typeface="Calibri" pitchFamily="34" charset="-122"/>
                <a:cs typeface="Calibri" pitchFamily="34" charset="-120"/>
              </a:rPr>
              <a:t>Back up</a:t>
            </a:r>
            <a:endParaRPr lang="en-US" sz="1700" dirty="0"/>
          </a:p>
        </p:txBody>
      </p:sp>
      <p:sp>
        <p:nvSpPr>
          <p:cNvPr id="39" name="Text 31"/>
          <p:cNvSpPr txBox="1"/>
          <p:nvPr/>
        </p:nvSpPr>
        <p:spPr>
          <a:xfrm>
            <a:off x="9789932" y="3337560"/>
            <a:ext cx="1670243" cy="1554480"/>
          </a:xfrm>
          <a:prstGeom prst="rect">
            <a:avLst/>
          </a:prstGeom>
          <a:noFill/>
          <a:ln/>
        </p:spPr>
        <p:txBody>
          <a:bodyPr wrap="square" lIns="0" tIns="0" rIns="0" bIns="0" rtlCol="0" anchor="t"/>
          <a:lstStyle/>
          <a:p>
            <a:pPr algn="ctr" indent="0" marL="0">
              <a:lnSpc>
                <a:spcPct val="110000"/>
              </a:lnSpc>
              <a:buNone/>
            </a:pPr>
            <a:r>
              <a:rPr lang="en-US" sz="1250" dirty="0">
                <a:solidFill>
                  <a:srgbClr val="B3A995"/>
                </a:solidFill>
                <a:latin typeface="Calibri" pitchFamily="34" charset="0"/>
                <a:ea typeface="Calibri" pitchFamily="34" charset="-122"/>
                <a:cs typeface="Calibri" pitchFamily="34" charset="-120"/>
              </a:rPr>
              <a:t>Reboot to the new firmware, then dump the calibration data with uvtools2. Name the file after the serial number.</a:t>
            </a:r>
            <a:endParaRPr lang="en-US" sz="1250" dirty="0"/>
          </a:p>
        </p:txBody>
      </p:sp>
      <p:sp>
        <p:nvSpPr>
          <p:cNvPr id="40" name="Shape 32"/>
          <p:cNvSpPr/>
          <p:nvPr/>
        </p:nvSpPr>
        <p:spPr>
          <a:xfrm>
            <a:off x="548640" y="5212080"/>
            <a:ext cx="11094415" cy="1051560"/>
          </a:xfrm>
          <a:prstGeom prst="roundRect">
            <a:avLst>
              <a:gd name="adj" fmla="val 10435"/>
            </a:avLst>
          </a:prstGeom>
          <a:solidFill>
            <a:srgbClr val="2A2520"/>
          </a:solidFill>
          <a:ln w="12700">
            <a:solidFill>
              <a:srgbClr val="2A2520"/>
            </a:solidFill>
            <a:prstDash val="solid"/>
          </a:ln>
        </p:spPr>
      </p:sp>
      <p:sp>
        <p:nvSpPr>
          <p:cNvPr id="41" name="Shape 33"/>
          <p:cNvSpPr/>
          <p:nvPr/>
        </p:nvSpPr>
        <p:spPr>
          <a:xfrm>
            <a:off x="777240" y="5458968"/>
            <a:ext cx="548640" cy="548640"/>
          </a:xfrm>
          <a:prstGeom prst="ellipse">
            <a:avLst/>
          </a:prstGeom>
          <a:solidFill>
            <a:srgbClr val="D4AF37"/>
          </a:solidFill>
          <a:ln w="12700">
            <a:solidFill>
              <a:srgbClr val="D4AF37"/>
            </a:solidFill>
            <a:prstDash val="solid"/>
          </a:ln>
        </p:spPr>
      </p:sp>
      <p:pic>
        <p:nvPicPr>
          <p:cNvPr id="42" name="Image 5" descr="preencoded.png">    </p:cNvPr>
          <p:cNvPicPr>
            <a:picLocks noChangeAspect="1"/>
          </p:cNvPicPr>
          <p:nvPr/>
        </p:nvPicPr>
        <p:blipFill>
          <a:blip r:embed="rId6"/>
          <a:stretch>
            <a:fillRect/>
          </a:stretch>
        </p:blipFill>
        <p:spPr>
          <a:xfrm>
            <a:off x="925373" y="5607101"/>
            <a:ext cx="252374" cy="252374"/>
          </a:xfrm>
          <a:prstGeom prst="rect">
            <a:avLst/>
          </a:prstGeom>
        </p:spPr>
      </p:pic>
      <p:sp>
        <p:nvSpPr>
          <p:cNvPr id="43" name="Text 34"/>
          <p:cNvSpPr txBox="1"/>
          <p:nvPr/>
        </p:nvSpPr>
        <p:spPr>
          <a:xfrm>
            <a:off x="1508760" y="5285232"/>
            <a:ext cx="9905695" cy="914400"/>
          </a:xfrm>
          <a:prstGeom prst="rect">
            <a:avLst/>
          </a:prstGeom>
          <a:noFill/>
          <a:ln/>
        </p:spPr>
        <p:txBody>
          <a:bodyPr wrap="square" lIns="0" tIns="0" rIns="0" bIns="0" rtlCol="0" anchor="ctr"/>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Wrong firmware family, or the wrong tool mode, is the most common way to end up with a dead radio, and a few bad flashes have needed aggressive recovery. Calibration is what makes the radio transmit on frequency at the right power; the tools try hard not to touch it, but a backup is the safety net.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Set it up</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The CW entries are the last ones in the menu. Scroll up from the top and you land on them.</a:t>
            </a:r>
            <a:endParaRPr lang="en-US" sz="1600" dirty="0"/>
          </a:p>
        </p:txBody>
      </p:sp>
      <p:sp>
        <p:nvSpPr>
          <p:cNvPr id="5" name="Text 2"/>
          <p:cNvSpPr txBox="1"/>
          <p:nvPr/>
        </p:nvSpPr>
        <p:spPr>
          <a:xfrm>
            <a:off x="548640" y="1828800"/>
            <a:ext cx="2286000" cy="640080"/>
          </a:xfrm>
          <a:prstGeom prst="rect">
            <a:avLst/>
          </a:prstGeom>
          <a:noFill/>
          <a:ln/>
        </p:spPr>
        <p:txBody>
          <a:bodyPr wrap="square" lIns="0" tIns="0" rIns="0" bIns="0" rtlCol="0" anchor="t"/>
          <a:lstStyle/>
          <a:p>
            <a:pPr indent="0" marL="0">
              <a:buNone/>
            </a:pPr>
            <a:r>
              <a:rPr lang="en-US" sz="1400" b="1" dirty="0">
                <a:solidFill>
                  <a:srgbClr val="D4AF37"/>
                </a:solidFill>
                <a:latin typeface="Courier New" pitchFamily="34" charset="0"/>
                <a:ea typeface="Courier New" pitchFamily="34" charset="-122"/>
                <a:cs typeface="Courier New" pitchFamily="34" charset="-120"/>
              </a:rPr>
              <a:t>Long press 0</a:t>
            </a:r>
            <a:endParaRPr lang="en-US" sz="1400" dirty="0"/>
          </a:p>
        </p:txBody>
      </p:sp>
      <p:sp>
        <p:nvSpPr>
          <p:cNvPr id="6" name="Text 3"/>
          <p:cNvSpPr txBox="1"/>
          <p:nvPr/>
        </p:nvSpPr>
        <p:spPr>
          <a:xfrm>
            <a:off x="2880360" y="1828800"/>
            <a:ext cx="307832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Cycle modulation FM &gt; AM &gt; USB &gt; CW. Squelch opens in CW; Side 1 closes it.</a:t>
            </a:r>
            <a:endParaRPr lang="en-US" sz="1300" dirty="0"/>
          </a:p>
        </p:txBody>
      </p:sp>
      <p:sp>
        <p:nvSpPr>
          <p:cNvPr id="7" name="Text 4"/>
          <p:cNvSpPr txBox="1"/>
          <p:nvPr/>
        </p:nvSpPr>
        <p:spPr>
          <a:xfrm>
            <a:off x="548640" y="2560320"/>
            <a:ext cx="2286000" cy="640080"/>
          </a:xfrm>
          <a:prstGeom prst="rect">
            <a:avLst/>
          </a:prstGeom>
          <a:noFill/>
          <a:ln/>
        </p:spPr>
        <p:txBody>
          <a:bodyPr wrap="square" lIns="0" tIns="0" rIns="0" bIns="0" rtlCol="0" anchor="t"/>
          <a:lstStyle/>
          <a:p>
            <a:pPr indent="0" marL="0">
              <a:buNone/>
            </a:pPr>
            <a:r>
              <a:rPr lang="en-US" sz="1400" b="1" dirty="0">
                <a:solidFill>
                  <a:srgbClr val="D4AF37"/>
                </a:solidFill>
                <a:latin typeface="Courier New" pitchFamily="34" charset="0"/>
                <a:ea typeface="Courier New" pitchFamily="34" charset="-122"/>
                <a:cs typeface="Courier New" pitchFamily="34" charset="-120"/>
              </a:rPr>
              <a:t>CWkin</a:t>
            </a:r>
            <a:endParaRPr lang="en-US" sz="1400" dirty="0"/>
          </a:p>
        </p:txBody>
      </p:sp>
      <p:sp>
        <p:nvSpPr>
          <p:cNvPr id="8" name="Text 5"/>
          <p:cNvSpPr txBox="1"/>
          <p:nvPr/>
        </p:nvSpPr>
        <p:spPr>
          <a:xfrm>
            <a:off x="2880360" y="2560320"/>
            <a:ext cx="307832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Port Iambic for a paddle. Port HandKey for a straight key. Reversed if dit and dah are swapped.</a:t>
            </a:r>
            <a:endParaRPr lang="en-US" sz="1300" dirty="0"/>
          </a:p>
        </p:txBody>
      </p:sp>
      <p:sp>
        <p:nvSpPr>
          <p:cNvPr id="9" name="Text 6"/>
          <p:cNvSpPr txBox="1"/>
          <p:nvPr/>
        </p:nvSpPr>
        <p:spPr>
          <a:xfrm>
            <a:off x="548640" y="3291840"/>
            <a:ext cx="2286000" cy="640080"/>
          </a:xfrm>
          <a:prstGeom prst="rect">
            <a:avLst/>
          </a:prstGeom>
          <a:noFill/>
          <a:ln/>
        </p:spPr>
        <p:txBody>
          <a:bodyPr wrap="square" lIns="0" tIns="0" rIns="0" bIns="0" rtlCol="0" anchor="t"/>
          <a:lstStyle/>
          <a:p>
            <a:pPr indent="0" marL="0">
              <a:buNone/>
            </a:pPr>
            <a:r>
              <a:rPr lang="en-US" sz="1400" b="1" dirty="0">
                <a:solidFill>
                  <a:srgbClr val="D4AF37"/>
                </a:solidFill>
                <a:latin typeface="Courier New" pitchFamily="34" charset="0"/>
                <a:ea typeface="Courier New" pitchFamily="34" charset="-122"/>
                <a:cs typeface="Courier New" pitchFamily="34" charset="-120"/>
              </a:rPr>
              <a:t>CWkmod</a:t>
            </a:r>
            <a:endParaRPr lang="en-US" sz="1400" dirty="0"/>
          </a:p>
        </p:txBody>
      </p:sp>
      <p:sp>
        <p:nvSpPr>
          <p:cNvPr id="10" name="Text 7"/>
          <p:cNvSpPr txBox="1"/>
          <p:nvPr/>
        </p:nvSpPr>
        <p:spPr>
          <a:xfrm>
            <a:off x="2880360" y="3291840"/>
            <a:ext cx="307832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Mode B is the default. A, Ultimatic and Bug are there if you have opinions.</a:t>
            </a:r>
            <a:endParaRPr lang="en-US" sz="1300" dirty="0"/>
          </a:p>
        </p:txBody>
      </p:sp>
      <p:sp>
        <p:nvSpPr>
          <p:cNvPr id="11" name="Text 8"/>
          <p:cNvSpPr txBox="1"/>
          <p:nvPr/>
        </p:nvSpPr>
        <p:spPr>
          <a:xfrm>
            <a:off x="548640" y="4023360"/>
            <a:ext cx="2286000" cy="640080"/>
          </a:xfrm>
          <a:prstGeom prst="rect">
            <a:avLst/>
          </a:prstGeom>
          <a:noFill/>
          <a:ln/>
        </p:spPr>
        <p:txBody>
          <a:bodyPr wrap="square" lIns="0" tIns="0" rIns="0" bIns="0" rtlCol="0" anchor="t"/>
          <a:lstStyle/>
          <a:p>
            <a:pPr indent="0" marL="0">
              <a:buNone/>
            </a:pPr>
            <a:r>
              <a:rPr lang="en-US" sz="1400" b="1" dirty="0">
                <a:solidFill>
                  <a:srgbClr val="D4AF37"/>
                </a:solidFill>
                <a:latin typeface="Courier New" pitchFamily="34" charset="0"/>
                <a:ea typeface="Courier New" pitchFamily="34" charset="-122"/>
                <a:cs typeface="Courier New" pitchFamily="34" charset="-120"/>
              </a:rPr>
              <a:t>CWwpm / CWfreq / CWvol</a:t>
            </a:r>
            <a:endParaRPr lang="en-US" sz="1400" dirty="0"/>
          </a:p>
        </p:txBody>
      </p:sp>
      <p:sp>
        <p:nvSpPr>
          <p:cNvPr id="12" name="Text 9"/>
          <p:cNvSpPr txBox="1"/>
          <p:nvPr/>
        </p:nvSpPr>
        <p:spPr>
          <a:xfrm>
            <a:off x="2880360" y="4023360"/>
            <a:ext cx="307832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18 WPM, 600 Hz, level 4 by default. Start slower than you think.</a:t>
            </a:r>
            <a:endParaRPr lang="en-US" sz="1300" dirty="0"/>
          </a:p>
        </p:txBody>
      </p:sp>
      <p:sp>
        <p:nvSpPr>
          <p:cNvPr id="13" name="Text 10"/>
          <p:cNvSpPr txBox="1"/>
          <p:nvPr/>
        </p:nvSpPr>
        <p:spPr>
          <a:xfrm>
            <a:off x="548640" y="4754880"/>
            <a:ext cx="2286000" cy="640080"/>
          </a:xfrm>
          <a:prstGeom prst="rect">
            <a:avLst/>
          </a:prstGeom>
          <a:noFill/>
          <a:ln/>
        </p:spPr>
        <p:txBody>
          <a:bodyPr wrap="square" lIns="0" tIns="0" rIns="0" bIns="0" rtlCol="0" anchor="t"/>
          <a:lstStyle/>
          <a:p>
            <a:pPr indent="0" marL="0">
              <a:buNone/>
            </a:pPr>
            <a:r>
              <a:rPr lang="en-US" sz="1400" b="1" dirty="0">
                <a:solidFill>
                  <a:srgbClr val="D4AF37"/>
                </a:solidFill>
                <a:latin typeface="Courier New" pitchFamily="34" charset="0"/>
                <a:ea typeface="Courier New" pitchFamily="34" charset="-122"/>
                <a:cs typeface="Courier New" pitchFamily="34" charset="-120"/>
              </a:rPr>
              <a:t>CWbkin</a:t>
            </a:r>
            <a:endParaRPr lang="en-US" sz="1400" dirty="0"/>
          </a:p>
        </p:txBody>
      </p:sp>
      <p:sp>
        <p:nvSpPr>
          <p:cNvPr id="14" name="Text 11"/>
          <p:cNvSpPr txBox="1"/>
          <p:nvPr/>
        </p:nvSpPr>
        <p:spPr>
          <a:xfrm>
            <a:off x="2880360" y="4754880"/>
            <a:ext cx="307832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ON. Sending keys the transmitter. OFF gives you sidetone only, which is how you practice.</a:t>
            </a:r>
            <a:endParaRPr lang="en-US" sz="1300" dirty="0"/>
          </a:p>
        </p:txBody>
      </p:sp>
      <p:sp>
        <p:nvSpPr>
          <p:cNvPr id="15" name="Text 12"/>
          <p:cNvSpPr txBox="1"/>
          <p:nvPr/>
        </p:nvSpPr>
        <p:spPr>
          <a:xfrm>
            <a:off x="548640" y="5486400"/>
            <a:ext cx="2286000" cy="640080"/>
          </a:xfrm>
          <a:prstGeom prst="rect">
            <a:avLst/>
          </a:prstGeom>
          <a:noFill/>
          <a:ln/>
        </p:spPr>
        <p:txBody>
          <a:bodyPr wrap="square" lIns="0" tIns="0" rIns="0" bIns="0" rtlCol="0" anchor="t"/>
          <a:lstStyle/>
          <a:p>
            <a:pPr indent="0" marL="0">
              <a:buNone/>
            </a:pPr>
            <a:r>
              <a:rPr lang="en-US" sz="1400" b="1" dirty="0">
                <a:solidFill>
                  <a:srgbClr val="D4AF37"/>
                </a:solidFill>
                <a:latin typeface="Courier New" pitchFamily="34" charset="0"/>
                <a:ea typeface="Courier New" pitchFamily="34" charset="-122"/>
                <a:cs typeface="Courier New" pitchFamily="34" charset="-120"/>
              </a:rPr>
              <a:t>CWmsg1</a:t>
            </a:r>
            <a:endParaRPr lang="en-US" sz="1400" dirty="0"/>
          </a:p>
        </p:txBody>
      </p:sp>
      <p:sp>
        <p:nvSpPr>
          <p:cNvPr id="16" name="Text 13"/>
          <p:cNvSpPr txBox="1"/>
          <p:nvPr/>
        </p:nvSpPr>
        <p:spPr>
          <a:xfrm>
            <a:off x="2880360" y="5486400"/>
            <a:ext cx="3078328" cy="68580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Record new, key CQ CQ DE CALL, press M to save. Play or Repeat, or map it to F1.</a:t>
            </a:r>
            <a:endParaRPr lang="en-US" sz="1300" dirty="0"/>
          </a:p>
        </p:txBody>
      </p:sp>
      <p:sp>
        <p:nvSpPr>
          <p:cNvPr id="17" name="Shape 14"/>
          <p:cNvSpPr/>
          <p:nvPr/>
        </p:nvSpPr>
        <p:spPr>
          <a:xfrm>
            <a:off x="6233008" y="1828800"/>
            <a:ext cx="5410048" cy="2240280"/>
          </a:xfrm>
          <a:prstGeom prst="roundRect">
            <a:avLst>
              <a:gd name="adj" fmla="val 4898"/>
            </a:avLst>
          </a:prstGeom>
          <a:solidFill>
            <a:srgbClr val="2A2520"/>
          </a:solidFill>
          <a:ln w="12700">
            <a:solidFill>
              <a:srgbClr val="2A2520"/>
            </a:solidFill>
            <a:prstDash val="solid"/>
          </a:ln>
        </p:spPr>
      </p:sp>
      <p:sp>
        <p:nvSpPr>
          <p:cNvPr id="18" name="Shape 15"/>
          <p:cNvSpPr/>
          <p:nvPr/>
        </p:nvSpPr>
        <p:spPr>
          <a:xfrm>
            <a:off x="6461608" y="2057400"/>
            <a:ext cx="548640" cy="548640"/>
          </a:xfrm>
          <a:prstGeom prst="ellipse">
            <a:avLst/>
          </a:prstGeom>
          <a:solidFill>
            <a:srgbClr val="D4AF37"/>
          </a:solidFill>
          <a:ln w="12700">
            <a:solidFill>
              <a:srgbClr val="D4AF37"/>
            </a:solidFill>
            <a:prstDash val="solid"/>
          </a:ln>
        </p:spPr>
      </p:sp>
      <p:pic>
        <p:nvPicPr>
          <p:cNvPr id="19" name="Image 0" descr="preencoded.png">    </p:cNvPr>
          <p:cNvPicPr>
            <a:picLocks noChangeAspect="1"/>
          </p:cNvPicPr>
          <p:nvPr/>
        </p:nvPicPr>
        <p:blipFill>
          <a:blip r:embed="rId1"/>
          <a:stretch>
            <a:fillRect/>
          </a:stretch>
        </p:blipFill>
        <p:spPr>
          <a:xfrm>
            <a:off x="6609740" y="2205533"/>
            <a:ext cx="252374" cy="252374"/>
          </a:xfrm>
          <a:prstGeom prst="rect">
            <a:avLst/>
          </a:prstGeom>
        </p:spPr>
      </p:pic>
      <p:sp>
        <p:nvSpPr>
          <p:cNvPr id="20" name="Text 16"/>
          <p:cNvSpPr txBox="1"/>
          <p:nvPr/>
        </p:nvSpPr>
        <p:spPr>
          <a:xfrm>
            <a:off x="7147408" y="2148840"/>
            <a:ext cx="4221328" cy="365760"/>
          </a:xfrm>
          <a:prstGeom prst="rect">
            <a:avLst/>
          </a:prstGeom>
          <a:noFill/>
          <a:ln/>
        </p:spPr>
        <p:txBody>
          <a:bodyPr wrap="square" lIns="0" tIns="0" rIns="0" bIns="0" rtlCol="0" anchor="ctr"/>
          <a:lstStyle/>
          <a:p>
            <a:pPr indent="0" marL="0">
              <a:buNone/>
            </a:pPr>
            <a:r>
              <a:rPr lang="en-US" sz="1800" b="1" dirty="0">
                <a:solidFill>
                  <a:srgbClr val="D4AF37"/>
                </a:solidFill>
                <a:latin typeface="Cambria" pitchFamily="34" charset="0"/>
                <a:ea typeface="Cambria" pitchFamily="34" charset="-122"/>
                <a:cs typeface="Cambria" pitchFamily="34" charset="-120"/>
              </a:rPr>
              <a:t>"CW KEY STUCK"</a:t>
            </a:r>
            <a:endParaRPr lang="en-US" sz="1800" dirty="0"/>
          </a:p>
        </p:txBody>
      </p:sp>
      <p:sp>
        <p:nvSpPr>
          <p:cNvPr id="21" name="Text 17"/>
          <p:cNvSpPr txBox="1"/>
          <p:nvPr/>
        </p:nvSpPr>
        <p:spPr>
          <a:xfrm>
            <a:off x="6507328" y="2743200"/>
            <a:ext cx="4861408" cy="128016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250" dirty="0">
                <a:solidFill>
                  <a:srgbClr val="F2EBDD"/>
                </a:solidFill>
                <a:latin typeface="Calibri" pitchFamily="34" charset="0"/>
                <a:ea typeface="Calibri" pitchFamily="34" charset="-122"/>
                <a:cs typeface="Calibri" pitchFamily="34" charset="-120"/>
              </a:rPr>
              <a:t>A paddle contact is shorted, the rework is not quite right, or the programming cable was still in at reboot.</a:t>
            </a:r>
            <a:endParaRPr lang="en-US" sz="1250" dirty="0"/>
          </a:p>
          <a:p>
            <a:pPr marL="177800" indent="-177800">
              <a:lnSpc>
                <a:spcPct val="105000"/>
              </a:lnSpc>
              <a:spcAft>
                <a:spcPts val="300"/>
              </a:spcAft>
              <a:buSzPct val="100000"/>
              <a:buChar char="•"/>
            </a:pPr>
            <a:r>
              <a:rPr lang="en-US" sz="1250" dirty="0">
                <a:solidFill>
                  <a:srgbClr val="F2EBDD"/>
                </a:solidFill>
                <a:latin typeface="Calibri" pitchFamily="34" charset="0"/>
                <a:ea typeface="Calibri" pitchFamily="34" charset="-122"/>
                <a:cs typeface="Calibri" pitchFamily="34" charset="-120"/>
              </a:rPr>
              <a:t>Power off, fix the cause, power on. The firmware re-checks the port at every boot.</a:t>
            </a:r>
            <a:endParaRPr lang="en-US" sz="1250" dirty="0"/>
          </a:p>
          <a:p>
            <a:pPr marL="177800" indent="-177800">
              <a:lnSpc>
                <a:spcPct val="105000"/>
              </a:lnSpc>
              <a:spcAft>
                <a:spcPts val="300"/>
              </a:spcAft>
              <a:buSzPct val="100000"/>
              <a:buChar char="•"/>
            </a:pPr>
            <a:r>
              <a:rPr lang="en-US" sz="1250" dirty="0">
                <a:solidFill>
                  <a:srgbClr val="F2EBDD"/>
                </a:solidFill>
                <a:latin typeface="Calibri" pitchFamily="34" charset="0"/>
                <a:ea typeface="Calibri" pitchFamily="34" charset="-122"/>
                <a:cs typeface="Calibri" pitchFamily="34" charset="-120"/>
              </a:rPr>
              <a:t>Trying a Port mode without the rework gives the same message. That is the firmware protecting you.</a:t>
            </a:r>
            <a:endParaRPr lang="en-US" sz="1250" dirty="0"/>
          </a:p>
        </p:txBody>
      </p:sp>
      <p:sp>
        <p:nvSpPr>
          <p:cNvPr id="22" name="Shape 18"/>
          <p:cNvSpPr/>
          <p:nvPr/>
        </p:nvSpPr>
        <p:spPr>
          <a:xfrm>
            <a:off x="6233008" y="4297680"/>
            <a:ext cx="5410048" cy="1965960"/>
          </a:xfrm>
          <a:prstGeom prst="roundRect">
            <a:avLst>
              <a:gd name="adj" fmla="val 5581"/>
            </a:avLst>
          </a:prstGeom>
          <a:solidFill>
            <a:srgbClr val="211D19"/>
          </a:solidFill>
          <a:ln w="12700">
            <a:solidFill>
              <a:srgbClr val="211D19"/>
            </a:solidFill>
            <a:prstDash val="solid"/>
          </a:ln>
        </p:spPr>
      </p:sp>
      <p:sp>
        <p:nvSpPr>
          <p:cNvPr id="23" name="Text 19"/>
          <p:cNvSpPr txBox="1"/>
          <p:nvPr/>
        </p:nvSpPr>
        <p:spPr>
          <a:xfrm>
            <a:off x="6507328" y="4434840"/>
            <a:ext cx="4861408" cy="365760"/>
          </a:xfrm>
          <a:prstGeom prst="rect">
            <a:avLst/>
          </a:prstGeom>
          <a:noFill/>
          <a:ln/>
        </p:spPr>
        <p:txBody>
          <a:bodyPr wrap="square" lIns="0" tIns="0" rIns="0" bIns="0" rtlCol="0" anchor="ctr"/>
          <a:lstStyle/>
          <a:p>
            <a:pPr indent="0" marL="0">
              <a:buNone/>
            </a:pPr>
            <a:r>
              <a:rPr lang="en-US" sz="1800" b="1" dirty="0">
                <a:solidFill>
                  <a:srgbClr val="D4AF37"/>
                </a:solidFill>
                <a:latin typeface="Cambria" pitchFamily="34" charset="0"/>
                <a:ea typeface="Cambria" pitchFamily="34" charset="-122"/>
                <a:cs typeface="Cambria" pitchFamily="34" charset="-120"/>
              </a:rPr>
              <a:t>Shortcuts worth knowing</a:t>
            </a:r>
            <a:endParaRPr lang="en-US" sz="1800" dirty="0"/>
          </a:p>
        </p:txBody>
      </p:sp>
      <p:sp>
        <p:nvSpPr>
          <p:cNvPr id="24" name="Text 20"/>
          <p:cNvSpPr txBox="1"/>
          <p:nvPr/>
        </p:nvSpPr>
        <p:spPr>
          <a:xfrm>
            <a:off x="6507328" y="4846320"/>
            <a:ext cx="4861408" cy="137160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250" dirty="0">
                <a:solidFill>
                  <a:srgbClr val="F2EBDD"/>
                </a:solidFill>
                <a:latin typeface="Calibri" pitchFamily="34" charset="0"/>
                <a:ea typeface="Calibri" pitchFamily="34" charset="-122"/>
                <a:cs typeface="Calibri" pitchFamily="34" charset="-120"/>
              </a:rPr>
              <a:t>F, then long press 5: code practice oscillator. No RF, blinks the flashlight if you want.</a:t>
            </a:r>
            <a:endParaRPr lang="en-US" sz="1250" dirty="0"/>
          </a:p>
          <a:p>
            <a:pPr marL="177800" indent="-177800">
              <a:lnSpc>
                <a:spcPct val="105000"/>
              </a:lnSpc>
              <a:spcAft>
                <a:spcPts val="300"/>
              </a:spcAft>
              <a:buSzPct val="100000"/>
              <a:buChar char="•"/>
            </a:pPr>
            <a:r>
              <a:rPr lang="en-US" sz="1250" dirty="0">
                <a:solidFill>
                  <a:srgbClr val="F2EBDD"/>
                </a:solidFill>
                <a:latin typeface="Calibri" pitchFamily="34" charset="0"/>
                <a:ea typeface="Calibri" pitchFamily="34" charset="-122"/>
                <a:cs typeface="Calibri" pitchFamily="34" charset="-120"/>
              </a:rPr>
              <a:t>Long press 7: toggle break-in. F, then long press 4: filter width.</a:t>
            </a:r>
            <a:endParaRPr lang="en-US" sz="1250" dirty="0"/>
          </a:p>
          <a:p>
            <a:pPr marL="177800" indent="-177800">
              <a:lnSpc>
                <a:spcPct val="105000"/>
              </a:lnSpc>
              <a:spcAft>
                <a:spcPts val="300"/>
              </a:spcAft>
              <a:buSzPct val="100000"/>
              <a:buChar char="•"/>
            </a:pPr>
            <a:r>
              <a:rPr lang="en-US" sz="1250" dirty="0">
                <a:solidFill>
                  <a:srgbClr val="F2EBDD"/>
                </a:solidFill>
                <a:latin typeface="Calibri" pitchFamily="34" charset="0"/>
                <a:ea typeface="Calibri" pitchFamily="34" charset="-122"/>
                <a:cs typeface="Calibri" pitchFamily="34" charset="-120"/>
              </a:rPr>
              <a:t>CHIRP will not connect while in CW with a Port input. Switch to FM to program memories.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On the air</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144.025 MHz, slow enough for the newest operator in the room.</a:t>
            </a:r>
            <a:endParaRPr lang="en-US" sz="1600" dirty="0"/>
          </a:p>
        </p:txBody>
      </p:sp>
      <p:sp>
        <p:nvSpPr>
          <p:cNvPr id="5" name="Shape 2"/>
          <p:cNvSpPr/>
          <p:nvPr/>
        </p:nvSpPr>
        <p:spPr>
          <a:xfrm>
            <a:off x="548640" y="1828800"/>
            <a:ext cx="3931920" cy="4434840"/>
          </a:xfrm>
          <a:prstGeom prst="roundRect">
            <a:avLst>
              <a:gd name="adj" fmla="val 2791"/>
            </a:avLst>
          </a:prstGeom>
          <a:solidFill>
            <a:srgbClr val="2A2520"/>
          </a:solidFill>
          <a:ln w="12700">
            <a:solidFill>
              <a:srgbClr val="2A2520"/>
            </a:solidFill>
            <a:prstDash val="solid"/>
          </a:ln>
        </p:spPr>
      </p:sp>
      <p:sp>
        <p:nvSpPr>
          <p:cNvPr id="6" name="Text 3"/>
          <p:cNvSpPr txBox="1"/>
          <p:nvPr/>
        </p:nvSpPr>
        <p:spPr>
          <a:xfrm>
            <a:off x="731520" y="2103120"/>
            <a:ext cx="3566160" cy="1005840"/>
          </a:xfrm>
          <a:prstGeom prst="rect">
            <a:avLst/>
          </a:prstGeom>
          <a:noFill/>
          <a:ln/>
        </p:spPr>
        <p:txBody>
          <a:bodyPr wrap="square" lIns="0" tIns="0" rIns="0" bIns="0" rtlCol="0" anchor="ctr"/>
          <a:lstStyle/>
          <a:p>
            <a:pPr algn="ctr" indent="0" marL="0">
              <a:buNone/>
            </a:pPr>
            <a:r>
              <a:rPr lang="en-US" sz="4400" b="1" dirty="0">
                <a:solidFill>
                  <a:srgbClr val="D4AF37"/>
                </a:solidFill>
                <a:latin typeface="Cambria" pitchFamily="34" charset="0"/>
                <a:ea typeface="Cambria" pitchFamily="34" charset="-122"/>
                <a:cs typeface="Cambria" pitchFamily="34" charset="-120"/>
              </a:rPr>
              <a:t>144.025</a:t>
            </a:r>
            <a:endParaRPr lang="en-US" sz="4400" dirty="0"/>
          </a:p>
        </p:txBody>
      </p:sp>
      <p:sp>
        <p:nvSpPr>
          <p:cNvPr id="7" name="Text 4"/>
          <p:cNvSpPr txBox="1"/>
          <p:nvPr/>
        </p:nvSpPr>
        <p:spPr>
          <a:xfrm>
            <a:off x="731520" y="3063240"/>
            <a:ext cx="3566160" cy="365760"/>
          </a:xfrm>
          <a:prstGeom prst="rect">
            <a:avLst/>
          </a:prstGeom>
          <a:noFill/>
          <a:ln/>
        </p:spPr>
        <p:txBody>
          <a:bodyPr wrap="square" lIns="0" tIns="0" rIns="0" bIns="0" rtlCol="0" anchor="t"/>
          <a:lstStyle/>
          <a:p>
            <a:pPr algn="ctr" indent="0" marL="0">
              <a:lnSpc>
                <a:spcPct val="110000"/>
              </a:lnSpc>
              <a:buNone/>
            </a:pPr>
            <a:r>
              <a:rPr lang="en-US" sz="1600" dirty="0">
                <a:solidFill>
                  <a:srgbClr val="B3A995"/>
                </a:solidFill>
                <a:latin typeface="Calibri" pitchFamily="34" charset="0"/>
                <a:ea typeface="Calibri" pitchFamily="34" charset="-122"/>
                <a:cs typeface="Calibri" pitchFamily="34" charset="-120"/>
              </a:rPr>
              <a:t>MHz  ·  CW</a:t>
            </a:r>
            <a:endParaRPr lang="en-US" sz="1600" dirty="0"/>
          </a:p>
        </p:txBody>
      </p:sp>
      <p:sp>
        <p:nvSpPr>
          <p:cNvPr id="8" name="Text 5"/>
          <p:cNvSpPr txBox="1"/>
          <p:nvPr/>
        </p:nvSpPr>
        <p:spPr>
          <a:xfrm>
            <a:off x="868680" y="3657600"/>
            <a:ext cx="3291840" cy="2468880"/>
          </a:xfrm>
          <a:prstGeom prst="rect">
            <a:avLst/>
          </a:prstGeom>
          <a:noFill/>
          <a:ln/>
        </p:spPr>
        <p:txBody>
          <a:bodyPr wrap="square" lIns="0" tIns="0" rIns="0" bIns="0" rtlCol="0" anchor="t"/>
          <a:lstStyle/>
          <a:p>
            <a:pPr algn="l" indent="0" marL="0">
              <a:lnSpc>
                <a:spcPct val="110000"/>
              </a:lnSpc>
              <a:buNone/>
            </a:pPr>
            <a:r>
              <a:rPr lang="en-US" sz="1350" dirty="0">
                <a:solidFill>
                  <a:srgbClr val="F2EBDD"/>
                </a:solidFill>
                <a:latin typeface="Calibri" pitchFamily="34" charset="0"/>
                <a:ea typeface="Calibri" pitchFamily="34" charset="-122"/>
                <a:cs typeface="Calibri" pitchFamily="34" charset="-120"/>
              </a:rPr>
              <a:t>The calling frequency, at the CW and weak-signal end of 2 meters. Shared with EME, so the courtesies are not optional.</a:t>
            </a:r>
            <a:endParaRPr lang="en-US" sz="1350" dirty="0"/>
          </a:p>
          <a:p>
            <a:pPr algn="l" indent="0" marL="0">
              <a:lnSpc>
                <a:spcPct val="110000"/>
              </a:lnSpc>
              <a:buNone/>
            </a:pPr>
            <a:endParaRPr lang="en-US" sz="1350" dirty="0"/>
          </a:p>
          <a:p>
            <a:pPr algn="l" indent="0" marL="0">
              <a:lnSpc>
                <a:spcPct val="110000"/>
              </a:lnSpc>
              <a:buNone/>
            </a:pPr>
            <a:r>
              <a:rPr lang="en-US" sz="1350" dirty="0">
                <a:solidFill>
                  <a:srgbClr val="F2EBDD"/>
                </a:solidFill>
                <a:latin typeface="Calibri" pitchFamily="34" charset="0"/>
                <a:ea typeface="Calibri" pitchFamily="34" charset="-122"/>
                <a:cs typeface="Calibri" pitchFamily="34" charset="-120"/>
              </a:rPr>
              <a:t>Outside the US, check your national band plan.</a:t>
            </a:r>
            <a:endParaRPr lang="en-US" sz="1350" dirty="0"/>
          </a:p>
        </p:txBody>
      </p:sp>
      <p:sp>
        <p:nvSpPr>
          <p:cNvPr id="9" name="Shape 6"/>
          <p:cNvSpPr/>
          <p:nvPr/>
        </p:nvSpPr>
        <p:spPr>
          <a:xfrm>
            <a:off x="4754880" y="1856232"/>
            <a:ext cx="411480" cy="411480"/>
          </a:xfrm>
          <a:prstGeom prst="ellipse">
            <a:avLst/>
          </a:prstGeom>
          <a:solidFill>
            <a:srgbClr val="D4AF37"/>
          </a:solidFill>
          <a:ln w="12700">
            <a:solidFill>
              <a:srgbClr val="D4AF37"/>
            </a:solidFill>
            <a:prstDash val="solid"/>
          </a:ln>
        </p:spPr>
      </p:sp>
      <p:sp>
        <p:nvSpPr>
          <p:cNvPr id="10" name="Text 7"/>
          <p:cNvSpPr txBox="1"/>
          <p:nvPr/>
        </p:nvSpPr>
        <p:spPr>
          <a:xfrm>
            <a:off x="4754880" y="1856232"/>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1</a:t>
            </a:r>
            <a:endParaRPr lang="en-US" sz="1300" dirty="0"/>
          </a:p>
        </p:txBody>
      </p:sp>
      <p:sp>
        <p:nvSpPr>
          <p:cNvPr id="11" name="Text 8"/>
          <p:cNvSpPr txBox="1"/>
          <p:nvPr/>
        </p:nvSpPr>
        <p:spPr>
          <a:xfrm>
            <a:off x="5349240" y="1828800"/>
            <a:ext cx="629381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Listen first, then QRL?</a:t>
            </a:r>
            <a:endParaRPr lang="en-US" sz="1600" dirty="0"/>
          </a:p>
        </p:txBody>
      </p:sp>
      <p:sp>
        <p:nvSpPr>
          <p:cNvPr id="12" name="Text 9"/>
          <p:cNvSpPr txBox="1"/>
          <p:nvPr/>
        </p:nvSpPr>
        <p:spPr>
          <a:xfrm>
            <a:off x="5349240" y="2157984"/>
            <a:ext cx="6293815" cy="5486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Bylaw III, and this is exactly what it was written for. Somebody working? Move.</a:t>
            </a:r>
            <a:endParaRPr lang="en-US" sz="1300" dirty="0"/>
          </a:p>
        </p:txBody>
      </p:sp>
      <p:sp>
        <p:nvSpPr>
          <p:cNvPr id="13" name="Shape 10"/>
          <p:cNvSpPr/>
          <p:nvPr/>
        </p:nvSpPr>
        <p:spPr>
          <a:xfrm>
            <a:off x="4754880" y="2743200"/>
            <a:ext cx="411480" cy="411480"/>
          </a:xfrm>
          <a:prstGeom prst="ellipse">
            <a:avLst/>
          </a:prstGeom>
          <a:solidFill>
            <a:srgbClr val="D4AF37"/>
          </a:solidFill>
          <a:ln w="12700">
            <a:solidFill>
              <a:srgbClr val="D4AF37"/>
            </a:solidFill>
            <a:prstDash val="solid"/>
          </a:ln>
        </p:spPr>
      </p:sp>
      <p:sp>
        <p:nvSpPr>
          <p:cNvPr id="14" name="Text 11"/>
          <p:cNvSpPr txBox="1"/>
          <p:nvPr/>
        </p:nvSpPr>
        <p:spPr>
          <a:xfrm>
            <a:off x="4754880" y="2743200"/>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2</a:t>
            </a:r>
            <a:endParaRPr lang="en-US" sz="1300" dirty="0"/>
          </a:p>
        </p:txBody>
      </p:sp>
      <p:sp>
        <p:nvSpPr>
          <p:cNvPr id="15" name="Text 12"/>
          <p:cNvSpPr txBox="1"/>
          <p:nvPr/>
        </p:nvSpPr>
        <p:spPr>
          <a:xfrm>
            <a:off x="5349240" y="2715768"/>
            <a:ext cx="629381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Inside your privileges</a:t>
            </a:r>
            <a:endParaRPr lang="en-US" sz="1600" dirty="0"/>
          </a:p>
        </p:txBody>
      </p:sp>
      <p:sp>
        <p:nvSpPr>
          <p:cNvPr id="16" name="Text 13"/>
          <p:cNvSpPr txBox="1"/>
          <p:nvPr/>
        </p:nvSpPr>
        <p:spPr>
          <a:xfrm>
            <a:off x="5349240" y="3044952"/>
            <a:ext cx="6293815" cy="5486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Your license, your band plan, your responsibility. We are a law-abiding, FCC-respecting gang.</a:t>
            </a:r>
            <a:endParaRPr lang="en-US" sz="1300" dirty="0"/>
          </a:p>
        </p:txBody>
      </p:sp>
      <p:sp>
        <p:nvSpPr>
          <p:cNvPr id="17" name="Shape 14"/>
          <p:cNvSpPr/>
          <p:nvPr/>
        </p:nvSpPr>
        <p:spPr>
          <a:xfrm>
            <a:off x="4754880" y="3630168"/>
            <a:ext cx="411480" cy="411480"/>
          </a:xfrm>
          <a:prstGeom prst="ellipse">
            <a:avLst/>
          </a:prstGeom>
          <a:solidFill>
            <a:srgbClr val="D4AF37"/>
          </a:solidFill>
          <a:ln w="12700">
            <a:solidFill>
              <a:srgbClr val="D4AF37"/>
            </a:solidFill>
            <a:prstDash val="solid"/>
          </a:ln>
        </p:spPr>
      </p:sp>
      <p:sp>
        <p:nvSpPr>
          <p:cNvPr id="18" name="Text 15"/>
          <p:cNvSpPr txBox="1"/>
          <p:nvPr/>
        </p:nvSpPr>
        <p:spPr>
          <a:xfrm>
            <a:off x="4754880" y="3630168"/>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3</a:t>
            </a:r>
            <a:endParaRPr lang="en-US" sz="1300" dirty="0"/>
          </a:p>
        </p:txBody>
      </p:sp>
      <p:sp>
        <p:nvSpPr>
          <p:cNvPr id="19" name="Text 16"/>
          <p:cNvSpPr txBox="1"/>
          <p:nvPr/>
        </p:nvSpPr>
        <p:spPr>
          <a:xfrm>
            <a:off x="5349240" y="3602736"/>
            <a:ext cx="629381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Medium power, modest antenna</a:t>
            </a:r>
            <a:endParaRPr lang="en-US" sz="1600" dirty="0"/>
          </a:p>
        </p:txBody>
      </p:sp>
      <p:sp>
        <p:nvSpPr>
          <p:cNvPr id="20" name="Text 17"/>
          <p:cNvSpPr txBox="1"/>
          <p:nvPr/>
        </p:nvSpPr>
        <p:spPr>
          <a:xfrm>
            <a:off x="5349240" y="3931920"/>
            <a:ext cx="6293815" cy="5486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It is a local mode. A whip works across town; a small beam works across the valley.</a:t>
            </a:r>
            <a:endParaRPr lang="en-US" sz="1300" dirty="0"/>
          </a:p>
        </p:txBody>
      </p:sp>
      <p:sp>
        <p:nvSpPr>
          <p:cNvPr id="21" name="Shape 18"/>
          <p:cNvSpPr/>
          <p:nvPr/>
        </p:nvSpPr>
        <p:spPr>
          <a:xfrm>
            <a:off x="4754880" y="4517136"/>
            <a:ext cx="411480" cy="411480"/>
          </a:xfrm>
          <a:prstGeom prst="ellipse">
            <a:avLst/>
          </a:prstGeom>
          <a:solidFill>
            <a:srgbClr val="D4AF37"/>
          </a:solidFill>
          <a:ln w="12700">
            <a:solidFill>
              <a:srgbClr val="D4AF37"/>
            </a:solidFill>
            <a:prstDash val="solid"/>
          </a:ln>
        </p:spPr>
      </p:sp>
      <p:sp>
        <p:nvSpPr>
          <p:cNvPr id="22" name="Text 19"/>
          <p:cNvSpPr txBox="1"/>
          <p:nvPr/>
        </p:nvSpPr>
        <p:spPr>
          <a:xfrm>
            <a:off x="4754880" y="4517136"/>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4</a:t>
            </a:r>
            <a:endParaRPr lang="en-US" sz="1300" dirty="0"/>
          </a:p>
        </p:txBody>
      </p:sp>
      <p:sp>
        <p:nvSpPr>
          <p:cNvPr id="23" name="Text 20"/>
          <p:cNvSpPr txBox="1"/>
          <p:nvPr/>
        </p:nvSpPr>
        <p:spPr>
          <a:xfrm>
            <a:off x="5349240" y="4489704"/>
            <a:ext cx="629381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QRS is a feature</a:t>
            </a:r>
            <a:endParaRPr lang="en-US" sz="1600" dirty="0"/>
          </a:p>
        </p:txBody>
      </p:sp>
      <p:sp>
        <p:nvSpPr>
          <p:cNvPr id="24" name="Text 21"/>
          <p:cNvSpPr txBox="1"/>
          <p:nvPr/>
        </p:nvSpPr>
        <p:spPr>
          <a:xfrm>
            <a:off x="5349240" y="4818888"/>
            <a:ext cx="6293815" cy="5486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5 WPM counts as much as 25. Put the club on the frequency and run it at the slowest operator's speed.</a:t>
            </a:r>
            <a:endParaRPr lang="en-US" sz="1300" dirty="0"/>
          </a:p>
        </p:txBody>
      </p:sp>
      <p:sp>
        <p:nvSpPr>
          <p:cNvPr id="25" name="Shape 22"/>
          <p:cNvSpPr/>
          <p:nvPr/>
        </p:nvSpPr>
        <p:spPr>
          <a:xfrm>
            <a:off x="4754880" y="5404104"/>
            <a:ext cx="411480" cy="411480"/>
          </a:xfrm>
          <a:prstGeom prst="ellipse">
            <a:avLst/>
          </a:prstGeom>
          <a:solidFill>
            <a:srgbClr val="D4AF37"/>
          </a:solidFill>
          <a:ln w="12700">
            <a:solidFill>
              <a:srgbClr val="D4AF37"/>
            </a:solidFill>
            <a:prstDash val="solid"/>
          </a:ln>
        </p:spPr>
      </p:sp>
      <p:sp>
        <p:nvSpPr>
          <p:cNvPr id="26" name="Text 23"/>
          <p:cNvSpPr txBox="1"/>
          <p:nvPr/>
        </p:nvSpPr>
        <p:spPr>
          <a:xfrm>
            <a:off x="4754880" y="5404104"/>
            <a:ext cx="411480" cy="41148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5</a:t>
            </a:r>
            <a:endParaRPr lang="en-US" sz="1300" dirty="0"/>
          </a:p>
        </p:txBody>
      </p:sp>
      <p:sp>
        <p:nvSpPr>
          <p:cNvPr id="27" name="Text 24"/>
          <p:cNvSpPr txBox="1"/>
          <p:nvPr/>
        </p:nvSpPr>
        <p:spPr>
          <a:xfrm>
            <a:off x="5349240" y="5376672"/>
            <a:ext cx="6293815" cy="320040"/>
          </a:xfrm>
          <a:prstGeom prst="rect">
            <a:avLst/>
          </a:prstGeom>
          <a:noFill/>
          <a:ln/>
        </p:spPr>
        <p:txBody>
          <a:bodyPr wrap="square" lIns="0" tIns="0" rIns="0" bIns="0" rtlCol="0" anchor="t"/>
          <a:lstStyle/>
          <a:p>
            <a:pPr algn="l" indent="0" marL="0">
              <a:lnSpc>
                <a:spcPct val="110000"/>
              </a:lnSpc>
              <a:buNone/>
            </a:pPr>
            <a:r>
              <a:rPr lang="en-US" sz="1600" b="1" dirty="0">
                <a:solidFill>
                  <a:srgbClr val="F2EBDD"/>
                </a:solidFill>
                <a:latin typeface="Calibri" pitchFamily="34" charset="0"/>
                <a:ea typeface="Calibri" pitchFamily="34" charset="-122"/>
                <a:cs typeface="Calibri" pitchFamily="34" charset="-120"/>
              </a:rPr>
              <a:t>The honest version</a:t>
            </a:r>
            <a:endParaRPr lang="en-US" sz="1600" dirty="0"/>
          </a:p>
        </p:txBody>
      </p:sp>
      <p:sp>
        <p:nvSpPr>
          <p:cNvPr id="28" name="Text 25"/>
          <p:cNvSpPr txBox="1"/>
          <p:nvPr/>
        </p:nvSpPr>
        <p:spPr>
          <a:xfrm>
            <a:off x="5349240" y="5705856"/>
            <a:ext cx="6293815" cy="5486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A modified cheap radio, not a weak-signal station, and it behaves like one. That is the point.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Days since we broke a Quansheng</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The gang keeps a safety board. Names are named. Every incident is a slide you just saw.</a:t>
            </a:r>
            <a:endParaRPr lang="en-US" sz="1600" dirty="0"/>
          </a:p>
        </p:txBody>
      </p:sp>
      <p:sp>
        <p:nvSpPr>
          <p:cNvPr id="5" name="Shape 2"/>
          <p:cNvSpPr/>
          <p:nvPr/>
        </p:nvSpPr>
        <p:spPr>
          <a:xfrm>
            <a:off x="548640" y="1828800"/>
            <a:ext cx="3515258" cy="4434840"/>
          </a:xfrm>
          <a:prstGeom prst="roundRect">
            <a:avLst>
              <a:gd name="adj" fmla="val 3121"/>
            </a:avLst>
          </a:prstGeom>
          <a:solidFill>
            <a:srgbClr val="211D19"/>
          </a:solidFill>
          <a:ln w="12700">
            <a:solidFill>
              <a:srgbClr val="211D19"/>
            </a:solidFill>
            <a:prstDash val="solid"/>
          </a:ln>
        </p:spPr>
      </p:sp>
      <p:sp>
        <p:nvSpPr>
          <p:cNvPr id="6" name="Text 3"/>
          <p:cNvSpPr txBox="1"/>
          <p:nvPr/>
        </p:nvSpPr>
        <p:spPr>
          <a:xfrm>
            <a:off x="822960" y="2011680"/>
            <a:ext cx="1097280" cy="45720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#001</a:t>
            </a:r>
            <a:endParaRPr lang="en-US" sz="2400" dirty="0"/>
          </a:p>
        </p:txBody>
      </p:sp>
      <p:sp>
        <p:nvSpPr>
          <p:cNvPr id="7" name="Text 4"/>
          <p:cNvSpPr txBox="1"/>
          <p:nvPr/>
        </p:nvSpPr>
        <p:spPr>
          <a:xfrm>
            <a:off x="1920240" y="2011680"/>
            <a:ext cx="1869338" cy="457200"/>
          </a:xfrm>
          <a:prstGeom prst="rect">
            <a:avLst/>
          </a:prstGeom>
          <a:noFill/>
          <a:ln/>
        </p:spPr>
        <p:txBody>
          <a:bodyPr wrap="square" lIns="0" tIns="0" rIns="0" bIns="0" rtlCol="0" anchor="ctr"/>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22 Aug 2026  ·  N9HO</a:t>
            </a:r>
            <a:endParaRPr lang="en-US" sz="1300" dirty="0"/>
          </a:p>
        </p:txBody>
      </p:sp>
      <p:sp>
        <p:nvSpPr>
          <p:cNvPr id="8" name="Text 5"/>
          <p:cNvSpPr txBox="1"/>
          <p:nvPr/>
        </p:nvSpPr>
        <p:spPr>
          <a:xfrm>
            <a:off x="822960" y="2651760"/>
            <a:ext cx="2966618" cy="1737360"/>
          </a:xfrm>
          <a:prstGeom prst="rect">
            <a:avLst/>
          </a:prstGeom>
          <a:noFill/>
          <a:ln/>
        </p:spPr>
        <p:txBody>
          <a:bodyPr wrap="square" lIns="0" tIns="0" rIns="0" bIns="0" rtlCol="0" anchor="t"/>
          <a:lstStyle/>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Tore the screen clean off one on the floor of the Huntsville Hamfest. At the ARRL National Convention. In front of everybody.</a:t>
            </a:r>
            <a:endParaRPr lang="en-US" sz="1400" dirty="0"/>
          </a:p>
        </p:txBody>
      </p:sp>
      <p:sp>
        <p:nvSpPr>
          <p:cNvPr id="9" name="Shape 6"/>
          <p:cNvSpPr/>
          <p:nvPr/>
        </p:nvSpPr>
        <p:spPr>
          <a:xfrm>
            <a:off x="822960" y="4526280"/>
            <a:ext cx="2966618" cy="1508760"/>
          </a:xfrm>
          <a:prstGeom prst="roundRect">
            <a:avLst>
              <a:gd name="adj" fmla="val 6061"/>
            </a:avLst>
          </a:prstGeom>
          <a:solidFill>
            <a:srgbClr val="2A2520"/>
          </a:solidFill>
          <a:ln w="12700">
            <a:solidFill>
              <a:srgbClr val="2A2520"/>
            </a:solidFill>
            <a:prstDash val="solid"/>
          </a:ln>
        </p:spPr>
      </p:sp>
      <p:sp>
        <p:nvSpPr>
          <p:cNvPr id="10" name="Text 7"/>
          <p:cNvSpPr txBox="1"/>
          <p:nvPr/>
        </p:nvSpPr>
        <p:spPr>
          <a:xfrm>
            <a:off x="1005840" y="4617720"/>
            <a:ext cx="2600858" cy="274320"/>
          </a:xfrm>
          <a:prstGeom prst="rect">
            <a:avLst/>
          </a:prstGeom>
          <a:noFill/>
          <a:ln/>
        </p:spPr>
        <p:txBody>
          <a:bodyPr wrap="square" lIns="0" tIns="0" rIns="0" bIns="0" rtlCol="0" anchor="t"/>
          <a:lstStyle/>
          <a:p>
            <a:pPr algn="l" indent="0" marL="0">
              <a:lnSpc>
                <a:spcPct val="110000"/>
              </a:lnSpc>
              <a:buNone/>
            </a:pPr>
            <a:r>
              <a:rPr lang="en-US" sz="1100" b="1" dirty="0">
                <a:solidFill>
                  <a:srgbClr val="D4AF37"/>
                </a:solidFill>
                <a:latin typeface="Calibri" pitchFamily="34" charset="0"/>
                <a:ea typeface="Calibri" pitchFamily="34" charset="-122"/>
                <a:cs typeface="Calibri" pitchFamily="34" charset="-120"/>
              </a:rPr>
              <a:t>Lesson</a:t>
            </a:r>
            <a:endParaRPr lang="en-US" sz="1100" dirty="0"/>
          </a:p>
        </p:txBody>
      </p:sp>
      <p:sp>
        <p:nvSpPr>
          <p:cNvPr id="11" name="Text 8"/>
          <p:cNvSpPr txBox="1"/>
          <p:nvPr/>
        </p:nvSpPr>
        <p:spPr>
          <a:xfrm>
            <a:off x="1005840" y="4937760"/>
            <a:ext cx="2600858" cy="105156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Pry at the lower edge, front face down, and stop when the volume stem clears.</a:t>
            </a:r>
            <a:endParaRPr lang="en-US" sz="1300" dirty="0"/>
          </a:p>
        </p:txBody>
      </p:sp>
      <p:sp>
        <p:nvSpPr>
          <p:cNvPr id="12" name="Shape 9"/>
          <p:cNvSpPr/>
          <p:nvPr/>
        </p:nvSpPr>
        <p:spPr>
          <a:xfrm>
            <a:off x="4338218" y="1828800"/>
            <a:ext cx="3515258" cy="4434840"/>
          </a:xfrm>
          <a:prstGeom prst="roundRect">
            <a:avLst>
              <a:gd name="adj" fmla="val 3121"/>
            </a:avLst>
          </a:prstGeom>
          <a:solidFill>
            <a:srgbClr val="211D19"/>
          </a:solidFill>
          <a:ln w="12700">
            <a:solidFill>
              <a:srgbClr val="211D19"/>
            </a:solidFill>
            <a:prstDash val="solid"/>
          </a:ln>
        </p:spPr>
      </p:sp>
      <p:sp>
        <p:nvSpPr>
          <p:cNvPr id="13" name="Text 10"/>
          <p:cNvSpPr txBox="1"/>
          <p:nvPr/>
        </p:nvSpPr>
        <p:spPr>
          <a:xfrm>
            <a:off x="4612538" y="2011680"/>
            <a:ext cx="1097280" cy="45720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#002</a:t>
            </a:r>
            <a:endParaRPr lang="en-US" sz="2400" dirty="0"/>
          </a:p>
        </p:txBody>
      </p:sp>
      <p:sp>
        <p:nvSpPr>
          <p:cNvPr id="14" name="Text 11"/>
          <p:cNvSpPr txBox="1"/>
          <p:nvPr/>
        </p:nvSpPr>
        <p:spPr>
          <a:xfrm>
            <a:off x="5709818" y="2011680"/>
            <a:ext cx="1869338" cy="457200"/>
          </a:xfrm>
          <a:prstGeom prst="rect">
            <a:avLst/>
          </a:prstGeom>
          <a:noFill/>
          <a:ln/>
        </p:spPr>
        <p:txBody>
          <a:bodyPr wrap="square" lIns="0" tIns="0" rIns="0" bIns="0" rtlCol="0" anchor="ctr"/>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1 Sep 2026  ·  K3JRZ</a:t>
            </a:r>
            <a:endParaRPr lang="en-US" sz="1300" dirty="0"/>
          </a:p>
        </p:txBody>
      </p:sp>
      <p:sp>
        <p:nvSpPr>
          <p:cNvPr id="15" name="Text 12"/>
          <p:cNvSpPr txBox="1"/>
          <p:nvPr/>
        </p:nvSpPr>
        <p:spPr>
          <a:xfrm>
            <a:off x="4612538" y="2651760"/>
            <a:ext cx="2966618" cy="1737360"/>
          </a:xfrm>
          <a:prstGeom prst="rect">
            <a:avLst/>
          </a:prstGeom>
          <a:noFill/>
          <a:ln/>
        </p:spPr>
        <p:txBody>
          <a:bodyPr wrap="square" lIns="0" tIns="0" rIns="0" bIns="0" rtlCol="0" anchor="t"/>
          <a:lstStyle/>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Went in for two resistors, came out with zero pads. Murdered the whole neighborhood. The radio is now a keychain.</a:t>
            </a:r>
            <a:endParaRPr lang="en-US" sz="1400" dirty="0"/>
          </a:p>
        </p:txBody>
      </p:sp>
      <p:sp>
        <p:nvSpPr>
          <p:cNvPr id="16" name="Shape 13"/>
          <p:cNvSpPr/>
          <p:nvPr/>
        </p:nvSpPr>
        <p:spPr>
          <a:xfrm>
            <a:off x="4612538" y="4526280"/>
            <a:ext cx="2966618" cy="1508760"/>
          </a:xfrm>
          <a:prstGeom prst="roundRect">
            <a:avLst>
              <a:gd name="adj" fmla="val 6061"/>
            </a:avLst>
          </a:prstGeom>
          <a:solidFill>
            <a:srgbClr val="2A2520"/>
          </a:solidFill>
          <a:ln w="12700">
            <a:solidFill>
              <a:srgbClr val="2A2520"/>
            </a:solidFill>
            <a:prstDash val="solid"/>
          </a:ln>
        </p:spPr>
      </p:sp>
      <p:sp>
        <p:nvSpPr>
          <p:cNvPr id="17" name="Text 14"/>
          <p:cNvSpPr txBox="1"/>
          <p:nvPr/>
        </p:nvSpPr>
        <p:spPr>
          <a:xfrm>
            <a:off x="4795418" y="4617720"/>
            <a:ext cx="2600858" cy="274320"/>
          </a:xfrm>
          <a:prstGeom prst="rect">
            <a:avLst/>
          </a:prstGeom>
          <a:noFill/>
          <a:ln/>
        </p:spPr>
        <p:txBody>
          <a:bodyPr wrap="square" lIns="0" tIns="0" rIns="0" bIns="0" rtlCol="0" anchor="t"/>
          <a:lstStyle/>
          <a:p>
            <a:pPr algn="l" indent="0" marL="0">
              <a:lnSpc>
                <a:spcPct val="110000"/>
              </a:lnSpc>
              <a:buNone/>
            </a:pPr>
            <a:r>
              <a:rPr lang="en-US" sz="1100" b="1" dirty="0">
                <a:solidFill>
                  <a:srgbClr val="D4AF37"/>
                </a:solidFill>
                <a:latin typeface="Calibri" pitchFamily="34" charset="0"/>
                <a:ea typeface="Calibri" pitchFamily="34" charset="-122"/>
                <a:cs typeface="Calibri" pitchFamily="34" charset="-120"/>
              </a:rPr>
              <a:t>Lesson</a:t>
            </a:r>
            <a:endParaRPr lang="en-US" sz="1100" dirty="0"/>
          </a:p>
        </p:txBody>
      </p:sp>
      <p:sp>
        <p:nvSpPr>
          <p:cNvPr id="18" name="Text 15"/>
          <p:cNvSpPr txBox="1"/>
          <p:nvPr/>
        </p:nvSpPr>
        <p:spPr>
          <a:xfrm>
            <a:off x="4795418" y="4937760"/>
            <a:ext cx="2600858" cy="105156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Heat, do not pull. Dab of solder on the tip, lift with tweezers.</a:t>
            </a:r>
            <a:endParaRPr lang="en-US" sz="1300" dirty="0"/>
          </a:p>
        </p:txBody>
      </p:sp>
      <p:sp>
        <p:nvSpPr>
          <p:cNvPr id="19" name="Shape 16"/>
          <p:cNvSpPr/>
          <p:nvPr/>
        </p:nvSpPr>
        <p:spPr>
          <a:xfrm>
            <a:off x="8127797" y="1828800"/>
            <a:ext cx="3515258" cy="4434840"/>
          </a:xfrm>
          <a:prstGeom prst="roundRect">
            <a:avLst>
              <a:gd name="adj" fmla="val 3121"/>
            </a:avLst>
          </a:prstGeom>
          <a:solidFill>
            <a:srgbClr val="211D19"/>
          </a:solidFill>
          <a:ln w="12700">
            <a:solidFill>
              <a:srgbClr val="211D19"/>
            </a:solidFill>
            <a:prstDash val="solid"/>
          </a:ln>
        </p:spPr>
      </p:sp>
      <p:sp>
        <p:nvSpPr>
          <p:cNvPr id="20" name="Text 17"/>
          <p:cNvSpPr txBox="1"/>
          <p:nvPr/>
        </p:nvSpPr>
        <p:spPr>
          <a:xfrm>
            <a:off x="8402117" y="2011680"/>
            <a:ext cx="1097280" cy="457200"/>
          </a:xfrm>
          <a:prstGeom prst="rect">
            <a:avLst/>
          </a:prstGeom>
          <a:noFill/>
          <a:ln/>
        </p:spPr>
        <p:txBody>
          <a:bodyPr wrap="square" lIns="0" tIns="0" rIns="0" bIns="0" rtlCol="0" anchor="ctr"/>
          <a:lstStyle/>
          <a:p>
            <a:pPr indent="0" marL="0">
              <a:buNone/>
            </a:pPr>
            <a:r>
              <a:rPr lang="en-US" sz="2400" b="1" dirty="0">
                <a:solidFill>
                  <a:srgbClr val="D4AF37"/>
                </a:solidFill>
                <a:latin typeface="Cambria" pitchFamily="34" charset="0"/>
                <a:ea typeface="Cambria" pitchFamily="34" charset="-122"/>
                <a:cs typeface="Cambria" pitchFamily="34" charset="-120"/>
              </a:rPr>
              <a:t>#003</a:t>
            </a:r>
            <a:endParaRPr lang="en-US" sz="2400" dirty="0"/>
          </a:p>
        </p:txBody>
      </p:sp>
      <p:sp>
        <p:nvSpPr>
          <p:cNvPr id="21" name="Text 18"/>
          <p:cNvSpPr txBox="1"/>
          <p:nvPr/>
        </p:nvSpPr>
        <p:spPr>
          <a:xfrm>
            <a:off x="9499397" y="2011680"/>
            <a:ext cx="1869338" cy="457200"/>
          </a:xfrm>
          <a:prstGeom prst="rect">
            <a:avLst/>
          </a:prstGeom>
          <a:noFill/>
          <a:ln/>
        </p:spPr>
        <p:txBody>
          <a:bodyPr wrap="square" lIns="0" tIns="0" rIns="0" bIns="0" rtlCol="0" anchor="ctr"/>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11 Sep 2026  ·  AA1N</a:t>
            </a:r>
            <a:endParaRPr lang="en-US" sz="1300" dirty="0"/>
          </a:p>
        </p:txBody>
      </p:sp>
      <p:sp>
        <p:nvSpPr>
          <p:cNvPr id="22" name="Text 19"/>
          <p:cNvSpPr txBox="1"/>
          <p:nvPr/>
        </p:nvSpPr>
        <p:spPr>
          <a:xfrm>
            <a:off x="8402117" y="2651760"/>
            <a:ext cx="2966618" cy="1737360"/>
          </a:xfrm>
          <a:prstGeom prst="rect">
            <a:avLst/>
          </a:prstGeom>
          <a:noFill/>
          <a:ln/>
        </p:spPr>
        <p:txBody>
          <a:bodyPr wrap="square" lIns="0" tIns="0" rIns="0" bIns="0" rtlCol="0" anchor="t"/>
          <a:lstStyle/>
          <a:p>
            <a:pPr algn="l" indent="0" marL="0">
              <a:lnSpc>
                <a:spcPct val="110000"/>
              </a:lnSpc>
              <a:buNone/>
            </a:pPr>
            <a:r>
              <a:rPr lang="en-US" sz="1400" dirty="0">
                <a:solidFill>
                  <a:srgbClr val="F2EBDD"/>
                </a:solidFill>
                <a:latin typeface="Calibri" pitchFamily="34" charset="0"/>
                <a:ea typeface="Calibri" pitchFamily="34" charset="-122"/>
                <a:cs typeface="Calibri" pitchFamily="34" charset="-120"/>
              </a:rPr>
              <a:t>Ripped the display ribbon cable clean out of the board. Now enjoying the flashing screen of death.</a:t>
            </a:r>
            <a:endParaRPr lang="en-US" sz="1400" dirty="0"/>
          </a:p>
        </p:txBody>
      </p:sp>
      <p:sp>
        <p:nvSpPr>
          <p:cNvPr id="23" name="Shape 20"/>
          <p:cNvSpPr/>
          <p:nvPr/>
        </p:nvSpPr>
        <p:spPr>
          <a:xfrm>
            <a:off x="8402117" y="4526280"/>
            <a:ext cx="2966618" cy="1508760"/>
          </a:xfrm>
          <a:prstGeom prst="roundRect">
            <a:avLst>
              <a:gd name="adj" fmla="val 6061"/>
            </a:avLst>
          </a:prstGeom>
          <a:solidFill>
            <a:srgbClr val="2A2520"/>
          </a:solidFill>
          <a:ln w="12700">
            <a:solidFill>
              <a:srgbClr val="2A2520"/>
            </a:solidFill>
            <a:prstDash val="solid"/>
          </a:ln>
        </p:spPr>
      </p:sp>
      <p:sp>
        <p:nvSpPr>
          <p:cNvPr id="24" name="Text 21"/>
          <p:cNvSpPr txBox="1"/>
          <p:nvPr/>
        </p:nvSpPr>
        <p:spPr>
          <a:xfrm>
            <a:off x="8584997" y="4617720"/>
            <a:ext cx="2600858" cy="274320"/>
          </a:xfrm>
          <a:prstGeom prst="rect">
            <a:avLst/>
          </a:prstGeom>
          <a:noFill/>
          <a:ln/>
        </p:spPr>
        <p:txBody>
          <a:bodyPr wrap="square" lIns="0" tIns="0" rIns="0" bIns="0" rtlCol="0" anchor="t"/>
          <a:lstStyle/>
          <a:p>
            <a:pPr algn="l" indent="0" marL="0">
              <a:lnSpc>
                <a:spcPct val="110000"/>
              </a:lnSpc>
              <a:buNone/>
            </a:pPr>
            <a:r>
              <a:rPr lang="en-US" sz="1100" b="1" dirty="0">
                <a:solidFill>
                  <a:srgbClr val="D4AF37"/>
                </a:solidFill>
                <a:latin typeface="Calibri" pitchFamily="34" charset="0"/>
                <a:ea typeface="Calibri" pitchFamily="34" charset="-122"/>
                <a:cs typeface="Calibri" pitchFamily="34" charset="-120"/>
              </a:rPr>
              <a:t>Lesson</a:t>
            </a:r>
            <a:endParaRPr lang="en-US" sz="1100" dirty="0"/>
          </a:p>
        </p:txBody>
      </p:sp>
      <p:sp>
        <p:nvSpPr>
          <p:cNvPr id="25" name="Text 22"/>
          <p:cNvSpPr txBox="1"/>
          <p:nvPr/>
        </p:nvSpPr>
        <p:spPr>
          <a:xfrm>
            <a:off x="8584997" y="4937760"/>
            <a:ext cx="2600858" cy="1051560"/>
          </a:xfrm>
          <a:prstGeom prst="rect">
            <a:avLst/>
          </a:prstGeom>
          <a:noFill/>
          <a:ln/>
        </p:spPr>
        <p:txBody>
          <a:bodyPr wrap="square" lIns="0" tIns="0" rIns="0" bIns="0" rtlCol="0" anchor="t"/>
          <a:lstStyle/>
          <a:p>
            <a:pPr algn="l" indent="0" marL="0">
              <a:lnSpc>
                <a:spcPct val="110000"/>
              </a:lnSpc>
              <a:buNone/>
            </a:pPr>
            <a:r>
              <a:rPr lang="en-US" sz="1300" dirty="0">
                <a:solidFill>
                  <a:srgbClr val="F2EBDD"/>
                </a:solidFill>
                <a:latin typeface="Calibri" pitchFamily="34" charset="0"/>
                <a:ea typeface="Calibri" pitchFamily="34" charset="-122"/>
                <a:cs typeface="Calibri" pitchFamily="34" charset="-120"/>
              </a:rPr>
              <a:t>Socket door up first. Then, and only then, the ribbon slides out.</a:t>
            </a:r>
            <a:endParaRPr lang="en-US" sz="1300" dirty="0"/>
          </a:p>
        </p:txBody>
      </p:sp>
      <p:sp>
        <p:nvSpPr>
          <p:cNvPr id="26" name="Text 23"/>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7D7466"/>
                </a:solidFill>
                <a:latin typeface="Calibri" pitchFamily="34" charset="0"/>
                <a:ea typeface="Calibri" pitchFamily="34" charset="-122"/>
                <a:cs typeface="Calibri" pitchFamily="34" charset="-120"/>
              </a:rPr>
              <a:t>Live sign and incident log: bkg.club/safety.html. Broke one? Confess on Discord and an officer resets the sign.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The Brass Knuckle Gang</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A law-abiding, FCC-respecting gang for amateur radio operators. 2 meter CW or bust.</a:t>
            </a:r>
            <a:endParaRPr lang="en-US" sz="1600" dirty="0"/>
          </a:p>
        </p:txBody>
      </p:sp>
      <p:pic>
        <p:nvPicPr>
          <p:cNvPr id="5" name="Image 0" descr="/tmp/claude-0/-home-user-bkg-club/dd98b25f-744f-5b52-bca4-d25dd18876d9/scratchpad/img/bkg-logo.jpg">    </p:cNvPr>
          <p:cNvPicPr>
            <a:picLocks noChangeAspect="1"/>
          </p:cNvPicPr>
          <p:nvPr/>
        </p:nvPicPr>
        <p:blipFill>
          <a:blip r:embed="rId1"/>
          <a:stretch>
            <a:fillRect/>
          </a:stretch>
        </p:blipFill>
        <p:spPr>
          <a:xfrm>
            <a:off x="548640" y="1828800"/>
            <a:ext cx="3291840" cy="3291840"/>
          </a:xfrm>
          <a:prstGeom prst="rect">
            <a:avLst/>
          </a:prstGeom>
        </p:spPr>
      </p:pic>
      <p:sp>
        <p:nvSpPr>
          <p:cNvPr id="6" name="Text 2"/>
          <p:cNvSpPr txBox="1"/>
          <p:nvPr/>
        </p:nvSpPr>
        <p:spPr>
          <a:xfrm>
            <a:off x="548640" y="5230368"/>
            <a:ext cx="1097280" cy="246888"/>
          </a:xfrm>
          <a:prstGeom prst="rect">
            <a:avLst/>
          </a:prstGeom>
          <a:noFill/>
          <a:ln/>
        </p:spPr>
        <p:txBody>
          <a:bodyPr wrap="square" lIns="0" tIns="0" rIns="0" bIns="0" rtlCol="0" anchor="t"/>
          <a:lstStyle/>
          <a:p>
            <a:pPr algn="l" indent="0" marL="0">
              <a:lnSpc>
                <a:spcPct val="110000"/>
              </a:lnSpc>
              <a:buNone/>
            </a:pPr>
            <a:r>
              <a:rPr lang="en-US" sz="1100" b="1" dirty="0">
                <a:solidFill>
                  <a:srgbClr val="D4AF37"/>
                </a:solidFill>
                <a:latin typeface="Calibri" pitchFamily="34" charset="0"/>
                <a:ea typeface="Calibri" pitchFamily="34" charset="-122"/>
                <a:cs typeface="Calibri" pitchFamily="34" charset="-120"/>
              </a:rPr>
              <a:t>Founded</a:t>
            </a:r>
            <a:endParaRPr lang="en-US" sz="1100" dirty="0"/>
          </a:p>
        </p:txBody>
      </p:sp>
      <p:sp>
        <p:nvSpPr>
          <p:cNvPr id="7" name="Text 3"/>
          <p:cNvSpPr txBox="1"/>
          <p:nvPr/>
        </p:nvSpPr>
        <p:spPr>
          <a:xfrm>
            <a:off x="1645920" y="5230368"/>
            <a:ext cx="2377440" cy="246888"/>
          </a:xfrm>
          <a:prstGeom prst="rect">
            <a:avLst/>
          </a:prstGeom>
          <a:noFill/>
          <a:ln/>
        </p:spPr>
        <p:txBody>
          <a:bodyPr wrap="square" lIns="0" tIns="0" rIns="0" bIns="0" rtlCol="0" anchor="t"/>
          <a:lstStyle/>
          <a:p>
            <a:pPr algn="l" indent="0" marL="0">
              <a:lnSpc>
                <a:spcPct val="110000"/>
              </a:lnSpc>
              <a:buNone/>
            </a:pPr>
            <a:r>
              <a:rPr lang="en-US" sz="1100" dirty="0">
                <a:solidFill>
                  <a:srgbClr val="B3A995"/>
                </a:solidFill>
                <a:latin typeface="Calibri" pitchFamily="34" charset="0"/>
                <a:ea typeface="Calibri" pitchFamily="34" charset="-122"/>
                <a:cs typeface="Calibri" pitchFamily="34" charset="-120"/>
              </a:rPr>
              <a:t>2025, Northern Utah</a:t>
            </a:r>
            <a:endParaRPr lang="en-US" sz="1100" dirty="0"/>
          </a:p>
        </p:txBody>
      </p:sp>
      <p:sp>
        <p:nvSpPr>
          <p:cNvPr id="8" name="Text 4"/>
          <p:cNvSpPr txBox="1"/>
          <p:nvPr/>
        </p:nvSpPr>
        <p:spPr>
          <a:xfrm>
            <a:off x="548640" y="5477256"/>
            <a:ext cx="1097280" cy="246888"/>
          </a:xfrm>
          <a:prstGeom prst="rect">
            <a:avLst/>
          </a:prstGeom>
          <a:noFill/>
          <a:ln/>
        </p:spPr>
        <p:txBody>
          <a:bodyPr wrap="square" lIns="0" tIns="0" rIns="0" bIns="0" rtlCol="0" anchor="t"/>
          <a:lstStyle/>
          <a:p>
            <a:pPr algn="l" indent="0" marL="0">
              <a:lnSpc>
                <a:spcPct val="110000"/>
              </a:lnSpc>
              <a:buNone/>
            </a:pPr>
            <a:r>
              <a:rPr lang="en-US" sz="1100" b="1" dirty="0">
                <a:solidFill>
                  <a:srgbClr val="D4AF37"/>
                </a:solidFill>
                <a:latin typeface="Calibri" pitchFamily="34" charset="0"/>
                <a:ea typeface="Calibri" pitchFamily="34" charset="-122"/>
                <a:cs typeface="Calibri" pitchFamily="34" charset="-120"/>
              </a:rPr>
              <a:t>Territory</a:t>
            </a:r>
            <a:endParaRPr lang="en-US" sz="1100" dirty="0"/>
          </a:p>
        </p:txBody>
      </p:sp>
      <p:sp>
        <p:nvSpPr>
          <p:cNvPr id="9" name="Text 5"/>
          <p:cNvSpPr txBox="1"/>
          <p:nvPr/>
        </p:nvSpPr>
        <p:spPr>
          <a:xfrm>
            <a:off x="1645920" y="5477256"/>
            <a:ext cx="2377440" cy="246888"/>
          </a:xfrm>
          <a:prstGeom prst="rect">
            <a:avLst/>
          </a:prstGeom>
          <a:noFill/>
          <a:ln/>
        </p:spPr>
        <p:txBody>
          <a:bodyPr wrap="square" lIns="0" tIns="0" rIns="0" bIns="0" rtlCol="0" anchor="t"/>
          <a:lstStyle/>
          <a:p>
            <a:pPr algn="l" indent="0" marL="0">
              <a:lnSpc>
                <a:spcPct val="110000"/>
              </a:lnSpc>
              <a:buNone/>
            </a:pPr>
            <a:r>
              <a:rPr lang="en-US" sz="1100" dirty="0">
                <a:solidFill>
                  <a:srgbClr val="B3A995"/>
                </a:solidFill>
                <a:latin typeface="Calibri" pitchFamily="34" charset="0"/>
                <a:ea typeface="Calibri" pitchFamily="34" charset="-122"/>
                <a:cs typeface="Calibri" pitchFamily="34" charset="-120"/>
              </a:rPr>
              <a:t>144 MHz, worldwide</a:t>
            </a:r>
            <a:endParaRPr lang="en-US" sz="1100" dirty="0"/>
          </a:p>
        </p:txBody>
      </p:sp>
      <p:sp>
        <p:nvSpPr>
          <p:cNvPr id="10" name="Text 6"/>
          <p:cNvSpPr txBox="1"/>
          <p:nvPr/>
        </p:nvSpPr>
        <p:spPr>
          <a:xfrm>
            <a:off x="548640" y="5724144"/>
            <a:ext cx="1097280" cy="246888"/>
          </a:xfrm>
          <a:prstGeom prst="rect">
            <a:avLst/>
          </a:prstGeom>
          <a:noFill/>
          <a:ln/>
        </p:spPr>
        <p:txBody>
          <a:bodyPr wrap="square" lIns="0" tIns="0" rIns="0" bIns="0" rtlCol="0" anchor="t"/>
          <a:lstStyle/>
          <a:p>
            <a:pPr algn="l" indent="0" marL="0">
              <a:lnSpc>
                <a:spcPct val="110000"/>
              </a:lnSpc>
              <a:buNone/>
            </a:pPr>
            <a:r>
              <a:rPr lang="en-US" sz="1100" b="1" dirty="0">
                <a:solidFill>
                  <a:srgbClr val="D4AF37"/>
                </a:solidFill>
                <a:latin typeface="Calibri" pitchFamily="34" charset="0"/>
                <a:ea typeface="Calibri" pitchFamily="34" charset="-122"/>
                <a:cs typeface="Calibri" pitchFamily="34" charset="-120"/>
              </a:rPr>
              <a:t>Members</a:t>
            </a:r>
            <a:endParaRPr lang="en-US" sz="1100" dirty="0"/>
          </a:p>
        </p:txBody>
      </p:sp>
      <p:sp>
        <p:nvSpPr>
          <p:cNvPr id="11" name="Text 7"/>
          <p:cNvSpPr txBox="1"/>
          <p:nvPr/>
        </p:nvSpPr>
        <p:spPr>
          <a:xfrm>
            <a:off x="1645920" y="5724144"/>
            <a:ext cx="2377440" cy="246888"/>
          </a:xfrm>
          <a:prstGeom prst="rect">
            <a:avLst/>
          </a:prstGeom>
          <a:noFill/>
          <a:ln/>
        </p:spPr>
        <p:txBody>
          <a:bodyPr wrap="square" lIns="0" tIns="0" rIns="0" bIns="0" rtlCol="0" anchor="t"/>
          <a:lstStyle/>
          <a:p>
            <a:pPr algn="l" indent="0" marL="0">
              <a:lnSpc>
                <a:spcPct val="110000"/>
              </a:lnSpc>
              <a:buNone/>
            </a:pPr>
            <a:r>
              <a:rPr lang="en-US" sz="1100" dirty="0">
                <a:solidFill>
                  <a:srgbClr val="B3A995"/>
                </a:solidFill>
                <a:latin typeface="Calibri" pitchFamily="34" charset="0"/>
                <a:ea typeface="Calibri" pitchFamily="34" charset="-122"/>
                <a:cs typeface="Calibri" pitchFamily="34" charset="-120"/>
              </a:rPr>
              <a:t>458 and recruiting</a:t>
            </a:r>
            <a:endParaRPr lang="en-US" sz="1100" dirty="0"/>
          </a:p>
        </p:txBody>
      </p:sp>
      <p:sp>
        <p:nvSpPr>
          <p:cNvPr id="12" name="Text 8"/>
          <p:cNvSpPr txBox="1"/>
          <p:nvPr/>
        </p:nvSpPr>
        <p:spPr>
          <a:xfrm>
            <a:off x="548640" y="5971032"/>
            <a:ext cx="1097280" cy="246888"/>
          </a:xfrm>
          <a:prstGeom prst="rect">
            <a:avLst/>
          </a:prstGeom>
          <a:noFill/>
          <a:ln/>
        </p:spPr>
        <p:txBody>
          <a:bodyPr wrap="square" lIns="0" tIns="0" rIns="0" bIns="0" rtlCol="0" anchor="t"/>
          <a:lstStyle/>
          <a:p>
            <a:pPr algn="l" indent="0" marL="0">
              <a:lnSpc>
                <a:spcPct val="110000"/>
              </a:lnSpc>
              <a:buNone/>
            </a:pPr>
            <a:r>
              <a:rPr lang="en-US" sz="1100" b="1" dirty="0">
                <a:solidFill>
                  <a:srgbClr val="D4AF37"/>
                </a:solidFill>
                <a:latin typeface="Calibri" pitchFamily="34" charset="0"/>
                <a:ea typeface="Calibri" pitchFamily="34" charset="-122"/>
                <a:cs typeface="Calibri" pitchFamily="34" charset="-120"/>
              </a:rPr>
              <a:t>Reach</a:t>
            </a:r>
            <a:endParaRPr lang="en-US" sz="1100" dirty="0"/>
          </a:p>
        </p:txBody>
      </p:sp>
      <p:sp>
        <p:nvSpPr>
          <p:cNvPr id="13" name="Text 9"/>
          <p:cNvSpPr txBox="1"/>
          <p:nvPr/>
        </p:nvSpPr>
        <p:spPr>
          <a:xfrm>
            <a:off x="1645920" y="5971032"/>
            <a:ext cx="2377440" cy="246888"/>
          </a:xfrm>
          <a:prstGeom prst="rect">
            <a:avLst/>
          </a:prstGeom>
          <a:noFill/>
          <a:ln/>
        </p:spPr>
        <p:txBody>
          <a:bodyPr wrap="square" lIns="0" tIns="0" rIns="0" bIns="0" rtlCol="0" anchor="t"/>
          <a:lstStyle/>
          <a:p>
            <a:pPr algn="l" indent="0" marL="0">
              <a:lnSpc>
                <a:spcPct val="110000"/>
              </a:lnSpc>
              <a:buNone/>
            </a:pPr>
            <a:r>
              <a:rPr lang="en-US" sz="1100" dirty="0">
                <a:solidFill>
                  <a:srgbClr val="B3A995"/>
                </a:solidFill>
                <a:latin typeface="Calibri" pitchFamily="34" charset="0"/>
                <a:ea typeface="Calibri" pitchFamily="34" charset="-122"/>
                <a:cs typeface="Calibri" pitchFamily="34" charset="-120"/>
              </a:rPr>
              <a:t>42 states, 7 DX countries</a:t>
            </a:r>
            <a:endParaRPr lang="en-US" sz="1100" dirty="0"/>
          </a:p>
        </p:txBody>
      </p:sp>
      <p:sp>
        <p:nvSpPr>
          <p:cNvPr id="14" name="Text 10"/>
          <p:cNvSpPr txBox="1"/>
          <p:nvPr/>
        </p:nvSpPr>
        <p:spPr>
          <a:xfrm>
            <a:off x="548640" y="6217920"/>
            <a:ext cx="1097280" cy="246888"/>
          </a:xfrm>
          <a:prstGeom prst="rect">
            <a:avLst/>
          </a:prstGeom>
          <a:noFill/>
          <a:ln/>
        </p:spPr>
        <p:txBody>
          <a:bodyPr wrap="square" lIns="0" tIns="0" rIns="0" bIns="0" rtlCol="0" anchor="t"/>
          <a:lstStyle/>
          <a:p>
            <a:pPr algn="l" indent="0" marL="0">
              <a:lnSpc>
                <a:spcPct val="110000"/>
              </a:lnSpc>
              <a:buNone/>
            </a:pPr>
            <a:r>
              <a:rPr lang="en-US" sz="1100" b="1" dirty="0">
                <a:solidFill>
                  <a:srgbClr val="D4AF37"/>
                </a:solidFill>
                <a:latin typeface="Calibri" pitchFamily="34" charset="0"/>
                <a:ea typeface="Calibri" pitchFamily="34" charset="-122"/>
                <a:cs typeface="Calibri" pitchFamily="34" charset="-120"/>
              </a:rPr>
              <a:t>Mode</a:t>
            </a:r>
            <a:endParaRPr lang="en-US" sz="1100" dirty="0"/>
          </a:p>
        </p:txBody>
      </p:sp>
      <p:sp>
        <p:nvSpPr>
          <p:cNvPr id="15" name="Text 11"/>
          <p:cNvSpPr txBox="1"/>
          <p:nvPr/>
        </p:nvSpPr>
        <p:spPr>
          <a:xfrm>
            <a:off x="1645920" y="6217920"/>
            <a:ext cx="2377440" cy="246888"/>
          </a:xfrm>
          <a:prstGeom prst="rect">
            <a:avLst/>
          </a:prstGeom>
          <a:noFill/>
          <a:ln/>
        </p:spPr>
        <p:txBody>
          <a:bodyPr wrap="square" lIns="0" tIns="0" rIns="0" bIns="0" rtlCol="0" anchor="t"/>
          <a:lstStyle/>
          <a:p>
            <a:pPr algn="l" indent="0" marL="0">
              <a:lnSpc>
                <a:spcPct val="110000"/>
              </a:lnSpc>
              <a:buNone/>
            </a:pPr>
            <a:r>
              <a:rPr lang="en-US" sz="1100" dirty="0">
                <a:solidFill>
                  <a:srgbClr val="B3A995"/>
                </a:solidFill>
                <a:latin typeface="Calibri" pitchFamily="34" charset="0"/>
                <a:ea typeface="Calibri" pitchFamily="34" charset="-122"/>
                <a:cs typeface="Calibri" pitchFamily="34" charset="-120"/>
              </a:rPr>
              <a:t>CW only. Manual keys.</a:t>
            </a:r>
            <a:endParaRPr lang="en-US" sz="1100" dirty="0"/>
          </a:p>
        </p:txBody>
      </p:sp>
      <p:sp>
        <p:nvSpPr>
          <p:cNvPr id="16" name="Shape 12"/>
          <p:cNvSpPr/>
          <p:nvPr/>
        </p:nvSpPr>
        <p:spPr>
          <a:xfrm>
            <a:off x="4206240" y="1828800"/>
            <a:ext cx="3581248" cy="4434840"/>
          </a:xfrm>
          <a:prstGeom prst="roundRect">
            <a:avLst>
              <a:gd name="adj" fmla="val 3064"/>
            </a:avLst>
          </a:prstGeom>
          <a:solidFill>
            <a:srgbClr val="211D19"/>
          </a:solidFill>
          <a:ln w="12700">
            <a:solidFill>
              <a:srgbClr val="211D19"/>
            </a:solidFill>
            <a:prstDash val="solid"/>
          </a:ln>
        </p:spPr>
      </p:sp>
      <p:sp>
        <p:nvSpPr>
          <p:cNvPr id="17" name="Shape 13"/>
          <p:cNvSpPr/>
          <p:nvPr/>
        </p:nvSpPr>
        <p:spPr>
          <a:xfrm>
            <a:off x="4480560" y="2057400"/>
            <a:ext cx="548640" cy="548640"/>
          </a:xfrm>
          <a:prstGeom prst="ellipse">
            <a:avLst/>
          </a:prstGeom>
          <a:solidFill>
            <a:srgbClr val="D4AF37"/>
          </a:solidFill>
          <a:ln w="12700">
            <a:solidFill>
              <a:srgbClr val="D4AF37"/>
            </a:solidFill>
            <a:prstDash val="solid"/>
          </a:ln>
        </p:spPr>
      </p:sp>
      <p:pic>
        <p:nvPicPr>
          <p:cNvPr id="18" name="Image 1" descr="preencoded.png">    </p:cNvPr>
          <p:cNvPicPr>
            <a:picLocks noChangeAspect="1"/>
          </p:cNvPicPr>
          <p:nvPr/>
        </p:nvPicPr>
        <p:blipFill>
          <a:blip r:embed="rId2"/>
          <a:stretch>
            <a:fillRect/>
          </a:stretch>
        </p:blipFill>
        <p:spPr>
          <a:xfrm>
            <a:off x="4628693" y="2205533"/>
            <a:ext cx="252374" cy="252374"/>
          </a:xfrm>
          <a:prstGeom prst="rect">
            <a:avLst/>
          </a:prstGeom>
        </p:spPr>
      </p:pic>
      <p:sp>
        <p:nvSpPr>
          <p:cNvPr id="19" name="Text 14"/>
          <p:cNvSpPr txBox="1"/>
          <p:nvPr/>
        </p:nvSpPr>
        <p:spPr>
          <a:xfrm>
            <a:off x="5166360" y="2148840"/>
            <a:ext cx="239252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The three bylaws</a:t>
            </a:r>
            <a:endParaRPr lang="en-US" sz="2000" dirty="0"/>
          </a:p>
        </p:txBody>
      </p:sp>
      <p:sp>
        <p:nvSpPr>
          <p:cNvPr id="20" name="Text 15"/>
          <p:cNvSpPr txBox="1"/>
          <p:nvPr/>
        </p:nvSpPr>
        <p:spPr>
          <a:xfrm>
            <a:off x="4480560" y="2788920"/>
            <a:ext cx="3032608" cy="320040"/>
          </a:xfrm>
          <a:prstGeom prst="rect">
            <a:avLst/>
          </a:prstGeom>
          <a:noFill/>
          <a:ln/>
        </p:spPr>
        <p:txBody>
          <a:bodyPr wrap="square" lIns="0" tIns="0" rIns="0" bIns="0" rtlCol="0" anchor="t"/>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I. Never talk about BKG</a:t>
            </a:r>
            <a:endParaRPr lang="en-US" sz="1500" dirty="0"/>
          </a:p>
        </p:txBody>
      </p:sp>
      <p:sp>
        <p:nvSpPr>
          <p:cNvPr id="21" name="Text 16"/>
          <p:cNvSpPr txBox="1"/>
          <p:nvPr/>
        </p:nvSpPr>
        <p:spPr>
          <a:xfrm>
            <a:off x="4480560" y="3108960"/>
            <a:ext cx="3032608" cy="7772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Except you should, all the time, to everyone. 2m CW needs more operators.</a:t>
            </a:r>
            <a:endParaRPr lang="en-US" sz="1300" dirty="0"/>
          </a:p>
        </p:txBody>
      </p:sp>
      <p:sp>
        <p:nvSpPr>
          <p:cNvPr id="22" name="Text 17"/>
          <p:cNvSpPr txBox="1"/>
          <p:nvPr/>
        </p:nvSpPr>
        <p:spPr>
          <a:xfrm>
            <a:off x="4480560" y="3886200"/>
            <a:ext cx="3032608" cy="320040"/>
          </a:xfrm>
          <a:prstGeom prst="rect">
            <a:avLst/>
          </a:prstGeom>
          <a:noFill/>
          <a:ln/>
        </p:spPr>
        <p:txBody>
          <a:bodyPr wrap="square" lIns="0" tIns="0" rIns="0" bIns="0" rtlCol="0" anchor="t"/>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II. The proper Roger</a:t>
            </a:r>
            <a:endParaRPr lang="en-US" sz="1500" dirty="0"/>
          </a:p>
        </p:txBody>
      </p:sp>
      <p:sp>
        <p:nvSpPr>
          <p:cNvPr id="23" name="Text 18"/>
          <p:cNvSpPr txBox="1"/>
          <p:nvPr/>
        </p:nvSpPr>
        <p:spPr>
          <a:xfrm>
            <a:off x="4480560" y="4206240"/>
            <a:ext cx="3032608" cy="7772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At least one thoughtful, proper R per QSO. Failure may result in excommunication.</a:t>
            </a:r>
            <a:endParaRPr lang="en-US" sz="1300" dirty="0"/>
          </a:p>
        </p:txBody>
      </p:sp>
      <p:sp>
        <p:nvSpPr>
          <p:cNvPr id="24" name="Text 19"/>
          <p:cNvSpPr txBox="1"/>
          <p:nvPr/>
        </p:nvSpPr>
        <p:spPr>
          <a:xfrm>
            <a:off x="4480560" y="4983480"/>
            <a:ext cx="3032608" cy="320040"/>
          </a:xfrm>
          <a:prstGeom prst="rect">
            <a:avLst/>
          </a:prstGeom>
          <a:noFill/>
          <a:ln/>
        </p:spPr>
        <p:txBody>
          <a:bodyPr wrap="square" lIns="0" tIns="0" rIns="0" bIns="0" rtlCol="0" anchor="t"/>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III. The QRL? formality</a:t>
            </a:r>
            <a:endParaRPr lang="en-US" sz="1500" dirty="0"/>
          </a:p>
        </p:txBody>
      </p:sp>
      <p:sp>
        <p:nvSpPr>
          <p:cNvPr id="25" name="Text 20"/>
          <p:cNvSpPr txBox="1"/>
          <p:nvPr/>
        </p:nvSpPr>
        <p:spPr>
          <a:xfrm>
            <a:off x="4480560" y="5303520"/>
            <a:ext cx="3032608" cy="777240"/>
          </a:xfrm>
          <a:prstGeom prst="rect">
            <a:avLst/>
          </a:prstGeom>
          <a:noFill/>
          <a:ln/>
        </p:spPr>
        <p:txBody>
          <a:bodyPr wrap="square" lIns="0" tIns="0" rIns="0" bIns="0" rtlCol="0" anchor="t"/>
          <a:lstStyle/>
          <a:p>
            <a:pPr algn="l" indent="0" marL="0">
              <a:lnSpc>
                <a:spcPct val="110000"/>
              </a:lnSpc>
              <a:buNone/>
            </a:pPr>
            <a:r>
              <a:rPr lang="en-US" sz="1300" dirty="0">
                <a:solidFill>
                  <a:srgbClr val="B3A995"/>
                </a:solidFill>
                <a:latin typeface="Calibri" pitchFamily="34" charset="0"/>
                <a:ea typeface="Calibri" pitchFamily="34" charset="-122"/>
                <a:cs typeface="Calibri" pitchFamily="34" charset="-120"/>
              </a:rPr>
              <a:t>Always send QRL? before taking a frequency. It is a formality on 2m CW. We do it anyway.</a:t>
            </a:r>
            <a:endParaRPr lang="en-US" sz="1300" dirty="0"/>
          </a:p>
        </p:txBody>
      </p:sp>
      <p:sp>
        <p:nvSpPr>
          <p:cNvPr id="26" name="Shape 21"/>
          <p:cNvSpPr/>
          <p:nvPr/>
        </p:nvSpPr>
        <p:spPr>
          <a:xfrm>
            <a:off x="8061808" y="1828800"/>
            <a:ext cx="3581248" cy="4434840"/>
          </a:xfrm>
          <a:prstGeom prst="roundRect">
            <a:avLst>
              <a:gd name="adj" fmla="val 3064"/>
            </a:avLst>
          </a:prstGeom>
          <a:solidFill>
            <a:srgbClr val="2A2520"/>
          </a:solidFill>
          <a:ln w="12700">
            <a:solidFill>
              <a:srgbClr val="2A2520"/>
            </a:solidFill>
            <a:prstDash val="solid"/>
          </a:ln>
        </p:spPr>
      </p:sp>
      <p:sp>
        <p:nvSpPr>
          <p:cNvPr id="27" name="Shape 22"/>
          <p:cNvSpPr/>
          <p:nvPr/>
        </p:nvSpPr>
        <p:spPr>
          <a:xfrm>
            <a:off x="8336128" y="2057400"/>
            <a:ext cx="548640" cy="548640"/>
          </a:xfrm>
          <a:prstGeom prst="ellipse">
            <a:avLst/>
          </a:prstGeom>
          <a:solidFill>
            <a:srgbClr val="D4AF37"/>
          </a:solidFill>
          <a:ln w="12700">
            <a:solidFill>
              <a:srgbClr val="D4AF37"/>
            </a:solidFill>
            <a:prstDash val="solid"/>
          </a:ln>
        </p:spPr>
      </p:sp>
      <p:pic>
        <p:nvPicPr>
          <p:cNvPr id="28" name="Image 2" descr="preencoded.png">    </p:cNvPr>
          <p:cNvPicPr>
            <a:picLocks noChangeAspect="1"/>
          </p:cNvPicPr>
          <p:nvPr/>
        </p:nvPicPr>
        <p:blipFill>
          <a:blip r:embed="rId3"/>
          <a:stretch>
            <a:fillRect/>
          </a:stretch>
        </p:blipFill>
        <p:spPr>
          <a:xfrm>
            <a:off x="8484260" y="2205533"/>
            <a:ext cx="252374" cy="252374"/>
          </a:xfrm>
          <a:prstGeom prst="rect">
            <a:avLst/>
          </a:prstGeom>
        </p:spPr>
      </p:pic>
      <p:sp>
        <p:nvSpPr>
          <p:cNvPr id="29" name="Text 23"/>
          <p:cNvSpPr txBox="1"/>
          <p:nvPr/>
        </p:nvSpPr>
        <p:spPr>
          <a:xfrm>
            <a:off x="9021928" y="2148840"/>
            <a:ext cx="2392528" cy="365760"/>
          </a:xfrm>
          <a:prstGeom prst="rect">
            <a:avLst/>
          </a:prstGeom>
          <a:noFill/>
          <a:ln/>
        </p:spPr>
        <p:txBody>
          <a:bodyPr wrap="square" lIns="0" tIns="0" rIns="0" bIns="0" rtlCol="0" anchor="ctr"/>
          <a:lstStyle/>
          <a:p>
            <a:pPr indent="0" marL="0">
              <a:buNone/>
            </a:pPr>
            <a:r>
              <a:rPr lang="en-US" sz="1900" b="1" dirty="0">
                <a:solidFill>
                  <a:srgbClr val="D4AF37"/>
                </a:solidFill>
                <a:latin typeface="Cambria" pitchFamily="34" charset="0"/>
                <a:ea typeface="Cambria" pitchFamily="34" charset="-122"/>
                <a:cs typeface="Cambria" pitchFamily="34" charset="-120"/>
              </a:rPr>
              <a:t>How to get a number</a:t>
            </a:r>
            <a:endParaRPr lang="en-US" sz="1900" dirty="0"/>
          </a:p>
        </p:txBody>
      </p:sp>
      <p:sp>
        <p:nvSpPr>
          <p:cNvPr id="30" name="Shape 24"/>
          <p:cNvSpPr/>
          <p:nvPr/>
        </p:nvSpPr>
        <p:spPr>
          <a:xfrm>
            <a:off x="8336128" y="2807208"/>
            <a:ext cx="365760" cy="365760"/>
          </a:xfrm>
          <a:prstGeom prst="ellipse">
            <a:avLst/>
          </a:prstGeom>
          <a:solidFill>
            <a:srgbClr val="D4AF37"/>
          </a:solidFill>
          <a:ln w="12700">
            <a:solidFill>
              <a:srgbClr val="D4AF37"/>
            </a:solidFill>
            <a:prstDash val="solid"/>
          </a:ln>
        </p:spPr>
      </p:sp>
      <p:sp>
        <p:nvSpPr>
          <p:cNvPr id="31" name="Text 25"/>
          <p:cNvSpPr txBox="1"/>
          <p:nvPr/>
        </p:nvSpPr>
        <p:spPr>
          <a:xfrm>
            <a:off x="8336128" y="2807208"/>
            <a:ext cx="365760" cy="36576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1</a:t>
            </a:r>
            <a:endParaRPr lang="en-US" sz="1300" dirty="0"/>
          </a:p>
        </p:txBody>
      </p:sp>
      <p:sp>
        <p:nvSpPr>
          <p:cNvPr id="32" name="Text 26"/>
          <p:cNvSpPr txBox="1"/>
          <p:nvPr/>
        </p:nvSpPr>
        <p:spPr>
          <a:xfrm>
            <a:off x="8839048" y="2788920"/>
            <a:ext cx="2529688" cy="320040"/>
          </a:xfrm>
          <a:prstGeom prst="rect">
            <a:avLst/>
          </a:prstGeom>
          <a:noFill/>
          <a:ln/>
        </p:spPr>
        <p:txBody>
          <a:bodyPr wrap="square" lIns="0" tIns="0" rIns="0" bIns="0" rtlCol="0" anchor="t"/>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Make the contact</a:t>
            </a:r>
            <a:endParaRPr lang="en-US" sz="1500" dirty="0"/>
          </a:p>
        </p:txBody>
      </p:sp>
      <p:sp>
        <p:nvSpPr>
          <p:cNvPr id="33" name="Text 27"/>
          <p:cNvSpPr txBox="1"/>
          <p:nvPr/>
        </p:nvSpPr>
        <p:spPr>
          <a:xfrm>
            <a:off x="8839048" y="3108960"/>
            <a:ext cx="2529688" cy="64008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A 2m CW QSO with any member. Watch for us on POTA and SOTA.</a:t>
            </a:r>
            <a:endParaRPr lang="en-US" sz="1250" dirty="0"/>
          </a:p>
        </p:txBody>
      </p:sp>
      <p:sp>
        <p:nvSpPr>
          <p:cNvPr id="34" name="Shape 28"/>
          <p:cNvSpPr/>
          <p:nvPr/>
        </p:nvSpPr>
        <p:spPr>
          <a:xfrm>
            <a:off x="8336128" y="3831336"/>
            <a:ext cx="365760" cy="365760"/>
          </a:xfrm>
          <a:prstGeom prst="ellipse">
            <a:avLst/>
          </a:prstGeom>
          <a:solidFill>
            <a:srgbClr val="D4AF37"/>
          </a:solidFill>
          <a:ln w="12700">
            <a:solidFill>
              <a:srgbClr val="D4AF37"/>
            </a:solidFill>
            <a:prstDash val="solid"/>
          </a:ln>
        </p:spPr>
      </p:sp>
      <p:sp>
        <p:nvSpPr>
          <p:cNvPr id="35" name="Text 29"/>
          <p:cNvSpPr txBox="1"/>
          <p:nvPr/>
        </p:nvSpPr>
        <p:spPr>
          <a:xfrm>
            <a:off x="8336128" y="3831336"/>
            <a:ext cx="365760" cy="36576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2</a:t>
            </a:r>
            <a:endParaRPr lang="en-US" sz="1300" dirty="0"/>
          </a:p>
        </p:txBody>
      </p:sp>
      <p:sp>
        <p:nvSpPr>
          <p:cNvPr id="36" name="Text 30"/>
          <p:cNvSpPr txBox="1"/>
          <p:nvPr/>
        </p:nvSpPr>
        <p:spPr>
          <a:xfrm>
            <a:off x="8839048" y="3813048"/>
            <a:ext cx="2529688" cy="320040"/>
          </a:xfrm>
          <a:prstGeom prst="rect">
            <a:avLst/>
          </a:prstGeom>
          <a:noFill/>
          <a:ln/>
        </p:spPr>
        <p:txBody>
          <a:bodyPr wrap="square" lIns="0" tIns="0" rIns="0" bIns="0" rtlCol="0" anchor="t"/>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Send the QSO</a:t>
            </a:r>
            <a:endParaRPr lang="en-US" sz="1500" dirty="0"/>
          </a:p>
        </p:txBody>
      </p:sp>
      <p:sp>
        <p:nvSpPr>
          <p:cNvPr id="37" name="Text 31"/>
          <p:cNvSpPr txBox="1"/>
          <p:nvPr/>
        </p:nvSpPr>
        <p:spPr>
          <a:xfrm>
            <a:off x="8839048" y="4133088"/>
            <a:ext cx="2529688" cy="64008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UTC date, time and band to the member you worked. They submit it on bkg.club.</a:t>
            </a:r>
            <a:endParaRPr lang="en-US" sz="1250" dirty="0"/>
          </a:p>
        </p:txBody>
      </p:sp>
      <p:sp>
        <p:nvSpPr>
          <p:cNvPr id="38" name="Shape 32"/>
          <p:cNvSpPr/>
          <p:nvPr/>
        </p:nvSpPr>
        <p:spPr>
          <a:xfrm>
            <a:off x="8336128" y="4855464"/>
            <a:ext cx="365760" cy="365760"/>
          </a:xfrm>
          <a:prstGeom prst="ellipse">
            <a:avLst/>
          </a:prstGeom>
          <a:solidFill>
            <a:srgbClr val="D4AF37"/>
          </a:solidFill>
          <a:ln w="12700">
            <a:solidFill>
              <a:srgbClr val="D4AF37"/>
            </a:solidFill>
            <a:prstDash val="solid"/>
          </a:ln>
        </p:spPr>
      </p:sp>
      <p:sp>
        <p:nvSpPr>
          <p:cNvPr id="39" name="Text 33"/>
          <p:cNvSpPr txBox="1"/>
          <p:nvPr/>
        </p:nvSpPr>
        <p:spPr>
          <a:xfrm>
            <a:off x="8336128" y="4855464"/>
            <a:ext cx="365760" cy="365760"/>
          </a:xfrm>
          <a:prstGeom prst="rect">
            <a:avLst/>
          </a:prstGeom>
          <a:noFill/>
          <a:ln/>
        </p:spPr>
        <p:txBody>
          <a:bodyPr wrap="square" lIns="0" tIns="0" rIns="0" bIns="0" rtlCol="0" anchor="ctr"/>
          <a:lstStyle/>
          <a:p>
            <a:pPr algn="ctr" indent="0" marL="0">
              <a:buNone/>
            </a:pPr>
            <a:r>
              <a:rPr lang="en-US" sz="1300" b="1" dirty="0">
                <a:solidFill>
                  <a:srgbClr val="141210"/>
                </a:solidFill>
                <a:latin typeface="Cambria" pitchFamily="34" charset="0"/>
                <a:ea typeface="Cambria" pitchFamily="34" charset="-122"/>
                <a:cs typeface="Cambria" pitchFamily="34" charset="-120"/>
              </a:rPr>
              <a:t>3</a:t>
            </a:r>
            <a:endParaRPr lang="en-US" sz="1300" dirty="0"/>
          </a:p>
        </p:txBody>
      </p:sp>
      <p:sp>
        <p:nvSpPr>
          <p:cNvPr id="40" name="Text 34"/>
          <p:cNvSpPr txBox="1"/>
          <p:nvPr/>
        </p:nvSpPr>
        <p:spPr>
          <a:xfrm>
            <a:off x="8839048" y="4837176"/>
            <a:ext cx="2529688" cy="320040"/>
          </a:xfrm>
          <a:prstGeom prst="rect">
            <a:avLst/>
          </a:prstGeom>
          <a:noFill/>
          <a:ln/>
        </p:spPr>
        <p:txBody>
          <a:bodyPr wrap="square" lIns="0" tIns="0" rIns="0" bIns="0" rtlCol="0" anchor="t"/>
          <a:lstStyle/>
          <a:p>
            <a:pPr algn="l" indent="0" marL="0">
              <a:lnSpc>
                <a:spcPct val="110000"/>
              </a:lnSpc>
              <a:buNone/>
            </a:pPr>
            <a:r>
              <a:rPr lang="en-US" sz="1500" b="1" dirty="0">
                <a:solidFill>
                  <a:srgbClr val="F2EBDD"/>
                </a:solidFill>
                <a:latin typeface="Calibri" pitchFamily="34" charset="0"/>
                <a:ea typeface="Calibri" pitchFamily="34" charset="-122"/>
                <a:cs typeface="Calibri" pitchFamily="34" charset="-120"/>
              </a:rPr>
              <a:t>Get your number</a:t>
            </a:r>
            <a:endParaRPr lang="en-US" sz="1500" dirty="0"/>
          </a:p>
        </p:txBody>
      </p:sp>
      <p:sp>
        <p:nvSpPr>
          <p:cNvPr id="41" name="Text 35"/>
          <p:cNvSpPr txBox="1"/>
          <p:nvPr/>
        </p:nvSpPr>
        <p:spPr>
          <a:xfrm>
            <a:off x="8839048" y="5157216"/>
            <a:ext cx="2529688" cy="640080"/>
          </a:xfrm>
          <a:prstGeom prst="rect">
            <a:avLst/>
          </a:prstGeom>
          <a:noFill/>
          <a:ln/>
        </p:spPr>
        <p:txBody>
          <a:bodyPr wrap="square" lIns="0" tIns="0" rIns="0" bIns="0" rtlCol="0" anchor="t"/>
          <a:lstStyle/>
          <a:p>
            <a:pPr algn="l" indent="0" marL="0">
              <a:lnSpc>
                <a:spcPct val="110000"/>
              </a:lnSpc>
              <a:buNone/>
            </a:pPr>
            <a:r>
              <a:rPr lang="en-US" sz="1250" dirty="0">
                <a:solidFill>
                  <a:srgbClr val="B3A995"/>
                </a:solidFill>
                <a:latin typeface="Calibri" pitchFamily="34" charset="0"/>
                <a:ea typeface="Calibri" pitchFamily="34" charset="-122"/>
                <a:cs typeface="Calibri" pitchFamily="34" charset="-120"/>
              </a:rPr>
              <a:t>An officer assigns it. You land on the roster, the map, and your sponsor's downline.</a:t>
            </a:r>
            <a:endParaRPr lang="en-US" sz="1250" dirty="0"/>
          </a:p>
        </p:txBody>
      </p:sp>
      <p:sp>
        <p:nvSpPr>
          <p:cNvPr id="42" name="Text 36"/>
          <p:cNvSpPr txBox="1"/>
          <p:nvPr/>
        </p:nvSpPr>
        <p:spPr>
          <a:xfrm>
            <a:off x="8336128" y="5833872"/>
            <a:ext cx="3032608" cy="411480"/>
          </a:xfrm>
          <a:prstGeom prst="rect">
            <a:avLst/>
          </a:prstGeom>
          <a:noFill/>
          <a:ln/>
        </p:spPr>
        <p:txBody>
          <a:bodyPr wrap="square" lIns="0" tIns="0" rIns="0" bIns="0" rtlCol="0" anchor="t"/>
          <a:lstStyle/>
          <a:p>
            <a:pPr algn="l" indent="0" marL="0">
              <a:lnSpc>
                <a:spcPct val="110000"/>
              </a:lnSpc>
              <a:buNone/>
            </a:pPr>
            <a:r>
              <a:rPr lang="en-US" sz="1150" i="1" dirty="0">
                <a:solidFill>
                  <a:srgbClr val="F0D27A"/>
                </a:solidFill>
                <a:latin typeface="Calibri" pitchFamily="34" charset="0"/>
                <a:ea typeface="Calibri" pitchFamily="34" charset="-122"/>
                <a:cs typeface="Calibri" pitchFamily="34" charset="-120"/>
              </a:rPr>
              <a:t>Membership is voluntary, every time. Confirm they want in before you submit them.</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210"/>
        </a:solidFill>
      </p:bgPr>
    </p:bg>
    <p:spTree>
      <p:nvGrpSpPr>
        <p:cNvPr id="1" name=""/>
        <p:cNvGrpSpPr/>
        <p:nvPr/>
      </p:nvGrpSpPr>
      <p:grpSpPr>
        <a:xfrm>
          <a:off x="0" y="0"/>
          <a:ext cx="0" cy="0"/>
          <a:chOff x="0" y="0"/>
          <a:chExt cx="0" cy="0"/>
        </a:xfrm>
      </p:grpSpPr>
      <p:sp>
        <p:nvSpPr>
          <p:cNvPr id="3" name="Text 0"/>
          <p:cNvSpPr txBox="1"/>
          <p:nvPr/>
        </p:nvSpPr>
        <p:spPr>
          <a:xfrm>
            <a:off x="548640" y="384048"/>
            <a:ext cx="11094415" cy="822960"/>
          </a:xfrm>
          <a:prstGeom prst="rect">
            <a:avLst/>
          </a:prstGeom>
          <a:noFill/>
          <a:ln/>
        </p:spPr>
        <p:txBody>
          <a:bodyPr wrap="square" lIns="0" tIns="0" rIns="0" bIns="0" rtlCol="0" anchor="ctr"/>
          <a:lstStyle/>
          <a:p>
            <a:pPr indent="0" marL="0">
              <a:buNone/>
            </a:pPr>
            <a:r>
              <a:rPr lang="en-US" sz="3600" b="1" dirty="0">
                <a:solidFill>
                  <a:srgbClr val="F0D27A"/>
                </a:solidFill>
                <a:latin typeface="Cambria" pitchFamily="34" charset="0"/>
                <a:ea typeface="Cambria" pitchFamily="34" charset="-122"/>
                <a:cs typeface="Cambria" pitchFamily="34" charset="-120"/>
              </a:rPr>
              <a:t>Links, credits, 73</a:t>
            </a:r>
            <a:endParaRPr lang="en-US" sz="3600" dirty="0"/>
          </a:p>
        </p:txBody>
      </p:sp>
      <p:sp>
        <p:nvSpPr>
          <p:cNvPr id="4" name="Text 1"/>
          <p:cNvSpPr txBox="1"/>
          <p:nvPr/>
        </p:nvSpPr>
        <p:spPr>
          <a:xfrm>
            <a:off x="548640" y="1188720"/>
            <a:ext cx="11094415" cy="411480"/>
          </a:xfrm>
          <a:prstGeom prst="rect">
            <a:avLst/>
          </a:prstGeom>
          <a:noFill/>
          <a:ln/>
        </p:spPr>
        <p:txBody>
          <a:bodyPr wrap="square" lIns="0" tIns="0" rIns="0" bIns="0" rtlCol="0" anchor="t"/>
          <a:lstStyle/>
          <a:p>
            <a:pPr indent="0" marL="0">
              <a:buNone/>
            </a:pPr>
            <a:r>
              <a:rPr lang="en-US" sz="1600" i="1" dirty="0">
                <a:solidFill>
                  <a:srgbClr val="B3A995"/>
                </a:solidFill>
                <a:latin typeface="Calibri" pitchFamily="34" charset="0"/>
                <a:ea typeface="Calibri" pitchFamily="34" charset="-122"/>
                <a:cs typeface="Calibri" pitchFamily="34" charset="-120"/>
              </a:rPr>
              <a:t>Leave this slide up. Everything tonight came from these.</a:t>
            </a:r>
            <a:endParaRPr lang="en-US" sz="1600" dirty="0"/>
          </a:p>
        </p:txBody>
      </p:sp>
      <p:sp>
        <p:nvSpPr>
          <p:cNvPr id="5" name="Shape 2"/>
          <p:cNvSpPr/>
          <p:nvPr/>
        </p:nvSpPr>
        <p:spPr>
          <a:xfrm>
            <a:off x="548640" y="1828800"/>
            <a:ext cx="5410048" cy="4434840"/>
          </a:xfrm>
          <a:prstGeom prst="roundRect">
            <a:avLst>
              <a:gd name="adj" fmla="val 2474"/>
            </a:avLst>
          </a:prstGeom>
          <a:solidFill>
            <a:srgbClr val="211D19"/>
          </a:solidFill>
          <a:ln w="12700">
            <a:solidFill>
              <a:srgbClr val="211D19"/>
            </a:solidFill>
            <a:prstDash val="solid"/>
          </a:ln>
        </p:spPr>
      </p:sp>
      <p:sp>
        <p:nvSpPr>
          <p:cNvPr id="6" name="Shape 3"/>
          <p:cNvSpPr/>
          <p:nvPr/>
        </p:nvSpPr>
        <p:spPr>
          <a:xfrm>
            <a:off x="822960" y="2057400"/>
            <a:ext cx="548640" cy="548640"/>
          </a:xfrm>
          <a:prstGeom prst="ellipse">
            <a:avLst/>
          </a:prstGeom>
          <a:solidFill>
            <a:srgbClr val="D4AF37"/>
          </a:solidFill>
          <a:ln w="12700">
            <a:solidFill>
              <a:srgbClr val="D4AF37"/>
            </a:solidFill>
            <a:prstDash val="solid"/>
          </a:ln>
        </p:spPr>
      </p:sp>
      <p:pic>
        <p:nvPicPr>
          <p:cNvPr id="7" name="Image 0" descr="preencoded.png">    </p:cNvPr>
          <p:cNvPicPr>
            <a:picLocks noChangeAspect="1"/>
          </p:cNvPicPr>
          <p:nvPr/>
        </p:nvPicPr>
        <p:blipFill>
          <a:blip r:embed="rId1"/>
          <a:stretch>
            <a:fillRect/>
          </a:stretch>
        </p:blipFill>
        <p:spPr>
          <a:xfrm>
            <a:off x="971093" y="2205533"/>
            <a:ext cx="252374" cy="252374"/>
          </a:xfrm>
          <a:prstGeom prst="rect">
            <a:avLst/>
          </a:prstGeom>
        </p:spPr>
      </p:pic>
      <p:sp>
        <p:nvSpPr>
          <p:cNvPr id="8" name="Text 4"/>
          <p:cNvSpPr txBox="1"/>
          <p:nvPr/>
        </p:nvSpPr>
        <p:spPr>
          <a:xfrm>
            <a:off x="1508760" y="2148840"/>
            <a:ext cx="422132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The radio</a:t>
            </a:r>
            <a:endParaRPr lang="en-US" sz="2000" dirty="0"/>
          </a:p>
        </p:txBody>
      </p:sp>
      <p:sp>
        <p:nvSpPr>
          <p:cNvPr id="9" name="Text 5"/>
          <p:cNvSpPr txBox="1"/>
          <p:nvPr/>
        </p:nvSpPr>
        <p:spPr>
          <a:xfrm>
            <a:off x="822960" y="2743200"/>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NR7Y CW firmware docs</a:t>
            </a:r>
            <a:endParaRPr lang="en-US" sz="1400" dirty="0"/>
          </a:p>
        </p:txBody>
      </p:sp>
      <p:sp>
        <p:nvSpPr>
          <p:cNvPr id="10" name="Text 6"/>
          <p:cNvSpPr txBox="1"/>
          <p:nvPr/>
        </p:nvSpPr>
        <p:spPr>
          <a:xfrm>
            <a:off x="822960" y="3063240"/>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briand.github.io/cw-firmware-docs</a:t>
            </a:r>
            <a:endParaRPr lang="en-US" sz="1200" dirty="0"/>
          </a:p>
        </p:txBody>
      </p:sp>
      <p:sp>
        <p:nvSpPr>
          <p:cNvPr id="11" name="Text 7"/>
          <p:cNvSpPr txBox="1"/>
          <p:nvPr/>
        </p:nvSpPr>
        <p:spPr>
          <a:xfrm>
            <a:off x="822960" y="3520440"/>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Firmware + CHIRP module (Releases)</a:t>
            </a:r>
            <a:endParaRPr lang="en-US" sz="1400" dirty="0"/>
          </a:p>
        </p:txBody>
      </p:sp>
      <p:sp>
        <p:nvSpPr>
          <p:cNvPr id="12" name="Text 8"/>
          <p:cNvSpPr txBox="1"/>
          <p:nvPr/>
        </p:nvSpPr>
        <p:spPr>
          <a:xfrm>
            <a:off x="822960" y="3840480"/>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github.com/briand/uv-k1-k5v3-firmware-custom</a:t>
            </a:r>
            <a:endParaRPr lang="en-US" sz="1200" dirty="0"/>
          </a:p>
        </p:txBody>
      </p:sp>
      <p:sp>
        <p:nvSpPr>
          <p:cNvPr id="13" name="Text 9"/>
          <p:cNvSpPr txBox="1"/>
          <p:nvPr/>
        </p:nvSpPr>
        <p:spPr>
          <a:xfrm>
            <a:off x="822960" y="4297680"/>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uvtools2 flasher and calibration backup</a:t>
            </a:r>
            <a:endParaRPr lang="en-US" sz="1400" dirty="0"/>
          </a:p>
        </p:txBody>
      </p:sp>
      <p:sp>
        <p:nvSpPr>
          <p:cNvPr id="14" name="Text 10"/>
          <p:cNvSpPr txBox="1"/>
          <p:nvPr/>
        </p:nvSpPr>
        <p:spPr>
          <a:xfrm>
            <a:off x="822960" y="4617720"/>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armel.github.io/uvtools2</a:t>
            </a:r>
            <a:endParaRPr lang="en-US" sz="1200" dirty="0"/>
          </a:p>
        </p:txBody>
      </p:sp>
      <p:sp>
        <p:nvSpPr>
          <p:cNvPr id="15" name="Text 11"/>
          <p:cNvSpPr txBox="1"/>
          <p:nvPr/>
        </p:nvSpPr>
        <p:spPr>
          <a:xfrm>
            <a:off x="822960" y="5074920"/>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F4HWN Fusion (upstream)</a:t>
            </a:r>
            <a:endParaRPr lang="en-US" sz="1400" dirty="0"/>
          </a:p>
        </p:txBody>
      </p:sp>
      <p:sp>
        <p:nvSpPr>
          <p:cNvPr id="16" name="Text 12"/>
          <p:cNvSpPr txBox="1"/>
          <p:nvPr/>
        </p:nvSpPr>
        <p:spPr>
          <a:xfrm>
            <a:off x="822960" y="5394960"/>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github.com/armel/uv-k1-k5v3-firmware-custom</a:t>
            </a:r>
            <a:endParaRPr lang="en-US" sz="1200" dirty="0"/>
          </a:p>
        </p:txBody>
      </p:sp>
      <p:sp>
        <p:nvSpPr>
          <p:cNvPr id="17" name="Shape 13"/>
          <p:cNvSpPr/>
          <p:nvPr/>
        </p:nvSpPr>
        <p:spPr>
          <a:xfrm>
            <a:off x="6233008" y="1828800"/>
            <a:ext cx="5410048" cy="4434840"/>
          </a:xfrm>
          <a:prstGeom prst="roundRect">
            <a:avLst>
              <a:gd name="adj" fmla="val 2474"/>
            </a:avLst>
          </a:prstGeom>
          <a:solidFill>
            <a:srgbClr val="2A2520"/>
          </a:solidFill>
          <a:ln w="12700">
            <a:solidFill>
              <a:srgbClr val="2A2520"/>
            </a:solidFill>
            <a:prstDash val="solid"/>
          </a:ln>
        </p:spPr>
      </p:sp>
      <p:sp>
        <p:nvSpPr>
          <p:cNvPr id="18" name="Shape 14"/>
          <p:cNvSpPr/>
          <p:nvPr/>
        </p:nvSpPr>
        <p:spPr>
          <a:xfrm>
            <a:off x="6507328" y="2057400"/>
            <a:ext cx="548640" cy="548640"/>
          </a:xfrm>
          <a:prstGeom prst="ellipse">
            <a:avLst/>
          </a:prstGeom>
          <a:solidFill>
            <a:srgbClr val="D4AF37"/>
          </a:solidFill>
          <a:ln w="12700">
            <a:solidFill>
              <a:srgbClr val="D4AF37"/>
            </a:solidFill>
            <a:prstDash val="solid"/>
          </a:ln>
        </p:spPr>
      </p:sp>
      <p:pic>
        <p:nvPicPr>
          <p:cNvPr id="19" name="Image 1" descr="preencoded.png">    </p:cNvPr>
          <p:cNvPicPr>
            <a:picLocks noChangeAspect="1"/>
          </p:cNvPicPr>
          <p:nvPr/>
        </p:nvPicPr>
        <p:blipFill>
          <a:blip r:embed="rId2"/>
          <a:stretch>
            <a:fillRect/>
          </a:stretch>
        </p:blipFill>
        <p:spPr>
          <a:xfrm>
            <a:off x="6655460" y="2205533"/>
            <a:ext cx="252374" cy="252374"/>
          </a:xfrm>
          <a:prstGeom prst="rect">
            <a:avLst/>
          </a:prstGeom>
        </p:spPr>
      </p:pic>
      <p:sp>
        <p:nvSpPr>
          <p:cNvPr id="20" name="Text 15"/>
          <p:cNvSpPr txBox="1"/>
          <p:nvPr/>
        </p:nvSpPr>
        <p:spPr>
          <a:xfrm>
            <a:off x="7193128" y="2148840"/>
            <a:ext cx="4221328" cy="365760"/>
          </a:xfrm>
          <a:prstGeom prst="rect">
            <a:avLst/>
          </a:prstGeom>
          <a:noFill/>
          <a:ln/>
        </p:spPr>
        <p:txBody>
          <a:bodyPr wrap="square" lIns="0" tIns="0" rIns="0" bIns="0" rtlCol="0" anchor="ctr"/>
          <a:lstStyle/>
          <a:p>
            <a:pPr indent="0" marL="0">
              <a:buNone/>
            </a:pPr>
            <a:r>
              <a:rPr lang="en-US" sz="2000" b="1" dirty="0">
                <a:solidFill>
                  <a:srgbClr val="D4AF37"/>
                </a:solidFill>
                <a:latin typeface="Cambria" pitchFamily="34" charset="0"/>
                <a:ea typeface="Cambria" pitchFamily="34" charset="-122"/>
                <a:cs typeface="Cambria" pitchFamily="34" charset="-120"/>
              </a:rPr>
              <a:t>The gang</a:t>
            </a:r>
            <a:endParaRPr lang="en-US" sz="2000" dirty="0"/>
          </a:p>
        </p:txBody>
      </p:sp>
      <p:sp>
        <p:nvSpPr>
          <p:cNvPr id="21" name="Text 16"/>
          <p:cNvSpPr txBox="1"/>
          <p:nvPr/>
        </p:nvSpPr>
        <p:spPr>
          <a:xfrm>
            <a:off x="6507328" y="2743200"/>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Home, bylaws, roster, map</a:t>
            </a:r>
            <a:endParaRPr lang="en-US" sz="1400" dirty="0"/>
          </a:p>
        </p:txBody>
      </p:sp>
      <p:sp>
        <p:nvSpPr>
          <p:cNvPr id="22" name="Text 17"/>
          <p:cNvSpPr txBox="1"/>
          <p:nvPr/>
        </p:nvSpPr>
        <p:spPr>
          <a:xfrm>
            <a:off x="6507328" y="3063240"/>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bkg.club</a:t>
            </a:r>
            <a:endParaRPr lang="en-US" sz="1200" dirty="0"/>
          </a:p>
        </p:txBody>
      </p:sp>
      <p:sp>
        <p:nvSpPr>
          <p:cNvPr id="23" name="Text 18"/>
          <p:cNvSpPr txBox="1"/>
          <p:nvPr/>
        </p:nvSpPr>
        <p:spPr>
          <a:xfrm>
            <a:off x="6507328" y="3419856"/>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The pitch for clubs, spelled correctly</a:t>
            </a:r>
            <a:endParaRPr lang="en-US" sz="1400" dirty="0"/>
          </a:p>
        </p:txBody>
      </p:sp>
      <p:sp>
        <p:nvSpPr>
          <p:cNvPr id="24" name="Text 19"/>
          <p:cNvSpPr txBox="1"/>
          <p:nvPr/>
        </p:nvSpPr>
        <p:spPr>
          <a:xfrm>
            <a:off x="6507328" y="3739896"/>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bkg.club/clubs.html</a:t>
            </a:r>
            <a:endParaRPr lang="en-US" sz="1200" dirty="0"/>
          </a:p>
        </p:txBody>
      </p:sp>
      <p:sp>
        <p:nvSpPr>
          <p:cNvPr id="25" name="Text 20"/>
          <p:cNvSpPr txBox="1"/>
          <p:nvPr/>
        </p:nvSpPr>
        <p:spPr>
          <a:xfrm>
            <a:off x="6507328" y="4096512"/>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Recruit form, downline tree, nearby finder</a:t>
            </a:r>
            <a:endParaRPr lang="en-US" sz="1400" dirty="0"/>
          </a:p>
        </p:txBody>
      </p:sp>
      <p:sp>
        <p:nvSpPr>
          <p:cNvPr id="26" name="Text 21"/>
          <p:cNvSpPr txBox="1"/>
          <p:nvPr/>
        </p:nvSpPr>
        <p:spPr>
          <a:xfrm>
            <a:off x="6507328" y="4416552"/>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bkg.club/recruit.html  ·  /tree.html  ·  /nearby.html</a:t>
            </a:r>
            <a:endParaRPr lang="en-US" sz="1200" dirty="0"/>
          </a:p>
        </p:txBody>
      </p:sp>
      <p:sp>
        <p:nvSpPr>
          <p:cNvPr id="27" name="Text 22"/>
          <p:cNvSpPr txBox="1"/>
          <p:nvPr/>
        </p:nvSpPr>
        <p:spPr>
          <a:xfrm>
            <a:off x="6507328" y="4773168"/>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Ragchew with the gang</a:t>
            </a:r>
            <a:endParaRPr lang="en-US" sz="1400" dirty="0"/>
          </a:p>
        </p:txBody>
      </p:sp>
      <p:sp>
        <p:nvSpPr>
          <p:cNvPr id="28" name="Text 23"/>
          <p:cNvSpPr txBox="1"/>
          <p:nvPr/>
        </p:nvSpPr>
        <p:spPr>
          <a:xfrm>
            <a:off x="6507328" y="5093208"/>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discord.gg/wDs5dth22k</a:t>
            </a:r>
            <a:endParaRPr lang="en-US" sz="1200" dirty="0"/>
          </a:p>
        </p:txBody>
      </p:sp>
      <p:sp>
        <p:nvSpPr>
          <p:cNvPr id="29" name="Text 24"/>
          <p:cNvSpPr txBox="1"/>
          <p:nvPr/>
        </p:nvSpPr>
        <p:spPr>
          <a:xfrm>
            <a:off x="6507328" y="5449824"/>
            <a:ext cx="4861408" cy="320040"/>
          </a:xfrm>
          <a:prstGeom prst="rect">
            <a:avLst/>
          </a:prstGeom>
          <a:noFill/>
          <a:ln/>
        </p:spPr>
        <p:txBody>
          <a:bodyPr wrap="square" lIns="0" tIns="0" rIns="0" bIns="0" rtlCol="0" anchor="t"/>
          <a:lstStyle/>
          <a:p>
            <a:pPr algn="l" indent="0" marL="0">
              <a:lnSpc>
                <a:spcPct val="110000"/>
              </a:lnSpc>
              <a:buNone/>
            </a:pPr>
            <a:r>
              <a:rPr lang="en-US" sz="1400" b="1" dirty="0">
                <a:solidFill>
                  <a:srgbClr val="F2EBDD"/>
                </a:solidFill>
                <a:latin typeface="Calibri" pitchFamily="34" charset="0"/>
                <a:ea typeface="Calibri" pitchFamily="34" charset="-122"/>
                <a:cs typeface="Calibri" pitchFamily="34" charset="-120"/>
              </a:rPr>
              <a:t>BKG intro video (YouTube short)</a:t>
            </a:r>
            <a:endParaRPr lang="en-US" sz="1400" dirty="0"/>
          </a:p>
        </p:txBody>
      </p:sp>
      <p:sp>
        <p:nvSpPr>
          <p:cNvPr id="30" name="Text 25"/>
          <p:cNvSpPr txBox="1"/>
          <p:nvPr/>
        </p:nvSpPr>
        <p:spPr>
          <a:xfrm>
            <a:off x="6507328" y="5769864"/>
            <a:ext cx="4861408" cy="320040"/>
          </a:xfrm>
          <a:prstGeom prst="rect">
            <a:avLst/>
          </a:prstGeom>
          <a:noFill/>
          <a:ln/>
        </p:spPr>
        <p:txBody>
          <a:bodyPr wrap="square" lIns="0" tIns="0" rIns="0" bIns="0" rtlCol="0" anchor="t"/>
          <a:lstStyle/>
          <a:p>
            <a:pPr indent="0" marL="0">
              <a:buNone/>
            </a:pPr>
            <a:r>
              <a:rPr lang="en-US" sz="1200" dirty="0">
                <a:solidFill>
                  <a:srgbClr val="D4AF37"/>
                </a:solidFill>
                <a:latin typeface="Courier New" pitchFamily="34" charset="0"/>
                <a:ea typeface="Courier New" pitchFamily="34" charset="-122"/>
                <a:cs typeface="Courier New" pitchFamily="34" charset="-120"/>
              </a:rPr>
              <a:t>youtube.com/shorts/2ZWex-8fG6M</a:t>
            </a:r>
            <a:endParaRPr lang="en-US" sz="1200" dirty="0"/>
          </a:p>
        </p:txBody>
      </p:sp>
      <p:sp>
        <p:nvSpPr>
          <p:cNvPr id="31" name="Text 26"/>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000" dirty="0">
                <a:solidFill>
                  <a:srgbClr val="7D7466"/>
                </a:solidFill>
                <a:latin typeface="Calibri" pitchFamily="34" charset="0"/>
                <a:ea typeface="Calibri" pitchFamily="34" charset="-122"/>
                <a:cs typeface="Calibri" pitchFamily="34" charset="-120"/>
              </a:rPr>
              <a:t>Photos and schematic: NR7Y CW Firmware Docs, CC BY-NC-SA 4.0. Firmware: NR7Y, on F4HWN Fusion, egzumer and DualTachyon (Apache 2.0). Original K5 schematic by mentalDetector.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2m CW on a $30 Handheld</dc:title>
  <dc:subject>PptxGenJS Presentation</dc:subject>
  <dc:creator>Brass Knuckle Gang</dc:creator>
  <cp:lastModifiedBy>Brass Knuckle Gang</cp:lastModifiedBy>
  <cp:revision>1</cp:revision>
  <dcterms:created xsi:type="dcterms:W3CDTF">2026-09-12T04:23:09Z</dcterms:created>
  <dcterms:modified xsi:type="dcterms:W3CDTF">2026-09-12T04:23:09Z</dcterms:modified>
</cp:coreProperties>
</file>